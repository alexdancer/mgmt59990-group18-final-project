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e65650fe7dc487f" /><Relationship Type="http://schemas.openxmlformats.org/officeDocument/2006/relationships/extended-properties" Target="/docProps/app.xml" Id="R98eb68ecbfe54391" /><Relationship Type="http://schemas.openxmlformats.org/officeDocument/2006/relationships/officeDocument" Target="/ppt/presentation.xml" Id="Rcc68544014844a5b" /></Relationships>
</file>

<file path=ppt/presentation.xml><?xml version="1.0" encoding="utf-8"?>
<p:presentation xmlns:p="http://schemas.openxmlformats.org/presentationml/2006/main">
  <p:sldMasterIdLst>
    <p:sldMasterId xmlns:r="http://schemas.openxmlformats.org/officeDocument/2006/relationships" id="2147483648" r:id="R43896837bfa14951"/>
  </p:sldMasterIdLst>
  <p:notesMasterIdLst>
    <p:notesMasterId xmlns:r="http://schemas.openxmlformats.org/officeDocument/2006/relationships" r:id="R0e58c37e65f44c1a"/>
  </p:notesMasterIdLst>
  <p:sldIdLst>
    <p:sldId xmlns:r="http://schemas.openxmlformats.org/officeDocument/2006/relationships" id="256" r:id="Rf82aaf5290e54d98"/>
    <p:sldId xmlns:r="http://schemas.openxmlformats.org/officeDocument/2006/relationships" id="257" r:id="R78050236ea524a9b"/>
    <p:sldId xmlns:r="http://schemas.openxmlformats.org/officeDocument/2006/relationships" id="258" r:id="R465f8c4019534b5f"/>
    <p:sldId xmlns:r="http://schemas.openxmlformats.org/officeDocument/2006/relationships" id="259" r:id="Rf4faccf6d2ba4f0d"/>
    <p:sldId xmlns:r="http://schemas.openxmlformats.org/officeDocument/2006/relationships" id="260" r:id="Rb627898ee19048a6"/>
    <p:sldId xmlns:r="http://schemas.openxmlformats.org/officeDocument/2006/relationships" id="261" r:id="R6a54a3bf666844ef"/>
    <p:sldId xmlns:r="http://schemas.openxmlformats.org/officeDocument/2006/relationships" id="262" r:id="Re8851442e00842cf"/>
    <p:sldId xmlns:r="http://schemas.openxmlformats.org/officeDocument/2006/relationships" id="263" r:id="Rc2dc2dbaadaf4c14"/>
    <p:sldId xmlns:r="http://schemas.openxmlformats.org/officeDocument/2006/relationships" id="264" r:id="R6eb060284bbf4f3c"/>
    <p:sldId xmlns:r="http://schemas.openxmlformats.org/officeDocument/2006/relationships" id="265" r:id="R2416cf0f8d4a4a85"/>
    <p:sldId xmlns:r="http://schemas.openxmlformats.org/officeDocument/2006/relationships" id="266" r:id="R715037840dba4d62"/>
    <p:sldId xmlns:r="http://schemas.openxmlformats.org/officeDocument/2006/relationships" id="267" r:id="Rcfc51053bf6b48e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e1c5471e7694f19" /><Relationship Type="http://schemas.openxmlformats.org/officeDocument/2006/relationships/slideMaster" Target="/ppt/slideMasters/slideMaster1.xml" Id="R43896837bfa14951" /><Relationship Type="http://schemas.openxmlformats.org/officeDocument/2006/relationships/notesMaster" Target="/ppt/notesMasters/notesMaster1.xml" Id="R0e58c37e65f44c1a" /><Relationship Type="http://schemas.openxmlformats.org/officeDocument/2006/relationships/presProps" Target="/ppt/presProps.xml" Id="Rfb4b4921003343af" /><Relationship Type="http://schemas.openxmlformats.org/officeDocument/2006/relationships/tableStyles" Target="/ppt/tableStyles.xml" Id="Rfd3cec645caa4f4f" /><Relationship Type="http://schemas.openxmlformats.org/officeDocument/2006/relationships/slide" Target="/ppt/slides/slide1.xml" Id="Rf82aaf5290e54d98" /><Relationship Type="http://schemas.openxmlformats.org/officeDocument/2006/relationships/slide" Target="/ppt/slides/slide2.xml" Id="R78050236ea524a9b" /><Relationship Type="http://schemas.openxmlformats.org/officeDocument/2006/relationships/slide" Target="/ppt/slides/slide3.xml" Id="R465f8c4019534b5f" /><Relationship Type="http://schemas.openxmlformats.org/officeDocument/2006/relationships/slide" Target="/ppt/slides/slide4.xml" Id="Rf4faccf6d2ba4f0d" /><Relationship Type="http://schemas.openxmlformats.org/officeDocument/2006/relationships/slide" Target="/ppt/slides/slide5.xml" Id="Rb627898ee19048a6" /><Relationship Type="http://schemas.openxmlformats.org/officeDocument/2006/relationships/slide" Target="/ppt/slides/slide6.xml" Id="R6a54a3bf666844ef" /><Relationship Type="http://schemas.openxmlformats.org/officeDocument/2006/relationships/slide" Target="/ppt/slides/slide7.xml" Id="Re8851442e00842cf" /><Relationship Type="http://schemas.openxmlformats.org/officeDocument/2006/relationships/slide" Target="/ppt/slides/slide8.xml" Id="Rc2dc2dbaadaf4c14" /><Relationship Type="http://schemas.openxmlformats.org/officeDocument/2006/relationships/slide" Target="/ppt/slides/slide9.xml" Id="R6eb060284bbf4f3c" /><Relationship Type="http://schemas.openxmlformats.org/officeDocument/2006/relationships/slide" Target="/ppt/slides/slide10.xml" Id="R2416cf0f8d4a4a85" /><Relationship Type="http://schemas.openxmlformats.org/officeDocument/2006/relationships/slide" Target="/ppt/slides/slide11.xml" Id="R715037840dba4d62" /><Relationship Type="http://schemas.openxmlformats.org/officeDocument/2006/relationships/slide" Target="/ppt/slides/slide12.xml" Id="Rcfc51053bf6b48e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1e895d34bc6467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61b65380a3d46bf" /><Relationship Type="http://schemas.openxmlformats.org/officeDocument/2006/relationships/notesMaster" Target="/ppt/notesMasters/notesMaster1.xml" Id="Rdf86f8421bc8411b" /></Relationships>
</file>

<file path=ppt/notesSlides/_rels/notesSlide2.xml.rels>&#65279;<?xml version="1.0" encoding="utf-8"?><Relationships xmlns="http://schemas.openxmlformats.org/package/2006/relationships"><Relationship Type="http://schemas.openxmlformats.org/officeDocument/2006/relationships/slide" Target="/ppt/slides/slide2.xml" Id="R81d5191e90de4d0e" /><Relationship Type="http://schemas.openxmlformats.org/officeDocument/2006/relationships/notesMaster" Target="/ppt/notesMasters/notesMaster1.xml" Id="R5279911b22934858" /></Relationships>
</file>

<file path=ppt/notesSlides/_rels/notesSlide3.xml.rels>&#65279;<?xml version="1.0" encoding="utf-8"?><Relationships xmlns="http://schemas.openxmlformats.org/package/2006/relationships"><Relationship Type="http://schemas.openxmlformats.org/officeDocument/2006/relationships/slide" Target="/ppt/slides/slide3.xml" Id="R2f427e84f68d4b31" /><Relationship Type="http://schemas.openxmlformats.org/officeDocument/2006/relationships/notesMaster" Target="/ppt/notesMasters/notesMaster1.xml" Id="Rccc9bfec582a4eff" /></Relationships>
</file>

<file path=ppt/notesSlides/_rels/notesSlide4.xml.rels>&#65279;<?xml version="1.0" encoding="utf-8"?><Relationships xmlns="http://schemas.openxmlformats.org/package/2006/relationships"><Relationship Type="http://schemas.openxmlformats.org/officeDocument/2006/relationships/slide" Target="/ppt/slides/slide4.xml" Id="R0133829cbe6f4e33" /><Relationship Type="http://schemas.openxmlformats.org/officeDocument/2006/relationships/notesMaster" Target="/ppt/notesMasters/notesMaster1.xml" Id="Ra16f349107944200" /></Relationships>
</file>

<file path=ppt/notesSlides/_rels/notesSlide5.xml.rels>&#65279;<?xml version="1.0" encoding="utf-8"?><Relationships xmlns="http://schemas.openxmlformats.org/package/2006/relationships"><Relationship Type="http://schemas.openxmlformats.org/officeDocument/2006/relationships/slide" Target="/ppt/slides/slide5.xml" Id="Rf5cfdb0243394218" /><Relationship Type="http://schemas.openxmlformats.org/officeDocument/2006/relationships/notesMaster" Target="/ppt/notesMasters/notesMaster1.xml" Id="R79590fe132f143c5" /></Relationships>
</file>

<file path=ppt/notesSlides/_rels/notesSlide6.xml.rels>&#65279;<?xml version="1.0" encoding="utf-8"?><Relationships xmlns="http://schemas.openxmlformats.org/package/2006/relationships"><Relationship Type="http://schemas.openxmlformats.org/officeDocument/2006/relationships/slide" Target="/ppt/slides/slide6.xml" Id="R96078d731f614b60" /><Relationship Type="http://schemas.openxmlformats.org/officeDocument/2006/relationships/notesMaster" Target="/ppt/notesMasters/notesMaster1.xml" Id="Re2318d51b1c545c0" /></Relationships>
</file>

<file path=ppt/notesSlides/_rels/notesSlide7.xml.rels>&#65279;<?xml version="1.0" encoding="utf-8"?><Relationships xmlns="http://schemas.openxmlformats.org/package/2006/relationships"><Relationship Type="http://schemas.openxmlformats.org/officeDocument/2006/relationships/slide" Target="/ppt/slides/slide7.xml" Id="R043399120eb14875" /><Relationship Type="http://schemas.openxmlformats.org/officeDocument/2006/relationships/notesMaster" Target="/ppt/notesMasters/notesMaster1.xml" Id="Rac8d6ec936c140f8" /></Relationships>
</file>

<file path=ppt/notesSlides/_rels/notesSlide8.xml.rels>&#65279;<?xml version="1.0" encoding="utf-8"?><Relationships xmlns="http://schemas.openxmlformats.org/package/2006/relationships"><Relationship Type="http://schemas.openxmlformats.org/officeDocument/2006/relationships/slide" Target="/ppt/slides/slide8.xml" Id="R557de0cce72648d2" /><Relationship Type="http://schemas.openxmlformats.org/officeDocument/2006/relationships/notesMaster" Target="/ppt/notesMasters/notesMaster1.xml" Id="R9ef17c5e6eee40eb" /></Relationships>
</file>

<file path=ppt/notesSlides/_rels/notesSlide9.xml.rels>&#65279;<?xml version="1.0" encoding="utf-8"?><Relationships xmlns="http://schemas.openxmlformats.org/package/2006/relationships"><Relationship Type="http://schemas.openxmlformats.org/officeDocument/2006/relationships/slide" Target="/ppt/slides/slide9.xml" Id="R230731d8629f4100" /><Relationship Type="http://schemas.openxmlformats.org/officeDocument/2006/relationships/notesMaster" Target="/ppt/notesMasters/notesMaster1.xml" Id="Rca6a08eb02e4450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00a9bb186454815" /><Relationship Type="http://schemas.openxmlformats.org/officeDocument/2006/relationships/notesMaster" Target="/ppt/notesMasters/notesMaster1.xml" Id="Rd77804957066400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b70900b2c204b7d" /><Relationship Type="http://schemas.openxmlformats.org/officeDocument/2006/relationships/notesMaster" Target="/ppt/notesMasters/notesMaster1.xml" Id="Rf0a7bf42574740a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bd21da93f63431f" /><Relationship Type="http://schemas.openxmlformats.org/officeDocument/2006/relationships/notesMaster" Target="/ppt/notesMasters/notesMaster1.xml" Id="Rf6b69be7c9d2490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Hello, and thank you for watching. I’m presenting on behalf of Group 18. Our project asks a practical question: can a cloud analytics pipeline turn a large stream of product reviews into an early-warning system for quality and customer-experience risk? We built the complete workflow in AWS, from raw reviews and product metadata through transformation, SQL analytics, machine learning, and a published business dashboard. The result is not an automated decision system. It is a prioritization tool that helps analysts and product teams focus attention where low-rating risk is highest.</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[Sources]</a:t>
            </a:r>
            <a:endParaRPr/>
          </a:p>
          <a:p xmlns:a="http://schemas.openxmlformats.org/drawingml/2006/main">
            <a:pPr marL="0" lvl="0" indent="0" algn="l">
              <a:spcBef>
                <a:spcPts val="0"/>
              </a:spcBef>
              <a:spcAft>
                <a:spcPts val="0"/>
              </a:spcAft>
              <a:buNone/>
            </a:pPr>
            <a:r>
              <a:rPr sz="1200"/>
              <a:t>- Project repository and implementation evidence in this workspace.</a:t>
            </a:r>
            <a:endParaRPr/>
          </a:p>
          <a:p xmlns:a="http://schemas.openxmlformats.org/drawingml/2006/main">
            <a:pPr marL="0" lvl="0" indent="0" algn="l">
              <a:spcBef>
                <a:spcPts val="0"/>
              </a:spcBef>
              <a:spcAft>
                <a:spcPts val="0"/>
              </a:spcAft>
              <a:buNone/>
            </a:pPr>
            <a:r>
              <a:rPr sz="1200"/>
              <a:t>- Course presentation requirements in FINAL_PROJECT_SUBMISSION_REQUIREMENTS.md.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The business problem is not simply sentiment classification. The deeper problem is prioritization. Product and customer-experience teams receive more feedback than they can manually review, while isolated complaints can be noisy. We therefore defined low-rating risk as one- or two-star feedback and designed the system to answer three questions: where is low-rating volume concentrated, which new reviews are most likely to be low-rated, and can those findings be delivered through a governed, repeatable cloud workflow? The intended users are product managers, quality analysts, and support leaders. They remain responsible for interpreting the evidence and deciding what action, if any, is appropriate.</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[Sources]</a:t>
            </a:r>
            <a:endParaRPr/>
          </a:p>
          <a:p xmlns:a="http://schemas.openxmlformats.org/drawingml/2006/main">
            <a:pPr marL="0" lvl="0" indent="0" algn="l">
              <a:spcBef>
                <a:spcPts val="0"/>
              </a:spcBef>
              <a:spcAft>
                <a:spcPts val="0"/>
              </a:spcAft>
              <a:buNone/>
            </a:pPr>
            <a:r>
              <a:rPr sz="1200"/>
              <a:t>- Project scope and target definition in README.md and sql/athena/03_analysis.sql.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The source is the McAuley Lab Amazon Reviews 2023 dataset. Instead of processing the entire 22.6-gigabyte Electronics review file, we used 32 seeded byte ranges distributed across the file. After removing incomplete and duplicate records, the saved sample contains 66,004 unique reviews from 27,359 users and 39,476 products. We then filtered the official Electronics metadata to exactly those product identifiers. Every review joined successfully to metadata, so product titles and attributes are available downstream. The sample spans review years 2000 through 2023, and 92.94 percent of records are verified purchases. The key sampling limitation is that byte-range sampling is reproducible and broad, but not perfectly uniform by row because JSON records have different lengths.</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[Sources]</a:t>
            </a:r>
            <a:endParaRPr/>
          </a:p>
          <a:p xmlns:a="http://schemas.openxmlformats.org/drawingml/2006/main">
            <a:pPr marL="0" lvl="0" indent="0" algn="l">
              <a:spcBef>
                <a:spcPts val="0"/>
              </a:spcBef>
              <a:spcAft>
                <a:spcPts val="0"/>
              </a:spcAft>
              <a:buNone/>
            </a:pPr>
            <a:r>
              <a:rPr sz="1200"/>
              <a:t>- data/bronze/reviews/category=Electronics/electronics_random_sample.manifest.json</a:t>
            </a:r>
            <a:endParaRPr/>
          </a:p>
          <a:p xmlns:a="http://schemas.openxmlformats.org/drawingml/2006/main">
            <a:pPr marL="0" lvl="0" indent="0" algn="l">
              <a:spcBef>
                <a:spcPts val="0"/>
              </a:spcBef>
              <a:spcAft>
                <a:spcPts val="0"/>
              </a:spcAft>
              <a:buNone/>
            </a:pPr>
            <a:r>
              <a:rPr sz="1200"/>
              <a:t>- data/bronze/metadata/category=Electronics/electronics_metadata_sample.manifest.json</a:t>
            </a:r>
            <a:endParaRPr/>
          </a:p>
          <a:p xmlns:a="http://schemas.openxmlformats.org/drawingml/2006/main">
            <a:pPr marL="0" lvl="0" indent="0" algn="l">
              <a:spcBef>
                <a:spcPts val="0"/>
              </a:spcBef>
              <a:spcAft>
                <a:spcPts val="0"/>
              </a:spcAft>
              <a:buNone/>
            </a:pPr>
            <a:r>
              <a:rPr sz="1200"/>
              <a:t>- Amazon Reviews 2023 introduction: https://amazon-reviews-2023.github.io/main.html</a:t>
            </a:r>
            <a:endParaRPr/>
          </a:p>
          <a:p xmlns:a="http://schemas.openxmlformats.org/drawingml/2006/main">
            <a:pPr marL="0" lvl="0" indent="0" algn="l">
              <a:spcBef>
                <a:spcPts val="0"/>
              </a:spcBef>
              <a:spcAft>
                <a:spcPts val="0"/>
              </a:spcAft>
              <a:buNone/>
            </a:pPr>
            <a:r>
              <a:rPr sz="1200"/>
              <a:t>- Hou et al. (2024), Bridging Language and Items for Retrieval and Recommendation: https://arxiv.org/abs/2403.03952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This slide shows the implemented AWS path, not just a conceptual architecture. Bronze preserves 66,004 sampled Electronics reviews and the 39,476 matching product records as immutable JSONL. Glue validates the schema and rating fields, removes duplicate reviews, joins the product metadata, and writes the fact_review and dim_product Silver tables as Snappy Parquet. The Glue Catalog gives Athena a shared schema. Athena runs quality checks and CTAS statements to create the Gold monthly, product-risk, and user-isolated model-training tables; the Gold-build workgroup caps each query at 256 MiB scanned. SageMaker converts review text to TF-IDF features and trains a balanced logistic classifier in an 89-second batch job, then returns predictions to S3. QuickSight imports three SPICE datasets for the portfolio overview, product risk, and model-risk views. IAM roles, cataloged schemas, and workgroup output controls connect the services without tightly coupling them.</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[Sources]</a:t>
            </a:r>
            <a:endParaRPr/>
          </a:p>
          <a:p xmlns:a="http://schemas.openxmlformats.org/drawingml/2006/main">
            <a:pPr marL="0" lvl="0" indent="0" algn="l">
              <a:spcBef>
                <a:spcPts val="0"/>
              </a:spcBef>
              <a:spcAft>
                <a:spcPts val="0"/>
              </a:spcAft>
              <a:buNone/>
            </a:pPr>
            <a:r>
              <a:rPr sz="1200"/>
              <a:t>- README.md</a:t>
            </a:r>
            <a:endParaRPr/>
          </a:p>
          <a:p xmlns:a="http://schemas.openxmlformats.org/drawingml/2006/main">
            <a:pPr marL="0" lvl="0" indent="0" algn="l">
              <a:spcBef>
                <a:spcPts val="0"/>
              </a:spcBef>
              <a:spcAft>
                <a:spcPts val="0"/>
              </a:spcAft>
              <a:buNone/>
            </a:pPr>
            <a:r>
              <a:rPr sz="1200"/>
              <a:t>- data/bronze/reviews/category=Electronics/electronics_random_sample.manifest.json</a:t>
            </a:r>
            <a:endParaRPr/>
          </a:p>
          <a:p xmlns:a="http://schemas.openxmlformats.org/drawingml/2006/main">
            <a:pPr marL="0" lvl="0" indent="0" algn="l">
              <a:spcBef>
                <a:spcPts val="0"/>
              </a:spcBef>
              <a:spcAft>
                <a:spcPts val="0"/>
              </a:spcAft>
              <a:buNone/>
            </a:pPr>
            <a:r>
              <a:rPr sz="1200"/>
              <a:t>- data/bronze/metadata/category=Electronics/electronics_metadata_sample.manifest.json</a:t>
            </a:r>
            <a:endParaRPr/>
          </a:p>
          <a:p xmlns:a="http://schemas.openxmlformats.org/drawingml/2006/main">
            <a:pPr marL="0" lvl="0" indent="0" algn="l">
              <a:spcBef>
                <a:spcPts val="0"/>
              </a:spcBef>
              <a:spcAft>
                <a:spcPts val="0"/>
              </a:spcAft>
              <a:buNone/>
            </a:pPr>
            <a:r>
              <a:rPr sz="1200"/>
              <a:t>- aws/glue_etl.py</a:t>
            </a:r>
            <a:endParaRPr/>
          </a:p>
          <a:p xmlns:a="http://schemas.openxmlformats.org/drawingml/2006/main">
            <a:pPr marL="0" lvl="0" indent="0" algn="l">
              <a:spcBef>
                <a:spcPts val="0"/>
              </a:spcBef>
              <a:spcAft>
                <a:spcPts val="0"/>
              </a:spcAft>
              <a:buNone/>
            </a:pPr>
            <a:r>
              <a:rPr sz="1200"/>
              <a:t>- sql/athena/04_gold_tables.sql</a:t>
            </a:r>
            <a:endParaRPr/>
          </a:p>
          <a:p xmlns:a="http://schemas.openxmlformats.org/drawingml/2006/main">
            <a:pPr marL="0" lvl="0" indent="0" algn="l">
              <a:spcBef>
                <a:spcPts val="0"/>
              </a:spcBef>
              <a:spcAft>
                <a:spcPts val="0"/>
              </a:spcAft>
              <a:buNone/>
            </a:pPr>
            <a:r>
              <a:rPr sz="1200"/>
              <a:t>- scripts/aws_gold_wizard.sh</a:t>
            </a:r>
            <a:endParaRPr/>
          </a:p>
          <a:p xmlns:a="http://schemas.openxmlformats.org/drawingml/2006/main">
            <a:pPr marL="0" lvl="0" indent="0" algn="l">
              <a:spcBef>
                <a:spcPts val="0"/>
              </a:spcBef>
              <a:spcAft>
                <a:spcPts val="0"/>
              </a:spcAft>
              <a:buNone/>
            </a:pPr>
            <a:r>
              <a:rPr sz="1200"/>
              <a:t>- aws/sagemaker/train.py</a:t>
            </a:r>
            <a:endParaRPr/>
          </a:p>
          <a:p xmlns:a="http://schemas.openxmlformats.org/drawingml/2006/main">
            <a:pPr marL="0" lvl="0" indent="0" algn="l">
              <a:spcBef>
                <a:spcPts val="0"/>
              </a:spcBef>
              <a:spcAft>
                <a:spcPts val="0"/>
              </a:spcAft>
              <a:buNone/>
            </a:pPr>
            <a:r>
              <a:rPr sz="1200"/>
              <a:t>- artifacts/evidence/sagemaker_cost_evidence.json</a:t>
            </a:r>
            <a:endParaRPr/>
          </a:p>
          <a:p xmlns:a="http://schemas.openxmlformats.org/drawingml/2006/main">
            <a:pPr marL="0" lvl="0" indent="0" algn="l">
              <a:spcBef>
                <a:spcPts val="0"/>
              </a:spcBef>
              <a:spcAft>
                <a:spcPts val="0"/>
              </a:spcAft>
              <a:buNone/>
            </a:pPr>
            <a:r>
              <a:rPr sz="1200"/>
              <a:t>- artifacts/evidence/quicksight_evidence.json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prior slide shows the physical flow. This slide explains the responsibility boundary behind it. S3 is the durable system of record: Bronze keeps the source files, Silver holds trusted fact and dimension tables in Parquet, and Gold holds purpose-built analytics, training, and prediction data. Glue performs the heavier transformation work and publishes schemas to the Glue Data Catalog, so Athena, SageMaker, and QuickSight refer to the same governed definitions. Athena supplies serverless SQL for reconciliation, analysis, and CTAS table construction; workgroups control where query results are written and how much data one query may scan. SageMaker is used as temporary batch compute for training and scoring rather than as a persistent endpoint. It writes artifacts and predictions back to S3. QuickSight imports three Gold and model-risk datasets into SPICE for interactive business use. The architecture therefore shares storage and metadata while allowing ETL, SQL, machine learning, and BI to scale independently.</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aws/glue_etl.py</a:t>
            </a:r>
          </a:p>
          <a:p xmlns:a="http://schemas.openxmlformats.org/drawingml/2006/main">
            <a:r>
              <a:t>- sql/athena/04_gold_tables.sql</a:t>
            </a:r>
          </a:p>
          <a:p xmlns:a="http://schemas.openxmlformats.org/drawingml/2006/main">
            <a:r>
              <a:t>- scripts/aws_gold_wizard.sh</a:t>
            </a:r>
          </a:p>
          <a:p xmlns:a="http://schemas.openxmlformats.org/drawingml/2006/main">
            <a:r>
              <a:t>- aws/sagemaker/train.py</a:t>
            </a:r>
          </a:p>
          <a:p xmlns:a="http://schemas.openxmlformats.org/drawingml/2006/main">
            <a:r>
              <a:t>- artifacts/evidence/sagemaker_cost_evidence.json</a:t>
            </a:r>
          </a:p>
          <a:p xmlns:a="http://schemas.openxmlformats.org/drawingml/2006/main">
            <a:r>
              <a:t>- artifacts/evidence/quicksight_evidence.json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Each layer has an explicit promotion gate. At ingestion, we verified exact S3 paths, object sizes, checksums, account, and Region. Glue validated required fields, rating bounds, timestamps, duplicate review identifiers, and metadata joins before writing Silver. Athena reconciled the fact and dimension counts, confirmed partition discovery, and validated Gold outputs against the original 66,004 reviews. For machine learning, users—not individual rows—were hashed into train, validation, and test partitions. That prevents the same reviewer’s language patterns from leaking across evaluation boundaries. The important governance principle is simple: if a check fails, the wizard stops, and the project does not claim the downstream layer as implemented.</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[Sources]</a:t>
            </a:r>
            <a:endParaRPr/>
          </a:p>
          <a:p xmlns:a="http://schemas.openxmlformats.org/drawingml/2006/main">
            <a:pPr marL="0" lvl="0" indent="0" algn="l">
              <a:spcBef>
                <a:spcPts val="0"/>
              </a:spcBef>
              <a:spcAft>
                <a:spcPts val="0"/>
              </a:spcAft>
              <a:buNone/>
            </a:pPr>
            <a:r>
              <a:rPr sz="1200"/>
              <a:t>- Quality contracts in aws/glue_etl.py, sql/athena/02_quality_checks.sql, and sql/athena/05_gold_quality_checks.sql.</a:t>
            </a:r>
            <a:endParaRPr/>
          </a:p>
          <a:p xmlns:a="http://schemas.openxmlformats.org/drawingml/2006/main">
            <a:pPr marL="0" lvl="0" indent="0" algn="l">
              <a:spcBef>
                <a:spcPts val="0"/>
              </a:spcBef>
              <a:spcAft>
                <a:spcPts val="0"/>
              </a:spcAft>
              <a:buNone/>
            </a:pPr>
            <a:r>
              <a:rPr sz="1200"/>
              <a:t>- Wizard validation controls in scripts/aws_glue_silver_wizard.sh, scripts/aws_athena_wizard.sh, and scripts/aws_gold_wizard.sh.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The descriptive distribution is highly imbalanced. Nearly 64 percent of the sample is five-star feedback, while one- and two-star reviews together represent 17.28 percent, or 11,408 records. That imbalance changes how we evaluate the model. A trivial classifier that predicts the majority class can achieve about 82.2 percent accuracy without identifying any low-rating review. Therefore, our primary business metric is recall on the low-rating class, supported by precision, F1, and ROC AUC. Descriptively, the dashboard also applies minimum-review thresholds before ranking products, which reduces the chance that a single negative review makes a low-volume product look like the highest priority.</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[Sources]</a:t>
            </a:r>
            <a:endParaRPr/>
          </a:p>
          <a:p xmlns:a="http://schemas.openxmlformats.org/drawingml/2006/main">
            <a:pPr marL="0" lvl="0" indent="0" algn="l">
              <a:spcBef>
                <a:spcPts val="0"/>
              </a:spcBef>
              <a:spcAft>
                <a:spcPts val="0"/>
              </a:spcAft>
              <a:buNone/>
            </a:pPr>
            <a:r>
              <a:rPr sz="1200"/>
              <a:t>- Counts computed from data/bronze/reviews/category=Electronics/electronics_random_sample.jsonl and reconciled to 66,004 rows.</a:t>
            </a:r>
            <a:endParaRPr/>
          </a:p>
          <a:p xmlns:a="http://schemas.openxmlformats.org/drawingml/2006/main">
            <a:pPr marL="0" lvl="0" indent="0" algn="l">
              <a:spcBef>
                <a:spcPts val="0"/>
              </a:spcBef>
              <a:spcAft>
                <a:spcPts val="0"/>
              </a:spcAft>
              <a:buNone/>
            </a:pPr>
            <a:r>
              <a:rPr sz="1200"/>
              <a:t>- Baseline accuracy and held-out metrics in artifacts/evidence/sagemaker_metrics.json.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The machine-learning goal is straightforward: read the written review and estimate the probability that its rating is one or two stars. First, those low ratings become the positive label. Next, TF-IDF converts each review into weighted individual words and two-word phrases, allowing the model to learn which language patterns are associated with low ratings. Logistic regression then combines those signals into a probability. Because low ratings represent only 17.28 percent of the sample, class balancing prevents the model from simply favoring the majority class. For fair evaluation, every reviewer belongs to only one split. Validation chooses the 0.62 decision threshold, and the final model is evaluated once on 6,436 previously unseen reviews. The output prioritizes human follow-up rather than making an automatic product decision.</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[Sources]</a:t>
            </a:r>
            <a:endParaRPr/>
          </a:p>
          <a:p xmlns:a="http://schemas.openxmlformats.org/drawingml/2006/main">
            <a:pPr marL="0" lvl="0" indent="0" algn="l">
              <a:spcBef>
                <a:spcPts val="0"/>
              </a:spcBef>
              <a:spcAft>
                <a:spcPts val="0"/>
              </a:spcAft>
              <a:buNone/>
            </a:pPr>
            <a:r>
              <a:rPr sz="1200"/>
              <a:t>- Split construction in sql/athena/04_gold_tables.sql.</a:t>
            </a:r>
            <a:endParaRPr/>
          </a:p>
          <a:p xmlns:a="http://schemas.openxmlformats.org/drawingml/2006/main">
            <a:pPr marL="0" lvl="0" indent="0" algn="l">
              <a:spcBef>
                <a:spcPts val="0"/>
              </a:spcBef>
              <a:spcAft>
                <a:spcPts val="0"/>
              </a:spcAft>
              <a:buNone/>
            </a:pPr>
            <a:r>
              <a:rPr sz="1200"/>
              <a:t>- Training implementation in aws/sagemaker/train.py.</a:t>
            </a:r>
            <a:endParaRPr/>
          </a:p>
          <a:p xmlns:a="http://schemas.openxmlformats.org/drawingml/2006/main">
            <a:pPr marL="0" lvl="0" indent="0" algn="l">
              <a:spcBef>
                <a:spcPts val="0"/>
              </a:spcBef>
              <a:spcAft>
                <a:spcPts val="0"/>
              </a:spcAft>
              <a:buNone/>
            </a:pPr>
            <a:r>
              <a:rPr sz="1200"/>
              <a:t>- Training job request in aws/sagemaker/build_training_job.py.</a:t>
            </a:r>
            <a:endParaRPr/>
          </a:p>
          <a:p xmlns:a="http://schemas.openxmlformats.org/drawingml/2006/main">
            <a:pPr marL="0" lvl="0" indent="0" algn="l">
              <a:spcBef>
                <a:spcPts val="0"/>
              </a:spcBef>
              <a:spcAft>
                <a:spcPts val="0"/>
              </a:spcAft>
              <a:buNone/>
            </a:pPr>
            <a:r>
              <a:rPr sz="1200"/>
              <a:t>- Runtime evidence in artifacts/evidence/sagemaker_cost_evidence.json.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The final SageMaker model uses TF-IDF text features with class-balanced logistic regression. Users were isolated across train, validation, and test partitions. We selected a probability threshold of 0.62 using validation F1, then evaluated once on 6,436 held-out reviews. The model achieved 93.49 percent accuracy, 78.60 percent precision, 87.17 percent recall, an F1 score of 82.66 percent, and a ROC AUC of 97.57 percent. Most importantly, it identified 999 true low-rating reviews while missing 147. Compared with the 82.19 percent majority baseline, this is a meaningful improvement, but the false positives and false negatives reinforce that the model should prioritize human review rather than trigger automatic customer or product actions.</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[Sources]</a:t>
            </a:r>
            <a:endParaRPr/>
          </a:p>
          <a:p xmlns:a="http://schemas.openxmlformats.org/drawingml/2006/main">
            <a:pPr marL="0" lvl="0" indent="0" algn="l">
              <a:spcBef>
                <a:spcPts val="0"/>
              </a:spcBef>
              <a:spcAft>
                <a:spcPts val="0"/>
              </a:spcAft>
              <a:buNone/>
            </a:pPr>
            <a:r>
              <a:rPr sz="1200"/>
              <a:t>- Final SageMaker metrics in artifacts/evidence/sagemaker_metrics.json.</a:t>
            </a:r>
            <a:endParaRPr/>
          </a:p>
          <a:p xmlns:a="http://schemas.openxmlformats.org/drawingml/2006/main">
            <a:pPr marL="0" lvl="0" indent="0" algn="l">
              <a:spcBef>
                <a:spcPts val="0"/>
              </a:spcBef>
              <a:spcAft>
                <a:spcPts val="0"/>
              </a:spcAft>
              <a:buNone/>
            </a:pPr>
            <a:r>
              <a:rPr sz="1200"/>
              <a:t>- Confusion reconciliation in artifacts/evidence/sagemaker_athena_validation.json.</a:t>
            </a:r>
            <a:endParaRPr/>
          </a:p>
          <a:p xmlns:a="http://schemas.openxmlformats.org/drawingml/2006/main">
            <a:pPr marL="0" lvl="0" indent="0" algn="l">
              <a:spcBef>
                <a:spcPts val="0"/>
              </a:spcBef>
              <a:spcAft>
                <a:spcPts val="0"/>
              </a:spcAft>
              <a:buNone/>
            </a:pPr>
            <a:r>
              <a:rPr sz="1200"/>
              <a:t>- Training implementation in aws/sagemaker/train.py.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The final output is a published QuickSight dashboard rather than a static model report. The Portfolio Overview sheet summarizes all 66,004 reviews and the 11,408 low-rating records, with controls that support time-based exploration. The Product Risk sheet combines two perspectives: descriptive risk from observed ratings and predicted risk from the held-out model output. Three SPICE datasets make the dashboard responsive while reducing repeated Athena scans. This design lets a business user start with portfolio-level context, move to product rankings, and then inspect the model’s probability-based prioritization. The dashboard and its PDF export also provide implementation evidence that the analytics layer is connected to the actual Gold and prediction tables.</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[Sources]</a:t>
            </a:r>
            <a:endParaRPr/>
          </a:p>
          <a:p xmlns:a="http://schemas.openxmlformats.org/drawingml/2006/main">
            <a:pPr marL="0" lvl="0" indent="0" algn="l">
              <a:spcBef>
                <a:spcPts val="0"/>
              </a:spcBef>
              <a:spcAft>
                <a:spcPts val="0"/>
              </a:spcAft>
              <a:buNone/>
            </a:pPr>
            <a:r>
              <a:rPr sz="1200"/>
              <a:t>- Published dashboard evidence in artifacts/evidence/quicksight_evidence.json.</a:t>
            </a:r>
            <a:endParaRPr/>
          </a:p>
          <a:p xmlns:a="http://schemas.openxmlformats.org/drawingml/2006/main">
            <a:pPr marL="0" lvl="0" indent="0" algn="l">
              <a:spcBef>
                <a:spcPts val="0"/>
              </a:spcBef>
              <a:spcAft>
                <a:spcPts val="0"/>
              </a:spcAft>
              <a:buNone/>
            </a:pPr>
            <a:r>
              <a:rPr sz="1200"/>
              <a:t>- Dashboard PDF in artifacts/evidence/quicksight_dashboard.pdf.</a:t>
            </a:r>
            <a:endParaRPr/>
          </a:p>
          <a:p xmlns:a="http://schemas.openxmlformats.org/drawingml/2006/main">
            <a:pPr marL="0" lvl="0" indent="0" algn="l">
              <a:spcBef>
                <a:spcPts val="0"/>
              </a:spcBef>
              <a:spcAft>
                <a:spcPts val="0"/>
              </a:spcAft>
              <a:buNone/>
            </a:pPr>
            <a:r>
              <a:rPr sz="1200"/>
              <a:t>- Product Risk screenshot in artifacts/evidence/quicksight_product_risk.png.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AWS fit this build because storage, governance, machine learning, and business intelligence all operate around the same S3 data lake. The dedicated group18-gold-build Athena workgroup limits each query to 256 mebibytes scanned. Parquet, Snappy compression, and partitions reduce the bytes read before that ceiling is reached, while the checkpoint workgroup enforces the project results location. The SageMaker job used one ml.m5.xlarge instance with a 20-gigabyte volume and completed in 89 billable seconds. Its 1,800-second MaxRuntimeInSeconds setting would stop a stalled job after 30 minutes, and we created no persistent endpoint. SageMaker returned artifacts and predictions to S3, Athena cataloged those outputs, and QuickSight imported three SPICE datasets. That shared path reduces duplicate storage and integration work. The remaining recurring-cost risk is the QuickSight subscription after its trial.</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[Sources]</a:t>
            </a:r>
            <a:endParaRPr/>
          </a:p>
          <a:p xmlns:a="http://schemas.openxmlformats.org/drawingml/2006/main">
            <a:pPr marL="0" lvl="0" indent="0" algn="l">
              <a:spcBef>
                <a:spcPts val="0"/>
              </a:spcBef>
              <a:spcAft>
                <a:spcPts val="0"/>
              </a:spcAft>
              <a:buNone/>
            </a:pPr>
            <a:r>
              <a:rPr sz="1200"/>
              <a:t>- Athena Gold workgroup cutoff in scripts/aws_gold_wizard.sh.</a:t>
            </a:r>
            <a:endParaRPr/>
          </a:p>
          <a:p xmlns:a="http://schemas.openxmlformats.org/drawingml/2006/main">
            <a:pPr marL="0" lvl="0" indent="0" algn="l">
              <a:spcBef>
                <a:spcPts val="0"/>
              </a:spcBef>
              <a:spcAft>
                <a:spcPts val="0"/>
              </a:spcAft>
              <a:buNone/>
            </a:pPr>
            <a:r>
              <a:rPr sz="1200"/>
              <a:t>- Training duration and endpoint evidence in artifacts/evidence/sagemaker_cost_evidence.json.</a:t>
            </a:r>
            <a:endParaRPr/>
          </a:p>
          <a:p xmlns:a="http://schemas.openxmlformats.org/drawingml/2006/main">
            <a:pPr marL="0" lvl="0" indent="0" algn="l">
              <a:spcBef>
                <a:spcPts val="0"/>
              </a:spcBef>
              <a:spcAft>
                <a:spcPts val="0"/>
              </a:spcAft>
              <a:buNone/>
            </a:pPr>
            <a:r>
              <a:rPr sz="1200"/>
              <a:t>- Training resource request in aws/sagemaker/build_training_job.py.</a:t>
            </a:r>
            <a:endParaRPr/>
          </a:p>
          <a:p xmlns:a="http://schemas.openxmlformats.org/drawingml/2006/main">
            <a:pPr marL="0" lvl="0" indent="0" algn="l">
              <a:spcBef>
                <a:spcPts val="0"/>
              </a:spcBef>
              <a:spcAft>
                <a:spcPts val="0"/>
              </a:spcAft>
              <a:buNone/>
            </a:pPr>
            <a:r>
              <a:rPr sz="1200"/>
              <a:t>- QuickSight integration evidence in artifacts/evidence/quicksight_evidence.json.</a:t>
            </a:r>
            <a:endParaRPr/>
          </a:p>
          <a:p xmlns:a="http://schemas.openxmlformats.org/drawingml/2006/main">
            <a:pPr marL="0" lvl="0" indent="0" algn="l">
              <a:spcBef>
                <a:spcPts val="0"/>
              </a:spcBef>
              <a:spcAft>
                <a:spcPts val="0"/>
              </a:spcAft>
              <a:buNone/>
            </a:pPr>
            <a:r>
              <a:rPr sz="1200"/>
              <a:t>- AWS Glue pricing: https://aws.amazon.com/glue/pricing/</a:t>
            </a:r>
            <a:endParaRPr/>
          </a:p>
          <a:p xmlns:a="http://schemas.openxmlformats.org/drawingml/2006/main">
            <a:pPr marL="0" lvl="0" indent="0" algn="l">
              <a:spcBef>
                <a:spcPts val="0"/>
              </a:spcBef>
              <a:spcAft>
                <a:spcPts val="0"/>
              </a:spcAft>
              <a:buNone/>
            </a:pPr>
            <a:r>
              <a:rPr sz="1200"/>
              <a:t>- Amazon Athena pricing reference: https://aws.amazon.com/athena/pricing/</a:t>
            </a:r>
            <a:endParaRPr/>
          </a:p>
          <a:p xmlns:a="http://schemas.openxmlformats.org/drawingml/2006/main">
            <a:pPr marL="0" lvl="0" indent="0" algn="l">
              <a:spcBef>
                <a:spcPts val="0"/>
              </a:spcBef>
              <a:spcAft>
                <a:spcPts val="0"/>
              </a:spcAft>
              <a:buNone/>
            </a:pPr>
            <a:r>
              <a:rPr sz="1200"/>
              <a:t>- Amazon SageMaker AI pricing: https://aws.amazon.com/sagemaker/ai/pricing/</a:t>
            </a:r>
            <a:endParaRPr/>
          </a:p>
          <a:p xmlns:a="http://schemas.openxmlformats.org/drawingml/2006/main">
            <a:pPr marL="0" lvl="0" indent="0" algn="l">
              <a:spcBef>
                <a:spcPts val="0"/>
              </a:spcBef>
              <a:spcAft>
                <a:spcPts val="0"/>
              </a:spcAft>
              <a:buNone/>
            </a:pPr>
            <a:r>
              <a:rPr sz="1200"/>
              <a:t>- Amazon QuickSight pricing: https://aws.amazon.com/quick/quicksight/pricing/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Making this production ready means scaling the controls before scaling the model’s influence. First, replace the fixed sample with incremental ingestion for the full Electronics category and eventually additional categories. Partition by date and category, compact small files, and manage retention. Second, automate Glue transformations, Athena quality gates, retraining, approval, and batch scoring through recoverable workflows and versioned model releases. Third, monitor data quality, feature drift, calibration, latency, and cost, using temporal evaluation before promotion. Finally, keep batch scoring as the default because it matches the current business workflow. Create a real-time endpoint only if an operational latency requirement justifies its recurring cost. Human review, feedback capture, and rollback remain required throughout.</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[Sources]</a:t>
            </a:r>
            <a:endParaRPr/>
          </a:p>
          <a:p xmlns:a="http://schemas.openxmlformats.org/drawingml/2006/main">
            <a:pPr marL="0" lvl="0" indent="0" algn="l">
              <a:spcBef>
                <a:spcPts val="0"/>
              </a:spcBef>
              <a:spcAft>
                <a:spcPts val="0"/>
              </a:spcAft>
              <a:buNone/>
            </a:pPr>
            <a:r>
              <a:rPr sz="1200"/>
              <a:t>- Current implemented baseline in README.md and aws/sagemaker/train.py.</a:t>
            </a:r>
            <a:endParaRPr/>
          </a:p>
          <a:p xmlns:a="http://schemas.openxmlformats.org/drawingml/2006/main">
            <a:pPr marL="0" lvl="0" indent="0" algn="l">
              <a:spcBef>
                <a:spcPts val="0"/>
              </a:spcBef>
              <a:spcAft>
                <a:spcPts val="0"/>
              </a:spcAft>
              <a:buNone/>
            </a:pPr>
            <a:r>
              <a:rPr sz="1200"/>
              <a:t>- AWS Glue workflows: https://docs.aws.amazon.com/glue/latest/dg/workflows_overview.html</a:t>
            </a:r>
            <a:endParaRPr/>
          </a:p>
          <a:p xmlns:a="http://schemas.openxmlformats.org/drawingml/2006/main">
            <a:pPr marL="0" lvl="0" indent="0" algn="l">
              <a:spcBef>
                <a:spcPts val="0"/>
              </a:spcBef>
              <a:spcAft>
                <a:spcPts val="0"/>
              </a:spcAft>
              <a:buNone/>
            </a:pPr>
            <a:r>
              <a:rPr sz="1200"/>
              <a:t>- Amazon SageMaker Pipelines: https://docs.aws.amazon.com/sagemaker/latest/dg/build-and-manage-steps.html</a:t>
            </a:r>
            <a:endParaRPr/>
          </a:p>
          <a:p xmlns:a="http://schemas.openxmlformats.org/drawingml/2006/main">
            <a:pPr marL="0" lvl="0" indent="0" algn="l">
              <a:spcBef>
                <a:spcPts val="0"/>
              </a:spcBef>
              <a:spcAft>
                <a:spcPts val="0"/>
              </a:spcAft>
              <a:buNone/>
            </a:pPr>
            <a:r>
              <a:rPr sz="1200"/>
              <a:t>- Amazon SageMaker Model Monitor: https://docs.aws.amazon.com/sagemaker/latest/dg/model-monitor.html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02d8c0206684950"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eb18ce0a151434d" /><Relationship Type="http://schemas.openxmlformats.org/officeDocument/2006/relationships/slideLayout" Target="/ppt/slideLayouts/slideLayout1.xml" Id="R1fcbe3bf91834a17"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1fcbe3bf91834a17"/>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21b2c977c4a4bbb" /><Relationship Type="http://schemas.openxmlformats.org/officeDocument/2006/relationships/notesSlide" Target="/ppt/notesSlides/notesSlide1.xml" Id="R3fef9b2b332e426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72a378102d945c6" /><Relationship Type="http://schemas.openxmlformats.org/officeDocument/2006/relationships/notesSlide" Target="/ppt/notesSlides/notesSlide2.xml" Id="R8a285c8030eb4bc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b2d6867003e43eb" /><Relationship Type="http://schemas.openxmlformats.org/officeDocument/2006/relationships/notesSlide" Target="/ppt/notesSlides/notesSlide3.xml" Id="R0a0dd6d5d8ef425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f2418387b0440c6" /><Relationship Type="http://schemas.openxmlformats.org/officeDocument/2006/relationships/notesSlide" Target="/ppt/notesSlides/notesSlide4.xml" Id="Re8fcb8ee1bde44e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0679fa374244865" /><Relationship Type="http://schemas.openxmlformats.org/officeDocument/2006/relationships/notesSlide" Target="/ppt/notesSlides/notesSlide5.xml" Id="R0ed2f2ee1d844b7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3eff98afbdd465d" /><Relationship Type="http://schemas.openxmlformats.org/officeDocument/2006/relationships/notesSlide" Target="/ppt/notesSlides/notesSlide6.xml" Id="Rfb74ff46ffe8493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9157d16c4f841b1" /><Relationship Type="http://schemas.openxmlformats.org/officeDocument/2006/relationships/image" Target="/ppt/media/image.png" Id="R2b4714a416f5496b" /><Relationship Type="http://schemas.openxmlformats.org/officeDocument/2006/relationships/notesSlide" Target="/ppt/notesSlides/notesSlide7.xml" Id="R71a13c21071d409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817f74330554720" /><Relationship Type="http://schemas.openxmlformats.org/officeDocument/2006/relationships/notesSlide" Target="/ppt/notesSlides/notesSlide8.xml" Id="Rd5ccba4dcb0c42b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7e9e7ec19904e7d" /><Relationship Type="http://schemas.openxmlformats.org/officeDocument/2006/relationships/image" Target="/ppt/media/image2.png" Id="Rba1e4bb6fa14402f" /><Relationship Type="http://schemas.openxmlformats.org/officeDocument/2006/relationships/notesSlide" Target="/ppt/notesSlides/notesSlide9.xml" Id="R99af4505904f487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250e4113b514a7d" /><Relationship Type="http://schemas.openxmlformats.org/officeDocument/2006/relationships/image" Target="/ppt/media/image3.png" Id="R783e1e40e3ef4e85" /><Relationship Type="http://schemas.openxmlformats.org/officeDocument/2006/relationships/image" Target="/ppt/media/image4.png" Id="R1c115a99ecc24151" /><Relationship Type="http://schemas.openxmlformats.org/officeDocument/2006/relationships/notesSlide" Target="/ppt/notesSlides/notesSlide10.xml" Id="Rabd15894eef647f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e4fa5da701e41f5" /><Relationship Type="http://schemas.openxmlformats.org/officeDocument/2006/relationships/notesSlide" Target="/ppt/notesSlides/notesSlide11.xml" Id="R25cf6591000c413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35462bb6a8e4885" /><Relationship Type="http://schemas.openxmlformats.org/officeDocument/2006/relationships/notesSlide" Target="/ppt/notesSlides/notesSlide12.xml" Id="Re425922108ee4c1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Google Shape;16;p3">
            <a:extLst xmlns:a="http://schemas.openxmlformats.org/drawingml/2006/main">
              <a:ext uri="{FF2B5EF4-FFF2-40B4-BE49-F238E27FC236}">
                <a16:creationId xmlns:a16="http://schemas.microsoft.com/office/drawing/2014/main" id="{3783101A-5252-4268-A0E3-59D20176E713}"/>
              </a:ext>
            </a:extLst>
          </p:cNvPr>
          <p:cNvSpPr>
            <a:spLocks xmlns:a="http://schemas.openxmlformats.org/drawingml/2006/main" noGrp="1"/>
          </p:cNvSpPr>
          <p:nvPr/>
        </p:nvSpPr>
        <p:spPr>
          <a:xfrm xmlns:a="http://schemas.openxmlformats.org/drawingml/2006/main">
            <a:off x="533400" y="457200"/>
            <a:ext cx="47625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350" b="1">
                <a:solidFill>
                  <a:srgbClr val="3D8DFF"/>
                </a:solidFill>
                <a:latin typeface="Arial"/>
                <a:ea typeface="Arial"/>
                <a:cs typeface="Arial"/>
              </a:rPr>
              <a:t>MGMT 59990 · GROUP 18</a:t>
            </a:r>
            <a:endParaRPr/>
          </a:p>
        </p:txBody>
      </p:sp>
      <p:sp>
        <p:nvSpPr>
          <p:cNvPr id="17" name="Google Shape;17;p3">
            <a:extLst xmlns:a="http://schemas.openxmlformats.org/drawingml/2006/main">
              <a:ext uri="{FF2B5EF4-FFF2-40B4-BE49-F238E27FC236}">
                <a16:creationId xmlns:a16="http://schemas.microsoft.com/office/drawing/2014/main" id="{461C272F-FF23-420D-8539-2FD4234FF1A8}"/>
              </a:ext>
            </a:extLst>
          </p:cNvPr>
          <p:cNvSpPr>
            <a:spLocks xmlns:a="http://schemas.openxmlformats.org/drawingml/2006/main" noGrp="1"/>
          </p:cNvSpPr>
          <p:nvPr/>
        </p:nvSpPr>
        <p:spPr>
          <a:xfrm xmlns:a="http://schemas.openxmlformats.org/drawingml/2006/main">
            <a:off x="533400" y="1225225"/>
            <a:ext cx="11094000" cy="267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p xmlns:a="http://schemas.openxmlformats.org/drawingml/2006/main">
            <a:pPr marL="0" marR="0" lvl="0" indent="0" algn="l">
              <a:spcBef>
                <a:spcPts val="0"/>
              </a:spcBef>
              <a:spcAft>
                <a:spcPts val="0"/>
              </a:spcAft>
              <a:buNone/>
            </a:pPr>
            <a:r>
              <a:rPr sz="4800" b="1">
                <a:solidFill>
                  <a:srgbClr val="111827"/>
                </a:solidFill>
                <a:latin typeface="Arial"/>
                <a:ea typeface="Arial"/>
                <a:cs typeface="Arial"/>
              </a:rPr>
              <a:t>Turning Amazon electronics reviews</a:t>
            </a:r>
            <a:endParaRPr sz="600"/>
          </a:p>
          <a:p xmlns:a="http://schemas.openxmlformats.org/drawingml/2006/main">
            <a:pPr marL="0" marR="0" lvl="0" indent="0" algn="l">
              <a:spcBef>
                <a:spcPts val="0"/>
              </a:spcBef>
              <a:spcAft>
                <a:spcPts val="0"/>
              </a:spcAft>
              <a:buNone/>
            </a:pPr>
            <a:r>
              <a:rPr sz="4800" b="1">
                <a:solidFill>
                  <a:srgbClr val="111827"/>
                </a:solidFill>
                <a:latin typeface="Arial"/>
                <a:ea typeface="Arial"/>
                <a:cs typeface="Arial"/>
              </a:rPr>
              <a:t>into early risk signals</a:t>
            </a:r>
            <a:endParaRPr sz="600"/>
          </a:p>
        </p:txBody>
      </p:sp>
      <p:sp>
        <p:nvSpPr>
          <p:cNvPr id="18" name="Google Shape;18;p3">
            <a:extLst xmlns:a="http://schemas.openxmlformats.org/drawingml/2006/main">
              <a:ext uri="{FF2B5EF4-FFF2-40B4-BE49-F238E27FC236}">
                <a16:creationId xmlns:a16="http://schemas.microsoft.com/office/drawing/2014/main" id="{E277E2F6-BB14-4962-9B02-7D56A9ED70C7}"/>
              </a:ext>
            </a:extLst>
          </p:cNvPr>
          <p:cNvSpPr>
            <a:spLocks xmlns:a="http://schemas.openxmlformats.org/drawingml/2006/main" noGrp="1"/>
          </p:cNvSpPr>
          <p:nvPr/>
        </p:nvSpPr>
        <p:spPr>
          <a:xfrm xmlns:a="http://schemas.openxmlformats.org/drawingml/2006/main">
            <a:off x="533400" y="4343400"/>
            <a:ext cx="2247900" cy="57150"/>
          </a:xfrm>
          <a:prstGeom xmlns:a="http://schemas.openxmlformats.org/drawingml/2006/main" prst="rect">
            <a:avLst/>
          </a:prstGeom>
          <a:solidFill xmlns:a="http://schemas.openxmlformats.org/drawingml/2006/main">
            <a:srgbClr val="3D8D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 name="Google Shape;19;p3">
            <a:extLst xmlns:a="http://schemas.openxmlformats.org/drawingml/2006/main">
              <a:ext uri="{FF2B5EF4-FFF2-40B4-BE49-F238E27FC236}">
                <a16:creationId xmlns:a16="http://schemas.microsoft.com/office/drawing/2014/main" id="{D32439C0-5F47-447A-BDA2-B3D2756903C3}"/>
              </a:ext>
            </a:extLst>
          </p:cNvPr>
          <p:cNvSpPr>
            <a:spLocks xmlns:a="http://schemas.openxmlformats.org/drawingml/2006/main" noGrp="1"/>
          </p:cNvSpPr>
          <p:nvPr/>
        </p:nvSpPr>
        <p:spPr>
          <a:xfrm xmlns:a="http://schemas.openxmlformats.org/drawingml/2006/main">
            <a:off x="533400" y="4762500"/>
            <a:ext cx="8477250" cy="87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2250">
                <a:solidFill>
                  <a:srgbClr val="5B6574"/>
                </a:solidFill>
                <a:latin typeface="Arial"/>
                <a:ea typeface="Arial"/>
                <a:cs typeface="Arial"/>
              </a:rPr>
              <a:t>An implemented AWS data lake, </a:t>
            </a:r>
            <a:r>
              <a:rPr sz="2250">
                <a:solidFill>
                  <a:srgbClr val="5B6574"/>
                </a:solidFill>
              </a:rPr>
              <a:t>Classification ML model, </a:t>
            </a:r>
            <a:r>
              <a:rPr sz="2250">
                <a:solidFill>
                  <a:srgbClr val="5B6574"/>
                </a:solidFill>
                <a:latin typeface="Arial"/>
                <a:ea typeface="Arial"/>
                <a:cs typeface="Arial"/>
              </a:rPr>
              <a:t>and QuickSight dashboard</a:t>
            </a:r>
            <a:endParaRPr/>
          </a:p>
        </p:txBody>
      </p:sp>
      <p:sp>
        <p:nvSpPr>
          <p:cNvPr id="20" name="Google Shape;20;p3">
            <a:extLst xmlns:a="http://schemas.openxmlformats.org/drawingml/2006/main">
              <a:ext uri="{FF2B5EF4-FFF2-40B4-BE49-F238E27FC236}">
                <a16:creationId xmlns:a16="http://schemas.microsoft.com/office/drawing/2014/main" id="{FDDDE2F2-DD51-4165-A0F2-988B74EA8D7C}"/>
              </a:ext>
            </a:extLst>
          </p:cNvPr>
          <p:cNvSpPr>
            <a:spLocks xmlns:a="http://schemas.openxmlformats.org/drawingml/2006/main" noGrp="1"/>
          </p:cNvSpPr>
          <p:nvPr/>
        </p:nvSpPr>
        <p:spPr>
          <a:xfrm xmlns:a="http://schemas.openxmlformats.org/drawingml/2006/main">
            <a:off x="533400" y="6191250"/>
            <a:ext cx="57150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025">
                <a:solidFill>
                  <a:srgbClr val="5B6574"/>
                </a:solidFill>
                <a:latin typeface="Arial"/>
                <a:ea typeface="Arial"/>
                <a:cs typeface="Arial"/>
              </a:rPr>
              <a:t>Final project presentation · August 2026</a:t>
            </a:r>
            <a:endParaRPr/>
          </a:p>
        </p:txBody>
      </p:sp>
    </p:spTree>
    <p:extLst>
      <p:ext uri="{BB962C8B-B14F-4D97-AF65-F5344CB8AC3E}">
        <p14:creationId xmlns:p14="http://schemas.microsoft.com/office/powerpoint/2010/main" val="112455094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Google Shape;26;p4">
            <a:extLst xmlns:a="http://schemas.openxmlformats.org/drawingml/2006/main">
              <a:ext uri="{FF2B5EF4-FFF2-40B4-BE49-F238E27FC236}">
                <a16:creationId xmlns:a16="http://schemas.microsoft.com/office/drawing/2014/main" id="{47F9357D-9A7E-4D27-AEB8-7BB604453D69}"/>
              </a:ext>
            </a:extLst>
          </p:cNvPr>
          <p:cNvSpPr>
            <a:spLocks xmlns:a="http://schemas.openxmlformats.org/drawingml/2006/main" noGrp="1"/>
          </p:cNvSpPr>
          <p:nvPr/>
        </p:nvSpPr>
        <p:spPr>
          <a:xfrm xmlns:a="http://schemas.openxmlformats.org/drawingml/2006/main">
            <a:off x="533400" y="323850"/>
            <a:ext cx="4381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150" b="1">
                <a:solidFill>
                  <a:srgbClr val="3D8DFF"/>
                </a:solidFill>
                <a:latin typeface="Arial"/>
                <a:ea typeface="Arial"/>
                <a:cs typeface="Arial"/>
              </a:rPr>
              <a:t>MGMT 59990 · GROUP 18</a:t>
            </a:r>
            <a:endParaRPr/>
          </a:p>
        </p:txBody>
      </p:sp>
      <p:sp>
        <p:nvSpPr>
          <p:cNvPr id="27" name="Google Shape;27;p4">
            <a:extLst xmlns:a="http://schemas.openxmlformats.org/drawingml/2006/main">
              <a:ext uri="{FF2B5EF4-FFF2-40B4-BE49-F238E27FC236}">
                <a16:creationId xmlns:a16="http://schemas.microsoft.com/office/drawing/2014/main" id="{510F9AA6-4E39-4F11-998B-E40C24B3F69A}"/>
              </a:ext>
            </a:extLst>
          </p:cNvPr>
          <p:cNvSpPr>
            <a:spLocks xmlns:a="http://schemas.openxmlformats.org/drawingml/2006/main" noGrp="1"/>
          </p:cNvSpPr>
          <p:nvPr/>
        </p:nvSpPr>
        <p:spPr>
          <a:xfrm xmlns:a="http://schemas.openxmlformats.org/drawingml/2006/main">
            <a:off x="487100" y="897650"/>
            <a:ext cx="1112520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3150" b="1">
                <a:solidFill>
                  <a:srgbClr val="111827"/>
                </a:solidFill>
                <a:latin typeface="Arial"/>
                <a:ea typeface="Arial"/>
                <a:cs typeface="Arial"/>
              </a:rPr>
              <a:t>Manual </a:t>
            </a:r>
            <a:r>
              <a:rPr sz="3150" b="1">
                <a:solidFill>
                  <a:srgbClr val="111827"/>
                </a:solidFill>
              </a:rPr>
              <a:t>research on reviews is information that is </a:t>
            </a:r>
            <a:r>
              <a:rPr sz="3150" b="1">
                <a:solidFill>
                  <a:srgbClr val="111827"/>
                </a:solidFill>
                <a:latin typeface="Arial"/>
                <a:ea typeface="Arial"/>
                <a:cs typeface="Arial"/>
              </a:rPr>
              <a:t>too lat</a:t>
            </a:r>
            <a:r>
              <a:rPr sz="3150" b="1">
                <a:solidFill>
                  <a:srgbClr val="111827"/>
                </a:solidFill>
              </a:rPr>
              <a:t>e</a:t>
            </a:r>
            <a:endParaRPr sz="800"/>
          </a:p>
        </p:txBody>
      </p:sp>
      <p:sp>
        <p:nvSpPr>
          <p:cNvPr id="28" name="Google Shape;28;p4">
            <a:extLst xmlns:a="http://schemas.openxmlformats.org/drawingml/2006/main">
              <a:ext uri="{FF2B5EF4-FFF2-40B4-BE49-F238E27FC236}">
                <a16:creationId xmlns:a16="http://schemas.microsoft.com/office/drawing/2014/main" id="{CB2CA6CB-7F82-42B5-8148-EE6AD57BABB8}"/>
              </a:ext>
            </a:extLst>
          </p:cNvPr>
          <p:cNvSpPr>
            <a:spLocks xmlns:a="http://schemas.openxmlformats.org/drawingml/2006/main" noGrp="1"/>
          </p:cNvSpPr>
          <p:nvPr/>
        </p:nvSpPr>
        <p:spPr>
          <a:xfrm xmlns:a="http://schemas.openxmlformats.org/drawingml/2006/main">
            <a:off x="11144250" y="6381750"/>
            <a:ext cx="5143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r">
              <a:spcBef>
                <a:spcPts val="0"/>
              </a:spcBef>
              <a:spcAft>
                <a:spcPts val="0"/>
              </a:spcAft>
              <a:buNone/>
            </a:pPr>
            <a:r>
              <a:rPr sz="775">
                <a:solidFill>
                  <a:srgbClr val="5B6574"/>
                </a:solidFill>
                <a:latin typeface="Arial"/>
                <a:ea typeface="Arial"/>
                <a:cs typeface="Arial"/>
              </a:rPr>
              <a:t>02</a:t>
            </a:r>
            <a:endParaRPr/>
          </a:p>
        </p:txBody>
      </p:sp>
      <p:sp>
        <p:nvSpPr>
          <p:cNvPr id="29" name="Google Shape;29;p4">
            <a:extLst xmlns:a="http://schemas.openxmlformats.org/drawingml/2006/main">
              <a:ext uri="{FF2B5EF4-FFF2-40B4-BE49-F238E27FC236}">
                <a16:creationId xmlns:a16="http://schemas.microsoft.com/office/drawing/2014/main" id="{E5AC5722-1014-44F2-B14B-00A0DAE83FFB}"/>
              </a:ext>
            </a:extLst>
          </p:cNvPr>
          <p:cNvSpPr>
            <a:spLocks xmlns:a="http://schemas.openxmlformats.org/drawingml/2006/main" noGrp="1"/>
          </p:cNvSpPr>
          <p:nvPr/>
        </p:nvSpPr>
        <p:spPr>
          <a:xfrm xmlns:a="http://schemas.openxmlformats.org/drawingml/2006/main">
            <a:off x="533400" y="1695450"/>
            <a:ext cx="10191750" cy="819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2387" b="1">
                <a:solidFill>
                  <a:srgbClr val="111827"/>
                </a:solidFill>
                <a:latin typeface="Arial"/>
                <a:ea typeface="Arial"/>
                <a:cs typeface="Arial"/>
              </a:rPr>
              <a:t>Thousands of reviews contain quality signals, but teams cannot read and prioritize them consistently at scale.</a:t>
            </a:r>
            <a:endParaRPr/>
          </a:p>
        </p:txBody>
      </p:sp>
      <p:sp>
        <p:nvSpPr>
          <p:cNvPr id="30" name="Google Shape;30;p4">
            <a:extLst xmlns:a="http://schemas.openxmlformats.org/drawingml/2006/main">
              <a:ext uri="{FF2B5EF4-FFF2-40B4-BE49-F238E27FC236}">
                <a16:creationId xmlns:a16="http://schemas.microsoft.com/office/drawing/2014/main" id="{0965FDCF-CEAF-4E8E-931A-FB4FFCC85BC6}"/>
              </a:ext>
            </a:extLst>
          </p:cNvPr>
          <p:cNvSpPr>
            <a:spLocks xmlns:a="http://schemas.openxmlformats.org/drawingml/2006/main" noGrp="1"/>
          </p:cNvSpPr>
          <p:nvPr/>
        </p:nvSpPr>
        <p:spPr>
          <a:xfrm xmlns:a="http://schemas.openxmlformats.org/drawingml/2006/main">
            <a:off x="533400" y="2857500"/>
            <a:ext cx="11125200" cy="19050"/>
          </a:xfrm>
          <a:prstGeom xmlns:a="http://schemas.openxmlformats.org/drawingml/2006/main" prst="rect">
            <a:avLst/>
          </a:prstGeom>
          <a:solidFill xmlns:a="http://schemas.openxmlformats.org/drawingml/2006/main">
            <a:srgbClr val="C7CCD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1" name="Google Shape;31;p4">
            <a:extLst xmlns:a="http://schemas.openxmlformats.org/drawingml/2006/main">
              <a:ext uri="{FF2B5EF4-FFF2-40B4-BE49-F238E27FC236}">
                <a16:creationId xmlns:a16="http://schemas.microsoft.com/office/drawing/2014/main" id="{066B7F3E-A231-436D-8007-78E61DF73155}"/>
              </a:ext>
            </a:extLst>
          </p:cNvPr>
          <p:cNvSpPr>
            <a:spLocks xmlns:a="http://schemas.openxmlformats.org/drawingml/2006/main" noGrp="1"/>
          </p:cNvSpPr>
          <p:nvPr/>
        </p:nvSpPr>
        <p:spPr>
          <a:xfrm xmlns:a="http://schemas.openxmlformats.org/drawingml/2006/main">
            <a:off x="533400" y="3276600"/>
            <a:ext cx="31432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2025" b="1">
                <a:solidFill>
                  <a:srgbClr val="3D8DFF"/>
                </a:solidFill>
                <a:latin typeface="Arial"/>
                <a:ea typeface="Arial"/>
                <a:cs typeface="Arial"/>
              </a:rPr>
              <a:t>Product teams</a:t>
            </a:r>
            <a:endParaRPr/>
          </a:p>
        </p:txBody>
      </p:sp>
      <p:sp>
        <p:nvSpPr>
          <p:cNvPr id="32" name="Google Shape;32;p4">
            <a:extLst xmlns:a="http://schemas.openxmlformats.org/drawingml/2006/main">
              <a:ext uri="{FF2B5EF4-FFF2-40B4-BE49-F238E27FC236}">
                <a16:creationId xmlns:a16="http://schemas.microsoft.com/office/drawing/2014/main" id="{92A17AC9-D62B-4E9C-B123-B0766BA64C4B}"/>
              </a:ext>
            </a:extLst>
          </p:cNvPr>
          <p:cNvSpPr>
            <a:spLocks xmlns:a="http://schemas.openxmlformats.org/drawingml/2006/main" noGrp="1"/>
          </p:cNvSpPr>
          <p:nvPr/>
        </p:nvSpPr>
        <p:spPr>
          <a:xfrm xmlns:a="http://schemas.openxmlformats.org/drawingml/2006/main">
            <a:off x="533400" y="3886200"/>
            <a:ext cx="314325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800">
                <a:solidFill>
                  <a:srgbClr val="5B6574"/>
                </a:solidFill>
                <a:latin typeface="Arial"/>
                <a:ea typeface="Arial"/>
                <a:cs typeface="Arial"/>
              </a:rPr>
              <a:t>Which products show a concentrated pattern of low ratings?</a:t>
            </a:r>
            <a:endParaRPr/>
          </a:p>
        </p:txBody>
      </p:sp>
      <p:sp>
        <p:nvSpPr>
          <p:cNvPr id="33" name="Google Shape;33;p4">
            <a:extLst xmlns:a="http://schemas.openxmlformats.org/drawingml/2006/main">
              <a:ext uri="{FF2B5EF4-FFF2-40B4-BE49-F238E27FC236}">
                <a16:creationId xmlns:a16="http://schemas.microsoft.com/office/drawing/2014/main" id="{EE7C150F-B366-498F-949E-F484CB1CA264}"/>
              </a:ext>
            </a:extLst>
          </p:cNvPr>
          <p:cNvSpPr>
            <a:spLocks xmlns:a="http://schemas.openxmlformats.org/drawingml/2006/main" noGrp="1"/>
          </p:cNvSpPr>
          <p:nvPr/>
        </p:nvSpPr>
        <p:spPr>
          <a:xfrm xmlns:a="http://schemas.openxmlformats.org/drawingml/2006/main">
            <a:off x="4286250" y="3276600"/>
            <a:ext cx="31432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2025" b="1">
                <a:solidFill>
                  <a:srgbClr val="147A4A"/>
                </a:solidFill>
                <a:latin typeface="Arial"/>
                <a:ea typeface="Arial"/>
                <a:cs typeface="Arial"/>
              </a:rPr>
              <a:t>Customer experience</a:t>
            </a:r>
            <a:endParaRPr/>
          </a:p>
        </p:txBody>
      </p:sp>
      <p:sp>
        <p:nvSpPr>
          <p:cNvPr id="34" name="Google Shape;34;p4">
            <a:extLst xmlns:a="http://schemas.openxmlformats.org/drawingml/2006/main">
              <a:ext uri="{FF2B5EF4-FFF2-40B4-BE49-F238E27FC236}">
                <a16:creationId xmlns:a16="http://schemas.microsoft.com/office/drawing/2014/main" id="{CE9CC204-633D-4875-8AA6-DF7AD6552D65}"/>
              </a:ext>
            </a:extLst>
          </p:cNvPr>
          <p:cNvSpPr>
            <a:spLocks xmlns:a="http://schemas.openxmlformats.org/drawingml/2006/main" noGrp="1"/>
          </p:cNvSpPr>
          <p:nvPr/>
        </p:nvSpPr>
        <p:spPr>
          <a:xfrm xmlns:a="http://schemas.openxmlformats.org/drawingml/2006/main">
            <a:off x="4286250" y="3886200"/>
            <a:ext cx="314325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800">
                <a:solidFill>
                  <a:srgbClr val="5B6574"/>
                </a:solidFill>
                <a:latin typeface="Arial"/>
                <a:ea typeface="Arial"/>
                <a:cs typeface="Arial"/>
              </a:rPr>
              <a:t>Which reviews should be examined first for recurring issues?</a:t>
            </a:r>
            <a:endParaRPr/>
          </a:p>
        </p:txBody>
      </p:sp>
      <p:sp>
        <p:nvSpPr>
          <p:cNvPr id="35" name="Google Shape;35;p4">
            <a:extLst xmlns:a="http://schemas.openxmlformats.org/drawingml/2006/main">
              <a:ext uri="{FF2B5EF4-FFF2-40B4-BE49-F238E27FC236}">
                <a16:creationId xmlns:a16="http://schemas.microsoft.com/office/drawing/2014/main" id="{4AF7E75A-30B5-4EA6-AB05-77C267D418AD}"/>
              </a:ext>
            </a:extLst>
          </p:cNvPr>
          <p:cNvSpPr>
            <a:spLocks xmlns:a="http://schemas.openxmlformats.org/drawingml/2006/main" noGrp="1"/>
          </p:cNvSpPr>
          <p:nvPr/>
        </p:nvSpPr>
        <p:spPr>
          <a:xfrm xmlns:a="http://schemas.openxmlformats.org/drawingml/2006/main">
            <a:off x="8039100" y="3276600"/>
            <a:ext cx="31432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2025" b="1">
                <a:solidFill>
                  <a:srgbClr val="3D8DFF"/>
                </a:solidFill>
                <a:latin typeface="Arial"/>
                <a:ea typeface="Arial"/>
                <a:cs typeface="Arial"/>
              </a:rPr>
              <a:t>Analytics leaders</a:t>
            </a:r>
            <a:endParaRPr/>
          </a:p>
        </p:txBody>
      </p:sp>
      <p:sp>
        <p:nvSpPr>
          <p:cNvPr id="36" name="Google Shape;36;p4">
            <a:extLst xmlns:a="http://schemas.openxmlformats.org/drawingml/2006/main">
              <a:ext uri="{FF2B5EF4-FFF2-40B4-BE49-F238E27FC236}">
                <a16:creationId xmlns:a16="http://schemas.microsoft.com/office/drawing/2014/main" id="{996C4C88-3E17-411C-BA73-EE22D3A28DFC}"/>
              </a:ext>
            </a:extLst>
          </p:cNvPr>
          <p:cNvSpPr>
            <a:spLocks xmlns:a="http://schemas.openxmlformats.org/drawingml/2006/main" noGrp="1"/>
          </p:cNvSpPr>
          <p:nvPr/>
        </p:nvSpPr>
        <p:spPr>
          <a:xfrm xmlns:a="http://schemas.openxmlformats.org/drawingml/2006/main">
            <a:off x="8039100" y="3886200"/>
            <a:ext cx="314325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800">
                <a:solidFill>
                  <a:srgbClr val="5B6574"/>
                </a:solidFill>
                <a:latin typeface="Arial"/>
                <a:ea typeface="Arial"/>
                <a:cs typeface="Arial"/>
              </a:rPr>
              <a:t>Can the evidence be reproduced, governed, and delivered affordably?</a:t>
            </a:r>
            <a:endParaRPr/>
          </a:p>
        </p:txBody>
      </p:sp>
      <p:sp>
        <p:nvSpPr>
          <p:cNvPr id="37" name="Google Shape;37;p4">
            <a:extLst xmlns:a="http://schemas.openxmlformats.org/drawingml/2006/main">
              <a:ext uri="{FF2B5EF4-FFF2-40B4-BE49-F238E27FC236}">
                <a16:creationId xmlns:a16="http://schemas.microsoft.com/office/drawing/2014/main" id="{87CB26BB-B932-456E-A491-FF020251832E}"/>
              </a:ext>
            </a:extLst>
          </p:cNvPr>
          <p:cNvSpPr>
            <a:spLocks xmlns:a="http://schemas.openxmlformats.org/drawingml/2006/main" noGrp="1"/>
          </p:cNvSpPr>
          <p:nvPr/>
        </p:nvSpPr>
        <p:spPr>
          <a:xfrm xmlns:a="http://schemas.openxmlformats.org/drawingml/2006/main">
            <a:off x="533400" y="5619750"/>
            <a:ext cx="1057275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852" b="1">
                <a:solidFill>
                  <a:srgbClr val="111827"/>
                </a:solidFill>
                <a:latin typeface="Arial"/>
                <a:ea typeface="Arial"/>
                <a:cs typeface="Arial"/>
              </a:rPr>
              <a:t>Our target: predict likely 1–2 star reviews and surface product-level risk for human follow-up.</a:t>
            </a:r>
            <a:endParaRPr/>
          </a:p>
        </p:txBody>
      </p:sp>
    </p:spTree>
    <p:extLst>
      <p:ext uri="{BB962C8B-B14F-4D97-AF65-F5344CB8AC3E}">
        <p14:creationId xmlns:p14="http://schemas.microsoft.com/office/powerpoint/2010/main" val="70097067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Google Shape;43;p5">
            <a:extLst xmlns:a="http://schemas.openxmlformats.org/drawingml/2006/main">
              <a:ext uri="{FF2B5EF4-FFF2-40B4-BE49-F238E27FC236}">
                <a16:creationId xmlns:a16="http://schemas.microsoft.com/office/drawing/2014/main" id="{3B665C34-07AE-4F6E-B915-42030F233ACE}"/>
              </a:ext>
            </a:extLst>
          </p:cNvPr>
          <p:cNvSpPr>
            <a:spLocks xmlns:a="http://schemas.openxmlformats.org/drawingml/2006/main" noGrp="1"/>
          </p:cNvSpPr>
          <p:nvPr/>
        </p:nvSpPr>
        <p:spPr>
          <a:xfrm xmlns:a="http://schemas.openxmlformats.org/drawingml/2006/main">
            <a:off x="533400" y="323850"/>
            <a:ext cx="4381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150" b="1">
                <a:solidFill>
                  <a:srgbClr val="3D8DFF"/>
                </a:solidFill>
                <a:latin typeface="Arial"/>
                <a:ea typeface="Arial"/>
                <a:cs typeface="Arial"/>
              </a:rPr>
              <a:t>MGMT 59990 · GROUP 18</a:t>
            </a:r>
            <a:endParaRPr/>
          </a:p>
        </p:txBody>
      </p:sp>
      <p:sp>
        <p:nvSpPr>
          <p:cNvPr id="44" name="Google Shape;44;p5">
            <a:extLst xmlns:a="http://schemas.openxmlformats.org/drawingml/2006/main">
              <a:ext uri="{FF2B5EF4-FFF2-40B4-BE49-F238E27FC236}">
                <a16:creationId xmlns:a16="http://schemas.microsoft.com/office/drawing/2014/main" id="{AB6B0532-7DCC-4780-A6FB-A574AA0A1771}"/>
              </a:ext>
            </a:extLst>
          </p:cNvPr>
          <p:cNvSpPr>
            <a:spLocks xmlns:a="http://schemas.openxmlformats.org/drawingml/2006/main" noGrp="1"/>
          </p:cNvSpPr>
          <p:nvPr/>
        </p:nvSpPr>
        <p:spPr>
          <a:xfrm xmlns:a="http://schemas.openxmlformats.org/drawingml/2006/main">
            <a:off x="533400" y="647700"/>
            <a:ext cx="1112520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3539" b="1">
                <a:solidFill>
                  <a:srgbClr val="111827"/>
                </a:solidFill>
                <a:latin typeface="Arial"/>
                <a:ea typeface="Arial"/>
                <a:cs typeface="Arial"/>
              </a:rPr>
              <a:t>Sampling avoids processing all 22.6 GB</a:t>
            </a:r>
            <a:endParaRPr/>
          </a:p>
        </p:txBody>
      </p:sp>
      <p:sp>
        <p:nvSpPr>
          <p:cNvPr id="45" name="Google Shape;45;p5">
            <a:extLst xmlns:a="http://schemas.openxmlformats.org/drawingml/2006/main">
              <a:ext uri="{FF2B5EF4-FFF2-40B4-BE49-F238E27FC236}">
                <a16:creationId xmlns:a16="http://schemas.microsoft.com/office/drawing/2014/main" id="{952E9507-F439-489B-ABA5-0D4A549C097F}"/>
              </a:ext>
            </a:extLst>
          </p:cNvPr>
          <p:cNvSpPr>
            <a:spLocks xmlns:a="http://schemas.openxmlformats.org/drawingml/2006/main" noGrp="1"/>
          </p:cNvSpPr>
          <p:nvPr/>
        </p:nvSpPr>
        <p:spPr>
          <a:xfrm xmlns:a="http://schemas.openxmlformats.org/drawingml/2006/main">
            <a:off x="11144250" y="6381750"/>
            <a:ext cx="5143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r">
              <a:spcBef>
                <a:spcPts val="0"/>
              </a:spcBef>
              <a:spcAft>
                <a:spcPts val="0"/>
              </a:spcAft>
              <a:buNone/>
            </a:pPr>
            <a:r>
              <a:rPr sz="775">
                <a:solidFill>
                  <a:srgbClr val="5B6574"/>
                </a:solidFill>
                <a:latin typeface="Arial"/>
                <a:ea typeface="Arial"/>
                <a:cs typeface="Arial"/>
              </a:rPr>
              <a:t>03</a:t>
            </a:r>
            <a:endParaRPr/>
          </a:p>
        </p:txBody>
      </p:sp>
      <p:sp>
        <p:nvSpPr>
          <p:cNvPr id="46" name="Google Shape;46;p5">
            <a:extLst xmlns:a="http://schemas.openxmlformats.org/drawingml/2006/main">
              <a:ext uri="{FF2B5EF4-FFF2-40B4-BE49-F238E27FC236}">
                <a16:creationId xmlns:a16="http://schemas.microsoft.com/office/drawing/2014/main" id="{772DEC1E-B3A4-485D-B414-6DF3C35EF006}"/>
              </a:ext>
            </a:extLst>
          </p:cNvPr>
          <p:cNvSpPr>
            <a:spLocks xmlns:a="http://schemas.openxmlformats.org/drawingml/2006/main" noGrp="1"/>
          </p:cNvSpPr>
          <p:nvPr/>
        </p:nvSpPr>
        <p:spPr>
          <a:xfrm xmlns:a="http://schemas.openxmlformats.org/drawingml/2006/main">
            <a:off x="533400" y="1447800"/>
            <a:ext cx="1057275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637">
                <a:solidFill>
                  <a:srgbClr val="5B6574"/>
                </a:solidFill>
                <a:latin typeface="Arial"/>
                <a:ea typeface="Arial"/>
                <a:cs typeface="Arial"/>
              </a:rPr>
              <a:t>A seeded, distributed byte-range sample from Amazon Reviews 2023 Electronics was joined to matched product metadata.</a:t>
            </a:r>
            <a:endParaRPr/>
          </a:p>
        </p:txBody>
      </p:sp>
      <p:sp>
        <p:nvSpPr>
          <p:cNvPr id="47" name="Google Shape;47;p5">
            <a:extLst xmlns:a="http://schemas.openxmlformats.org/drawingml/2006/main">
              <a:ext uri="{FF2B5EF4-FFF2-40B4-BE49-F238E27FC236}">
                <a16:creationId xmlns:a16="http://schemas.microsoft.com/office/drawing/2014/main" id="{DBCDD674-BF2E-4A77-ACC1-3EC281709B27}"/>
              </a:ext>
            </a:extLst>
          </p:cNvPr>
          <p:cNvSpPr>
            <a:spLocks xmlns:a="http://schemas.openxmlformats.org/drawingml/2006/main" noGrp="1"/>
          </p:cNvSpPr>
          <p:nvPr/>
        </p:nvSpPr>
        <p:spPr>
          <a:xfrm xmlns:a="http://schemas.openxmlformats.org/drawingml/2006/main">
            <a:off x="533400" y="2438400"/>
            <a:ext cx="3429000" cy="2171700"/>
          </a:xfrm>
          <a:prstGeom xmlns:a="http://schemas.openxmlformats.org/drawingml/2006/main" prst="roundRect">
            <a:avLst>
              <a:gd name="adj" fmla="val 5263"/>
            </a:avLst>
          </a:prstGeom>
          <a:solidFill xmlns:a="http://schemas.openxmlformats.org/drawingml/2006/main">
            <a:srgbClr val="E9F5F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8" name="Google Shape;48;p5">
            <a:extLst xmlns:a="http://schemas.openxmlformats.org/drawingml/2006/main">
              <a:ext uri="{FF2B5EF4-FFF2-40B4-BE49-F238E27FC236}">
                <a16:creationId xmlns:a16="http://schemas.microsoft.com/office/drawing/2014/main" id="{2AE88167-F640-4F37-B564-C00FAB4C0229}"/>
              </a:ext>
            </a:extLst>
          </p:cNvPr>
          <p:cNvSpPr>
            <a:spLocks xmlns:a="http://schemas.openxmlformats.org/drawingml/2006/main" noGrp="1"/>
          </p:cNvSpPr>
          <p:nvPr/>
        </p:nvSpPr>
        <p:spPr>
          <a:xfrm xmlns:a="http://schemas.openxmlformats.org/drawingml/2006/main">
            <a:off x="781050" y="2838450"/>
            <a:ext cx="29337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p xmlns:a="http://schemas.openxmlformats.org/drawingml/2006/main">
            <a:pPr marL="0" marR="0" lvl="0" indent="0" algn="l">
              <a:spcBef>
                <a:spcPts val="0"/>
              </a:spcBef>
              <a:spcAft>
                <a:spcPts val="0"/>
              </a:spcAft>
              <a:buNone/>
            </a:pPr>
            <a:r>
              <a:rPr sz="4350" b="1">
                <a:solidFill>
                  <a:srgbClr val="3D8DFF"/>
                </a:solidFill>
                <a:latin typeface="Arial"/>
                <a:ea typeface="Arial"/>
                <a:cs typeface="Arial"/>
              </a:rPr>
              <a:t>66,004</a:t>
            </a:r>
            <a:endParaRPr/>
          </a:p>
        </p:txBody>
      </p:sp>
      <p:sp>
        <p:nvSpPr>
          <p:cNvPr id="49" name="Google Shape;49;p5">
            <a:extLst xmlns:a="http://schemas.openxmlformats.org/drawingml/2006/main">
              <a:ext uri="{FF2B5EF4-FFF2-40B4-BE49-F238E27FC236}">
                <a16:creationId xmlns:a16="http://schemas.microsoft.com/office/drawing/2014/main" id="{1036B179-3695-48C1-B376-8199C6EE761E}"/>
              </a:ext>
            </a:extLst>
          </p:cNvPr>
          <p:cNvSpPr>
            <a:spLocks xmlns:a="http://schemas.openxmlformats.org/drawingml/2006/main" noGrp="1"/>
          </p:cNvSpPr>
          <p:nvPr/>
        </p:nvSpPr>
        <p:spPr>
          <a:xfrm xmlns:a="http://schemas.openxmlformats.org/drawingml/2006/main">
            <a:off x="781050" y="3848100"/>
            <a:ext cx="293370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650">
                <a:solidFill>
                  <a:srgbClr val="5B6574"/>
                </a:solidFill>
                <a:latin typeface="Arial"/>
                <a:ea typeface="Arial"/>
                <a:cs typeface="Arial"/>
              </a:rPr>
              <a:t>unique review records</a:t>
            </a:r>
            <a:endParaRPr/>
          </a:p>
        </p:txBody>
      </p:sp>
      <p:sp>
        <p:nvSpPr>
          <p:cNvPr id="50" name="Google Shape;50;p5">
            <a:extLst xmlns:a="http://schemas.openxmlformats.org/drawingml/2006/main">
              <a:ext uri="{FF2B5EF4-FFF2-40B4-BE49-F238E27FC236}">
                <a16:creationId xmlns:a16="http://schemas.microsoft.com/office/drawing/2014/main" id="{8DEB5D27-B31A-42E7-8E8E-F485D949DB23}"/>
              </a:ext>
            </a:extLst>
          </p:cNvPr>
          <p:cNvSpPr>
            <a:spLocks xmlns:a="http://schemas.openxmlformats.org/drawingml/2006/main" noGrp="1"/>
          </p:cNvSpPr>
          <p:nvPr/>
        </p:nvSpPr>
        <p:spPr>
          <a:xfrm xmlns:a="http://schemas.openxmlformats.org/drawingml/2006/main">
            <a:off x="4381500" y="2438400"/>
            <a:ext cx="3429000" cy="2171700"/>
          </a:xfrm>
          <a:prstGeom xmlns:a="http://schemas.openxmlformats.org/drawingml/2006/main" prst="roundRect">
            <a:avLst>
              <a:gd name="adj" fmla="val 5263"/>
            </a:avLst>
          </a:prstGeom>
          <a:solidFill xmlns:a="http://schemas.openxmlformats.org/drawingml/2006/main">
            <a:srgbClr val="E8F5E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1" name="Google Shape;51;p5">
            <a:extLst xmlns:a="http://schemas.openxmlformats.org/drawingml/2006/main">
              <a:ext uri="{FF2B5EF4-FFF2-40B4-BE49-F238E27FC236}">
                <a16:creationId xmlns:a16="http://schemas.microsoft.com/office/drawing/2014/main" id="{BDD4520C-0A8F-48C9-AFC2-41CA21F569F5}"/>
              </a:ext>
            </a:extLst>
          </p:cNvPr>
          <p:cNvSpPr>
            <a:spLocks xmlns:a="http://schemas.openxmlformats.org/drawingml/2006/main" noGrp="1"/>
          </p:cNvSpPr>
          <p:nvPr/>
        </p:nvSpPr>
        <p:spPr>
          <a:xfrm xmlns:a="http://schemas.openxmlformats.org/drawingml/2006/main">
            <a:off x="4629150" y="2838450"/>
            <a:ext cx="29337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p xmlns:a="http://schemas.openxmlformats.org/drawingml/2006/main">
            <a:pPr marL="0" marR="0" lvl="0" indent="0" algn="l">
              <a:spcBef>
                <a:spcPts val="0"/>
              </a:spcBef>
              <a:spcAft>
                <a:spcPts val="0"/>
              </a:spcAft>
              <a:buNone/>
            </a:pPr>
            <a:r>
              <a:rPr sz="4350" b="1">
                <a:solidFill>
                  <a:srgbClr val="147A4A"/>
                </a:solidFill>
                <a:latin typeface="Arial"/>
                <a:ea typeface="Arial"/>
                <a:cs typeface="Arial"/>
              </a:rPr>
              <a:t>39,476</a:t>
            </a:r>
            <a:endParaRPr/>
          </a:p>
        </p:txBody>
      </p:sp>
      <p:sp>
        <p:nvSpPr>
          <p:cNvPr id="52" name="Google Shape;52;p5">
            <a:extLst xmlns:a="http://schemas.openxmlformats.org/drawingml/2006/main">
              <a:ext uri="{FF2B5EF4-FFF2-40B4-BE49-F238E27FC236}">
                <a16:creationId xmlns:a16="http://schemas.microsoft.com/office/drawing/2014/main" id="{E0A5246B-3961-4140-B5A8-7B6BFDBBAE9E}"/>
              </a:ext>
            </a:extLst>
          </p:cNvPr>
          <p:cNvSpPr>
            <a:spLocks xmlns:a="http://schemas.openxmlformats.org/drawingml/2006/main" noGrp="1"/>
          </p:cNvSpPr>
          <p:nvPr/>
        </p:nvSpPr>
        <p:spPr>
          <a:xfrm xmlns:a="http://schemas.openxmlformats.org/drawingml/2006/main">
            <a:off x="4629150" y="3848100"/>
            <a:ext cx="293370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637">
                <a:solidFill>
                  <a:srgbClr val="5B6574"/>
                </a:solidFill>
                <a:latin typeface="Arial"/>
                <a:ea typeface="Arial"/>
                <a:cs typeface="Arial"/>
              </a:rPr>
              <a:t>matched products · 100% join</a:t>
            </a:r>
            <a:endParaRPr/>
          </a:p>
        </p:txBody>
      </p:sp>
      <p:sp>
        <p:nvSpPr>
          <p:cNvPr id="53" name="Google Shape;53;p5">
            <a:extLst xmlns:a="http://schemas.openxmlformats.org/drawingml/2006/main">
              <a:ext uri="{FF2B5EF4-FFF2-40B4-BE49-F238E27FC236}">
                <a16:creationId xmlns:a16="http://schemas.microsoft.com/office/drawing/2014/main" id="{A5A79443-BA6A-4F07-A0DE-F711D0A0AA4F}"/>
              </a:ext>
            </a:extLst>
          </p:cNvPr>
          <p:cNvSpPr>
            <a:spLocks xmlns:a="http://schemas.openxmlformats.org/drawingml/2006/main" noGrp="1"/>
          </p:cNvSpPr>
          <p:nvPr/>
        </p:nvSpPr>
        <p:spPr>
          <a:xfrm xmlns:a="http://schemas.openxmlformats.org/drawingml/2006/main">
            <a:off x="8229600" y="2438400"/>
            <a:ext cx="3429000" cy="2171700"/>
          </a:xfrm>
          <a:prstGeom xmlns:a="http://schemas.openxmlformats.org/drawingml/2006/main" prst="roundRect">
            <a:avLst>
              <a:gd name="adj" fmla="val 5263"/>
            </a:avLst>
          </a:prstGeom>
          <a:solidFill xmlns:a="http://schemas.openxmlformats.org/drawingml/2006/main">
            <a:srgbClr val="F1F3F5"/>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4" name="Google Shape;54;p5">
            <a:extLst xmlns:a="http://schemas.openxmlformats.org/drawingml/2006/main">
              <a:ext uri="{FF2B5EF4-FFF2-40B4-BE49-F238E27FC236}">
                <a16:creationId xmlns:a16="http://schemas.microsoft.com/office/drawing/2014/main" id="{976A35A5-AFA0-4D84-AC56-4AAA1DE74092}"/>
              </a:ext>
            </a:extLst>
          </p:cNvPr>
          <p:cNvSpPr>
            <a:spLocks xmlns:a="http://schemas.openxmlformats.org/drawingml/2006/main" noGrp="1"/>
          </p:cNvSpPr>
          <p:nvPr/>
        </p:nvSpPr>
        <p:spPr>
          <a:xfrm xmlns:a="http://schemas.openxmlformats.org/drawingml/2006/main">
            <a:off x="8477250" y="2838450"/>
            <a:ext cx="29337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p xmlns:a="http://schemas.openxmlformats.org/drawingml/2006/main">
            <a:pPr marL="0" marR="0" lvl="0" indent="0" algn="l">
              <a:spcBef>
                <a:spcPts val="0"/>
              </a:spcBef>
              <a:spcAft>
                <a:spcPts val="0"/>
              </a:spcAft>
              <a:buNone/>
            </a:pPr>
            <a:r>
              <a:rPr sz="4350" b="1">
                <a:solidFill>
                  <a:srgbClr val="111827"/>
                </a:solidFill>
                <a:latin typeface="Arial"/>
                <a:ea typeface="Arial"/>
                <a:cs typeface="Arial"/>
              </a:rPr>
              <a:t>27,359</a:t>
            </a:r>
            <a:endParaRPr/>
          </a:p>
        </p:txBody>
      </p:sp>
      <p:sp>
        <p:nvSpPr>
          <p:cNvPr id="55" name="Google Shape;55;p5">
            <a:extLst xmlns:a="http://schemas.openxmlformats.org/drawingml/2006/main">
              <a:ext uri="{FF2B5EF4-FFF2-40B4-BE49-F238E27FC236}">
                <a16:creationId xmlns:a16="http://schemas.microsoft.com/office/drawing/2014/main" id="{78C3DC7C-0612-489C-9B31-8F90E679A74D}"/>
              </a:ext>
            </a:extLst>
          </p:cNvPr>
          <p:cNvSpPr>
            <a:spLocks xmlns:a="http://schemas.openxmlformats.org/drawingml/2006/main" noGrp="1"/>
          </p:cNvSpPr>
          <p:nvPr/>
        </p:nvSpPr>
        <p:spPr>
          <a:xfrm xmlns:a="http://schemas.openxmlformats.org/drawingml/2006/main">
            <a:off x="8477250" y="3848100"/>
            <a:ext cx="293370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650">
                <a:solidFill>
                  <a:srgbClr val="5B6574"/>
                </a:solidFill>
                <a:latin typeface="Arial"/>
                <a:ea typeface="Arial"/>
                <a:cs typeface="Arial"/>
              </a:rPr>
              <a:t>distinct reviewers</a:t>
            </a:r>
            <a:endParaRPr/>
          </a:p>
        </p:txBody>
      </p:sp>
      <p:sp>
        <p:nvSpPr>
          <p:cNvPr id="56" name="Google Shape;56;p5">
            <a:extLst xmlns:a="http://schemas.openxmlformats.org/drawingml/2006/main">
              <a:ext uri="{FF2B5EF4-FFF2-40B4-BE49-F238E27FC236}">
                <a16:creationId xmlns:a16="http://schemas.microsoft.com/office/drawing/2014/main" id="{E2C228C3-0424-4B8B-A2BC-7C0577AC503B}"/>
              </a:ext>
            </a:extLst>
          </p:cNvPr>
          <p:cNvSpPr>
            <a:spLocks xmlns:a="http://schemas.openxmlformats.org/drawingml/2006/main" noGrp="1"/>
          </p:cNvSpPr>
          <p:nvPr/>
        </p:nvSpPr>
        <p:spPr>
          <a:xfrm xmlns:a="http://schemas.openxmlformats.org/drawingml/2006/main">
            <a:off x="533400" y="5219700"/>
            <a:ext cx="33337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650" b="1">
                <a:solidFill>
                  <a:srgbClr val="111827"/>
                </a:solidFill>
                <a:latin typeface="Arial"/>
                <a:ea typeface="Arial"/>
                <a:cs typeface="Arial"/>
              </a:rPr>
              <a:t>2000–2023 review years</a:t>
            </a:r>
            <a:endParaRPr/>
          </a:p>
        </p:txBody>
      </p:sp>
      <p:sp>
        <p:nvSpPr>
          <p:cNvPr id="57" name="Google Shape;57;p5">
            <a:extLst xmlns:a="http://schemas.openxmlformats.org/drawingml/2006/main">
              <a:ext uri="{FF2B5EF4-FFF2-40B4-BE49-F238E27FC236}">
                <a16:creationId xmlns:a16="http://schemas.microsoft.com/office/drawing/2014/main" id="{BFF687FB-A469-45D4-B415-6C0775A2FE28}"/>
              </a:ext>
            </a:extLst>
          </p:cNvPr>
          <p:cNvSpPr>
            <a:spLocks xmlns:a="http://schemas.openxmlformats.org/drawingml/2006/main" noGrp="1"/>
          </p:cNvSpPr>
          <p:nvPr/>
        </p:nvSpPr>
        <p:spPr>
          <a:xfrm xmlns:a="http://schemas.openxmlformats.org/drawingml/2006/main">
            <a:off x="4381500" y="5219700"/>
            <a:ext cx="33337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643" b="1">
                <a:solidFill>
                  <a:srgbClr val="111827"/>
                </a:solidFill>
                <a:latin typeface="Arial"/>
                <a:ea typeface="Arial"/>
                <a:cs typeface="Arial"/>
              </a:rPr>
              <a:t>32 seeded source-file segments</a:t>
            </a:r>
            <a:endParaRPr/>
          </a:p>
        </p:txBody>
      </p:sp>
      <p:sp>
        <p:nvSpPr>
          <p:cNvPr id="58" name="Google Shape;58;p5">
            <a:extLst xmlns:a="http://schemas.openxmlformats.org/drawingml/2006/main">
              <a:ext uri="{FF2B5EF4-FFF2-40B4-BE49-F238E27FC236}">
                <a16:creationId xmlns:a16="http://schemas.microsoft.com/office/drawing/2014/main" id="{707A8A86-DCA8-4A23-895D-F97883FD2DBA}"/>
              </a:ext>
            </a:extLst>
          </p:cNvPr>
          <p:cNvSpPr>
            <a:spLocks xmlns:a="http://schemas.openxmlformats.org/drawingml/2006/main" noGrp="1"/>
          </p:cNvSpPr>
          <p:nvPr/>
        </p:nvSpPr>
        <p:spPr>
          <a:xfrm xmlns:a="http://schemas.openxmlformats.org/drawingml/2006/main">
            <a:off x="8229600" y="5219700"/>
            <a:ext cx="34290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650" b="1">
                <a:solidFill>
                  <a:srgbClr val="111827"/>
                </a:solidFill>
                <a:latin typeface="Arial"/>
                <a:ea typeface="Arial"/>
                <a:cs typeface="Arial"/>
              </a:rPr>
              <a:t>92.94% verified purchases</a:t>
            </a:r>
            <a:endParaRPr/>
          </a:p>
        </p:txBody>
      </p:sp>
    </p:spTree>
    <p:extLst>
      <p:ext uri="{BB962C8B-B14F-4D97-AF65-F5344CB8AC3E}">
        <p14:creationId xmlns:p14="http://schemas.microsoft.com/office/powerpoint/2010/main" val="99779088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 name="Google Shape;64;p6">
            <a:extLst xmlns:a="http://schemas.openxmlformats.org/drawingml/2006/main">
              <a:ext uri="{FF2B5EF4-FFF2-40B4-BE49-F238E27FC236}">
                <a16:creationId xmlns:a16="http://schemas.microsoft.com/office/drawing/2014/main" id="{CF7555FA-BF4D-46F1-B373-3C32C776546A}"/>
              </a:ext>
            </a:extLst>
          </p:cNvPr>
          <p:cNvSpPr>
            <a:spLocks xmlns:a="http://schemas.openxmlformats.org/drawingml/2006/main" noGrp="1"/>
          </p:cNvSpPr>
          <p:nvPr/>
        </p:nvSpPr>
        <p:spPr>
          <a:xfrm xmlns:a="http://schemas.openxmlformats.org/drawingml/2006/main">
            <a:off x="533400" y="323850"/>
            <a:ext cx="4381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150" b="1">
                <a:solidFill>
                  <a:srgbClr val="3D8DFF"/>
                </a:solidFill>
                <a:latin typeface="Arial"/>
                <a:ea typeface="Arial"/>
                <a:cs typeface="Arial"/>
              </a:rPr>
              <a:t>MGMT 59990 · GROUP 18</a:t>
            </a:r>
            <a:endParaRPr/>
          </a:p>
        </p:txBody>
      </p:sp>
      <p:sp>
        <p:nvSpPr>
          <p:cNvPr id="65" name="Google Shape;65;p6">
            <a:extLst xmlns:a="http://schemas.openxmlformats.org/drawingml/2006/main">
              <a:ext uri="{FF2B5EF4-FFF2-40B4-BE49-F238E27FC236}">
                <a16:creationId xmlns:a16="http://schemas.microsoft.com/office/drawing/2014/main" id="{6378F346-AF54-4F1F-AF0F-C08C85014643}"/>
              </a:ext>
            </a:extLst>
          </p:cNvPr>
          <p:cNvSpPr>
            <a:spLocks xmlns:a="http://schemas.openxmlformats.org/drawingml/2006/main" noGrp="1"/>
          </p:cNvSpPr>
          <p:nvPr/>
        </p:nvSpPr>
        <p:spPr>
          <a:xfrm xmlns:a="http://schemas.openxmlformats.org/drawingml/2006/main">
            <a:off x="533400" y="647700"/>
            <a:ext cx="1112520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3750" b="1">
                <a:solidFill>
                  <a:srgbClr val="111827"/>
                </a:solidFill>
                <a:latin typeface="Arial"/>
                <a:ea typeface="Arial"/>
                <a:cs typeface="Arial"/>
              </a:rPr>
              <a:t>AWS turns raw reviews into decision-ready data</a:t>
            </a:r>
            <a:endParaRPr/>
          </a:p>
        </p:txBody>
      </p:sp>
      <p:sp>
        <p:nvSpPr>
          <p:cNvPr id="66" name="Google Shape;66;p6">
            <a:extLst xmlns:a="http://schemas.openxmlformats.org/drawingml/2006/main">
              <a:ext uri="{FF2B5EF4-FFF2-40B4-BE49-F238E27FC236}">
                <a16:creationId xmlns:a16="http://schemas.microsoft.com/office/drawing/2014/main" id="{6B341C34-8D86-4F5C-AC83-0B79F8FCFCCA}"/>
              </a:ext>
            </a:extLst>
          </p:cNvPr>
          <p:cNvSpPr>
            <a:spLocks xmlns:a="http://schemas.openxmlformats.org/drawingml/2006/main" noGrp="1"/>
          </p:cNvSpPr>
          <p:nvPr/>
        </p:nvSpPr>
        <p:spPr>
          <a:xfrm xmlns:a="http://schemas.openxmlformats.org/drawingml/2006/main">
            <a:off x="11144250" y="6381750"/>
            <a:ext cx="5143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r">
              <a:spcBef>
                <a:spcPts val="0"/>
              </a:spcBef>
              <a:spcAft>
                <a:spcPts val="0"/>
              </a:spcAft>
              <a:buNone/>
            </a:pPr>
            <a:r>
              <a:rPr sz="775">
                <a:solidFill>
                  <a:srgbClr val="5B6574"/>
                </a:solidFill>
                <a:latin typeface="Arial"/>
                <a:ea typeface="Arial"/>
                <a:cs typeface="Arial"/>
              </a:rPr>
              <a:t>04</a:t>
            </a:r>
            <a:endParaRPr/>
          </a:p>
        </p:txBody>
      </p:sp>
      <p:sp>
        <p:nvSpPr>
          <p:cNvPr id="67" name="Google Shape;67;p6">
            <a:extLst xmlns:a="http://schemas.openxmlformats.org/drawingml/2006/main">
              <a:ext uri="{FF2B5EF4-FFF2-40B4-BE49-F238E27FC236}">
                <a16:creationId xmlns:a16="http://schemas.microsoft.com/office/drawing/2014/main" id="{302269DF-F35E-4B47-890B-F739E9B00186}"/>
              </a:ext>
            </a:extLst>
          </p:cNvPr>
          <p:cNvSpPr>
            <a:spLocks xmlns:a="http://schemas.openxmlformats.org/drawingml/2006/main" noGrp="1"/>
          </p:cNvSpPr>
          <p:nvPr/>
        </p:nvSpPr>
        <p:spPr>
          <a:xfrm xmlns:a="http://schemas.openxmlformats.org/drawingml/2006/main">
            <a:off x="533400" y="1390650"/>
            <a:ext cx="98107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defRPr sz="1500"/>
            </a:pPr>
            <a:r>
              <a:rPr sz="1500" b="1">
                <a:solidFill>
                  <a:srgbClr val="147A4A"/>
                </a:solidFill>
                <a:latin typeface="Arial"/>
                <a:ea typeface="Arial"/>
                <a:cs typeface="Arial"/>
              </a:rPr>
              <a:t>Implemented in us-east-2 · governed S3 lake · serverless SQL · batch ML · interactive BI</a:t>
            </a:r>
            <a:endParaRPr/>
          </a:p>
        </p:txBody>
      </p:sp>
      <p:sp>
        <p:nvSpPr>
          <p:cNvPr id="68" name="Google Shape;68;p6">
            <a:extLst xmlns:a="http://schemas.openxmlformats.org/drawingml/2006/main">
              <a:ext uri="{FF2B5EF4-FFF2-40B4-BE49-F238E27FC236}">
                <a16:creationId xmlns:a16="http://schemas.microsoft.com/office/drawing/2014/main" id="{8C12FDEE-867F-4A01-BDAB-1E434A192227}"/>
              </a:ext>
            </a:extLst>
          </p:cNvPr>
          <p:cNvSpPr>
            <a:spLocks xmlns:a="http://schemas.openxmlformats.org/drawingml/2006/main" noGrp="1"/>
          </p:cNvSpPr>
          <p:nvPr/>
        </p:nvSpPr>
        <p:spPr>
          <a:xfrm xmlns:a="http://schemas.openxmlformats.org/drawingml/2006/main">
            <a:off x="2343150" y="2352675"/>
            <a:ext cx="3810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556" b="1">
                <a:solidFill>
                  <a:srgbClr val="5B6574"/>
                </a:solidFill>
                <a:latin typeface="Arial"/>
                <a:ea typeface="Arial"/>
                <a:cs typeface="Arial"/>
              </a:rPr>
              <a:t>→</a:t>
            </a:r>
            <a:endParaRPr/>
          </a:p>
        </p:txBody>
      </p:sp>
      <p:sp>
        <p:nvSpPr>
          <p:cNvPr id="69" name="Google Shape;69;p6">
            <a:extLst xmlns:a="http://schemas.openxmlformats.org/drawingml/2006/main">
              <a:ext uri="{FF2B5EF4-FFF2-40B4-BE49-F238E27FC236}">
                <a16:creationId xmlns:a16="http://schemas.microsoft.com/office/drawing/2014/main" id="{DA7BF075-23BF-47AD-9782-07608BF0D963}"/>
              </a:ext>
            </a:extLst>
          </p:cNvPr>
          <p:cNvSpPr>
            <a:spLocks xmlns:a="http://schemas.openxmlformats.org/drawingml/2006/main" noGrp="1"/>
          </p:cNvSpPr>
          <p:nvPr/>
        </p:nvSpPr>
        <p:spPr>
          <a:xfrm xmlns:a="http://schemas.openxmlformats.org/drawingml/2006/main">
            <a:off x="4533900" y="2352675"/>
            <a:ext cx="3810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556" b="1">
                <a:solidFill>
                  <a:srgbClr val="5B6574"/>
                </a:solidFill>
                <a:latin typeface="Arial"/>
                <a:ea typeface="Arial"/>
                <a:cs typeface="Arial"/>
              </a:rPr>
              <a:t>→</a:t>
            </a:r>
            <a:endParaRPr/>
          </a:p>
        </p:txBody>
      </p:sp>
      <p:sp>
        <p:nvSpPr>
          <p:cNvPr id="70" name="Google Shape;70;p6">
            <a:extLst xmlns:a="http://schemas.openxmlformats.org/drawingml/2006/main">
              <a:ext uri="{FF2B5EF4-FFF2-40B4-BE49-F238E27FC236}">
                <a16:creationId xmlns:a16="http://schemas.microsoft.com/office/drawing/2014/main" id="{41432F3A-0198-4541-ABBA-21F77EE1F650}"/>
              </a:ext>
            </a:extLst>
          </p:cNvPr>
          <p:cNvSpPr>
            <a:spLocks xmlns:a="http://schemas.openxmlformats.org/drawingml/2006/main" noGrp="1"/>
          </p:cNvSpPr>
          <p:nvPr/>
        </p:nvSpPr>
        <p:spPr>
          <a:xfrm xmlns:a="http://schemas.openxmlformats.org/drawingml/2006/main">
            <a:off x="6724650" y="2352675"/>
            <a:ext cx="3810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556" b="1">
                <a:solidFill>
                  <a:srgbClr val="5B6574"/>
                </a:solidFill>
                <a:latin typeface="Arial"/>
                <a:ea typeface="Arial"/>
                <a:cs typeface="Arial"/>
              </a:rPr>
              <a:t>→</a:t>
            </a:r>
            <a:endParaRPr/>
          </a:p>
        </p:txBody>
      </p:sp>
      <p:sp>
        <p:nvSpPr>
          <p:cNvPr id="71" name="Google Shape;71;p6">
            <a:extLst xmlns:a="http://schemas.openxmlformats.org/drawingml/2006/main">
              <a:ext uri="{FF2B5EF4-FFF2-40B4-BE49-F238E27FC236}">
                <a16:creationId xmlns:a16="http://schemas.microsoft.com/office/drawing/2014/main" id="{43738A6C-338B-45C1-B694-ED35A8A73E9E}"/>
              </a:ext>
            </a:extLst>
          </p:cNvPr>
          <p:cNvSpPr>
            <a:spLocks xmlns:a="http://schemas.openxmlformats.org/drawingml/2006/main" noGrp="1"/>
          </p:cNvSpPr>
          <p:nvPr/>
        </p:nvSpPr>
        <p:spPr>
          <a:xfrm xmlns:a="http://schemas.openxmlformats.org/drawingml/2006/main">
            <a:off x="8915400" y="2352675"/>
            <a:ext cx="3810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556" b="1">
                <a:solidFill>
                  <a:srgbClr val="5B6574"/>
                </a:solidFill>
                <a:latin typeface="Arial"/>
                <a:ea typeface="Arial"/>
                <a:cs typeface="Arial"/>
              </a:rPr>
              <a:t>→</a:t>
            </a:r>
            <a:endParaRPr/>
          </a:p>
        </p:txBody>
      </p:sp>
      <p:sp>
        <p:nvSpPr>
          <p:cNvPr id="72" name="Google Shape;72;p6">
            <a:extLst xmlns:a="http://schemas.openxmlformats.org/drawingml/2006/main">
              <a:ext uri="{FF2B5EF4-FFF2-40B4-BE49-F238E27FC236}">
                <a16:creationId xmlns:a16="http://schemas.microsoft.com/office/drawing/2014/main" id="{F069D240-DAC2-4DA9-8C96-5C337286E227}"/>
              </a:ext>
            </a:extLst>
          </p:cNvPr>
          <p:cNvSpPr>
            <a:spLocks xmlns:a="http://schemas.openxmlformats.org/drawingml/2006/main" noGrp="1"/>
          </p:cNvSpPr>
          <p:nvPr/>
        </p:nvSpPr>
        <p:spPr>
          <a:xfrm xmlns:a="http://schemas.openxmlformats.org/drawingml/2006/main">
            <a:off x="10010775" y="3333750"/>
            <a:ext cx="3810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2550" b="1">
                <a:solidFill>
                  <a:srgbClr val="5B6574"/>
                </a:solidFill>
                <a:latin typeface="Arial"/>
                <a:ea typeface="Arial"/>
                <a:cs typeface="Arial"/>
              </a:rPr>
              <a:t>↓</a:t>
            </a:r>
            <a:endParaRPr/>
          </a:p>
        </p:txBody>
      </p:sp>
      <p:sp>
        <p:nvSpPr>
          <p:cNvPr id="73" name="Google Shape;73;p6">
            <a:extLst xmlns:a="http://schemas.openxmlformats.org/drawingml/2006/main">
              <a:ext uri="{FF2B5EF4-FFF2-40B4-BE49-F238E27FC236}">
                <a16:creationId xmlns:a16="http://schemas.microsoft.com/office/drawing/2014/main" id="{CE398D45-93A6-4798-B419-5FDC22F41CCC}"/>
              </a:ext>
            </a:extLst>
          </p:cNvPr>
          <p:cNvSpPr>
            <a:spLocks xmlns:a="http://schemas.openxmlformats.org/drawingml/2006/main" noGrp="1"/>
          </p:cNvSpPr>
          <p:nvPr/>
        </p:nvSpPr>
        <p:spPr>
          <a:xfrm xmlns:a="http://schemas.openxmlformats.org/drawingml/2006/main">
            <a:off x="8724900" y="4533900"/>
            <a:ext cx="47625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2306" b="1">
                <a:solidFill>
                  <a:srgbClr val="5B6574"/>
                </a:solidFill>
                <a:latin typeface="Arial"/>
                <a:ea typeface="Arial"/>
                <a:cs typeface="Arial"/>
              </a:rPr>
              <a:t>←</a:t>
            </a:r>
            <a:endParaRPr/>
          </a:p>
        </p:txBody>
      </p:sp>
      <p:sp>
        <p:nvSpPr>
          <p:cNvPr id="74" name="Google Shape;74;p6">
            <a:extLst xmlns:a="http://schemas.openxmlformats.org/drawingml/2006/main">
              <a:ext uri="{FF2B5EF4-FFF2-40B4-BE49-F238E27FC236}">
                <a16:creationId xmlns:a16="http://schemas.microsoft.com/office/drawing/2014/main" id="{E3084D04-A62C-4266-A5D0-01BA29B7FB65}"/>
              </a:ext>
            </a:extLst>
          </p:cNvPr>
          <p:cNvSpPr>
            <a:spLocks xmlns:a="http://schemas.openxmlformats.org/drawingml/2006/main" noGrp="1"/>
          </p:cNvSpPr>
          <p:nvPr/>
        </p:nvSpPr>
        <p:spPr>
          <a:xfrm xmlns:a="http://schemas.openxmlformats.org/drawingml/2006/main">
            <a:off x="533400" y="2076450"/>
            <a:ext cx="1809750" cy="1104900"/>
          </a:xfrm>
          <a:prstGeom xmlns:a="http://schemas.openxmlformats.org/drawingml/2006/main" prst="roundRect">
            <a:avLst>
              <a:gd name="adj" fmla="val 10345"/>
            </a:avLst>
          </a:prstGeom>
          <a:solidFill xmlns:a="http://schemas.openxmlformats.org/drawingml/2006/main">
            <a:srgbClr val="E9F5FC"/>
          </a:solidFill>
          <a:ln xmlns:a="http://schemas.openxmlformats.org/drawingml/2006/main" w="9525" cmpd="sng">
            <a:solidFill>
              <a:srgbClr val="C7CCD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5" name="Google Shape;75;p6">
            <a:extLst xmlns:a="http://schemas.openxmlformats.org/drawingml/2006/main">
              <a:ext uri="{FF2B5EF4-FFF2-40B4-BE49-F238E27FC236}">
                <a16:creationId xmlns:a16="http://schemas.microsoft.com/office/drawing/2014/main" id="{B5A66809-A678-4409-BC38-B0AB0B59BF55}"/>
              </a:ext>
            </a:extLst>
          </p:cNvPr>
          <p:cNvSpPr>
            <a:spLocks xmlns:a="http://schemas.openxmlformats.org/drawingml/2006/main" noGrp="1"/>
          </p:cNvSpPr>
          <p:nvPr/>
        </p:nvSpPr>
        <p:spPr>
          <a:xfrm xmlns:a="http://schemas.openxmlformats.org/drawingml/2006/main">
            <a:off x="2724150" y="2076450"/>
            <a:ext cx="1809750" cy="1104900"/>
          </a:xfrm>
          <a:prstGeom xmlns:a="http://schemas.openxmlformats.org/drawingml/2006/main" prst="roundRect">
            <a:avLst>
              <a:gd name="adj" fmla="val 10345"/>
            </a:avLst>
          </a:prstGeom>
          <a:solidFill xmlns:a="http://schemas.openxmlformats.org/drawingml/2006/main">
            <a:srgbClr val="E9F5FC"/>
          </a:solidFill>
          <a:ln xmlns:a="http://schemas.openxmlformats.org/drawingml/2006/main" w="9525" cmpd="sng">
            <a:solidFill>
              <a:srgbClr val="C7CCD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6" name="Google Shape;76;p6">
            <a:extLst xmlns:a="http://schemas.openxmlformats.org/drawingml/2006/main">
              <a:ext uri="{FF2B5EF4-FFF2-40B4-BE49-F238E27FC236}">
                <a16:creationId xmlns:a16="http://schemas.microsoft.com/office/drawing/2014/main" id="{B2B97A0A-18C3-49CA-ACF3-9DBECF78BB9B}"/>
              </a:ext>
            </a:extLst>
          </p:cNvPr>
          <p:cNvSpPr>
            <a:spLocks xmlns:a="http://schemas.openxmlformats.org/drawingml/2006/main" noGrp="1"/>
          </p:cNvSpPr>
          <p:nvPr/>
        </p:nvSpPr>
        <p:spPr>
          <a:xfrm xmlns:a="http://schemas.openxmlformats.org/drawingml/2006/main">
            <a:off x="4914900" y="2076450"/>
            <a:ext cx="1809750" cy="1104900"/>
          </a:xfrm>
          <a:prstGeom xmlns:a="http://schemas.openxmlformats.org/drawingml/2006/main" prst="roundRect">
            <a:avLst>
              <a:gd name="adj" fmla="val 10345"/>
            </a:avLst>
          </a:prstGeom>
          <a:solidFill xmlns:a="http://schemas.openxmlformats.org/drawingml/2006/main">
            <a:srgbClr val="E8F5EE"/>
          </a:solidFill>
          <a:ln xmlns:a="http://schemas.openxmlformats.org/drawingml/2006/main" w="9525" cmpd="sng">
            <a:solidFill>
              <a:srgbClr val="C7CCD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7" name="Google Shape;77;p6">
            <a:extLst xmlns:a="http://schemas.openxmlformats.org/drawingml/2006/main">
              <a:ext uri="{FF2B5EF4-FFF2-40B4-BE49-F238E27FC236}">
                <a16:creationId xmlns:a16="http://schemas.microsoft.com/office/drawing/2014/main" id="{3D2841EC-81E4-4C95-A3F7-EFEAC1EADCC6}"/>
              </a:ext>
            </a:extLst>
          </p:cNvPr>
          <p:cNvSpPr>
            <a:spLocks xmlns:a="http://schemas.openxmlformats.org/drawingml/2006/main" noGrp="1"/>
          </p:cNvSpPr>
          <p:nvPr/>
        </p:nvSpPr>
        <p:spPr>
          <a:xfrm xmlns:a="http://schemas.openxmlformats.org/drawingml/2006/main">
            <a:off x="7105650" y="2076450"/>
            <a:ext cx="1809750" cy="1104900"/>
          </a:xfrm>
          <a:prstGeom xmlns:a="http://schemas.openxmlformats.org/drawingml/2006/main" prst="roundRect">
            <a:avLst>
              <a:gd name="adj" fmla="val 10345"/>
            </a:avLst>
          </a:prstGeom>
          <a:solidFill xmlns:a="http://schemas.openxmlformats.org/drawingml/2006/main">
            <a:srgbClr val="E8F5EE"/>
          </a:solidFill>
          <a:ln xmlns:a="http://schemas.openxmlformats.org/drawingml/2006/main" w="9525" cmpd="sng">
            <a:solidFill>
              <a:srgbClr val="C7CCD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8" name="Google Shape;78;p6">
            <a:extLst xmlns:a="http://schemas.openxmlformats.org/drawingml/2006/main">
              <a:ext uri="{FF2B5EF4-FFF2-40B4-BE49-F238E27FC236}">
                <a16:creationId xmlns:a16="http://schemas.microsoft.com/office/drawing/2014/main" id="{4A7EEA98-E95D-4E6F-9E9A-7127450F4E38}"/>
              </a:ext>
            </a:extLst>
          </p:cNvPr>
          <p:cNvSpPr>
            <a:spLocks xmlns:a="http://schemas.openxmlformats.org/drawingml/2006/main" noGrp="1"/>
          </p:cNvSpPr>
          <p:nvPr/>
        </p:nvSpPr>
        <p:spPr>
          <a:xfrm xmlns:a="http://schemas.openxmlformats.org/drawingml/2006/main">
            <a:off x="9296400" y="2076450"/>
            <a:ext cx="1809750" cy="1104900"/>
          </a:xfrm>
          <a:prstGeom xmlns:a="http://schemas.openxmlformats.org/drawingml/2006/main" prst="roundRect">
            <a:avLst>
              <a:gd name="adj" fmla="val 10345"/>
            </a:avLst>
          </a:prstGeom>
          <a:solidFill xmlns:a="http://schemas.openxmlformats.org/drawingml/2006/main">
            <a:srgbClr val="FFF4DE"/>
          </a:solidFill>
          <a:ln xmlns:a="http://schemas.openxmlformats.org/drawingml/2006/main" w="9525" cmpd="sng">
            <a:solidFill>
              <a:srgbClr val="C7CCD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9" name="Google Shape;79;p6">
            <a:extLst xmlns:a="http://schemas.openxmlformats.org/drawingml/2006/main">
              <a:ext uri="{FF2B5EF4-FFF2-40B4-BE49-F238E27FC236}">
                <a16:creationId xmlns:a16="http://schemas.microsoft.com/office/drawing/2014/main" id="{2A3B25CB-B13A-4822-A9DD-901DF38D7C8C}"/>
              </a:ext>
            </a:extLst>
          </p:cNvPr>
          <p:cNvSpPr>
            <a:spLocks xmlns:a="http://schemas.openxmlformats.org/drawingml/2006/main" noGrp="1"/>
          </p:cNvSpPr>
          <p:nvPr/>
        </p:nvSpPr>
        <p:spPr>
          <a:xfrm xmlns:a="http://schemas.openxmlformats.org/drawingml/2006/main">
            <a:off x="5772150" y="4248150"/>
            <a:ext cx="2857500" cy="1162050"/>
          </a:xfrm>
          <a:prstGeom xmlns:a="http://schemas.openxmlformats.org/drawingml/2006/main" prst="roundRect">
            <a:avLst>
              <a:gd name="adj" fmla="val 9836"/>
            </a:avLst>
          </a:prstGeom>
          <a:solidFill xmlns:a="http://schemas.openxmlformats.org/drawingml/2006/main">
            <a:srgbClr val="E9F5FC"/>
          </a:solidFill>
          <a:ln xmlns:a="http://schemas.openxmlformats.org/drawingml/2006/main" w="9525" cmpd="sng">
            <a:solidFill>
              <a:srgbClr val="C7CCD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0" name="Google Shape;80;p6">
            <a:extLst xmlns:a="http://schemas.openxmlformats.org/drawingml/2006/main">
              <a:ext uri="{FF2B5EF4-FFF2-40B4-BE49-F238E27FC236}">
                <a16:creationId xmlns:a16="http://schemas.microsoft.com/office/drawing/2014/main" id="{C36B95E5-6406-4618-9666-C75AA329E69D}"/>
              </a:ext>
            </a:extLst>
          </p:cNvPr>
          <p:cNvSpPr>
            <a:spLocks xmlns:a="http://schemas.openxmlformats.org/drawingml/2006/main" noGrp="1"/>
          </p:cNvSpPr>
          <p:nvPr/>
        </p:nvSpPr>
        <p:spPr>
          <a:xfrm xmlns:a="http://schemas.openxmlformats.org/drawingml/2006/main">
            <a:off x="9296400" y="4248150"/>
            <a:ext cx="1809750" cy="1162050"/>
          </a:xfrm>
          <a:prstGeom xmlns:a="http://schemas.openxmlformats.org/drawingml/2006/main" prst="roundRect">
            <a:avLst>
              <a:gd name="adj" fmla="val 9836"/>
            </a:avLst>
          </a:prstGeom>
          <a:solidFill xmlns:a="http://schemas.openxmlformats.org/drawingml/2006/main">
            <a:srgbClr val="FDECEA"/>
          </a:solidFill>
          <a:ln xmlns:a="http://schemas.openxmlformats.org/drawingml/2006/main" w="9525" cmpd="sng">
            <a:solidFill>
              <a:srgbClr val="C7CCD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1" name="Google Shape;81;p6">
            <a:extLst xmlns:a="http://schemas.openxmlformats.org/drawingml/2006/main">
              <a:ext uri="{FF2B5EF4-FFF2-40B4-BE49-F238E27FC236}">
                <a16:creationId xmlns:a16="http://schemas.microsoft.com/office/drawing/2014/main" id="{C131D03E-D519-419A-805D-493115B938F9}"/>
              </a:ext>
            </a:extLst>
          </p:cNvPr>
          <p:cNvSpPr>
            <a:spLocks xmlns:a="http://schemas.openxmlformats.org/drawingml/2006/main" noGrp="1"/>
          </p:cNvSpPr>
          <p:nvPr/>
        </p:nvSpPr>
        <p:spPr>
          <a:xfrm xmlns:a="http://schemas.openxmlformats.org/drawingml/2006/main">
            <a:off x="704850" y="2266950"/>
            <a:ext cx="14668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None/>
            </a:pPr>
            <a:r>
              <a:rPr sz="1525" b="1">
                <a:solidFill>
                  <a:srgbClr val="111827"/>
                </a:solidFill>
                <a:latin typeface="Arial"/>
                <a:ea typeface="Arial"/>
                <a:cs typeface="Arial"/>
              </a:rPr>
              <a:t>S3 Bronze</a:t>
            </a:r>
            <a:endParaRPr/>
          </a:p>
        </p:txBody>
      </p:sp>
      <p:sp>
        <p:nvSpPr>
          <p:cNvPr id="82" name="Google Shape;82;p6">
            <a:extLst xmlns:a="http://schemas.openxmlformats.org/drawingml/2006/main">
              <a:ext uri="{FF2B5EF4-FFF2-40B4-BE49-F238E27FC236}">
                <a16:creationId xmlns:a16="http://schemas.microsoft.com/office/drawing/2014/main" id="{0E34AFF1-E0E6-4714-A5DA-22F0AAD4AF60}"/>
              </a:ext>
            </a:extLst>
          </p:cNvPr>
          <p:cNvSpPr>
            <a:spLocks xmlns:a="http://schemas.openxmlformats.org/drawingml/2006/main" noGrp="1"/>
          </p:cNvSpPr>
          <p:nvPr/>
        </p:nvSpPr>
        <p:spPr>
          <a:xfrm xmlns:a="http://schemas.openxmlformats.org/drawingml/2006/main">
            <a:off x="685800" y="2590800"/>
            <a:ext cx="1504950" cy="5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lnSpc>
                <a:spcPct val="92000"/>
              </a:lnSpc>
              <a:spcBef>
                <a:spcPts val="0"/>
              </a:spcBef>
              <a:spcAft>
                <a:spcPts val="0"/>
              </a:spcAft>
              <a:buNone/>
              <a:defRPr sz="1200"/>
            </a:pPr>
            <a:r>
              <a:rPr sz="1200">
                <a:solidFill>
                  <a:srgbClr val="5B6574"/>
                </a:solidFill>
                <a:latin typeface="Arial"/>
                <a:ea typeface="Arial"/>
                <a:cs typeface="Arial"/>
              </a:rPr>
              <a:t>66,004 reviews</a:t>
            </a:r>
            <a:endParaRPr/>
          </a:p>
          <a:p xmlns:a="http://schemas.openxmlformats.org/drawingml/2006/main">
            <a:pPr marL="0" marR="0" lvl="0" indent="0" algn="ctr">
              <a:lnSpc>
                <a:spcPct val="92000"/>
              </a:lnSpc>
              <a:spcBef>
                <a:spcPts val="0"/>
              </a:spcBef>
              <a:spcAft>
                <a:spcPts val="0"/>
              </a:spcAft>
              <a:buNone/>
              <a:defRPr sz="1200"/>
            </a:pPr>
            <a:r>
              <a:rPr sz="1200">
                <a:solidFill>
                  <a:srgbClr val="5B6574"/>
                </a:solidFill>
                <a:latin typeface="Arial"/>
                <a:ea typeface="Arial"/>
                <a:cs typeface="Arial"/>
              </a:rPr>
              <a:t>39,476 products</a:t>
            </a:r>
            <a:endParaRPr/>
          </a:p>
          <a:p xmlns:a="http://schemas.openxmlformats.org/drawingml/2006/main">
            <a:pPr marL="0" marR="0" lvl="0" indent="0" algn="ctr">
              <a:lnSpc>
                <a:spcPct val="92000"/>
              </a:lnSpc>
              <a:spcBef>
                <a:spcPts val="0"/>
              </a:spcBef>
              <a:spcAft>
                <a:spcPts val="0"/>
              </a:spcAft>
              <a:buNone/>
              <a:defRPr sz="1200"/>
            </a:pPr>
            <a:r>
              <a:rPr sz="1200">
                <a:solidFill>
                  <a:srgbClr val="5B6574"/>
                </a:solidFill>
                <a:latin typeface="Arial"/>
                <a:ea typeface="Arial"/>
                <a:cs typeface="Arial"/>
              </a:rPr>
              <a:t>Immutable JSONL</a:t>
            </a:r>
            <a:endParaRPr/>
          </a:p>
        </p:txBody>
      </p:sp>
      <p:sp>
        <p:nvSpPr>
          <p:cNvPr id="83" name="Google Shape;83;p6">
            <a:extLst xmlns:a="http://schemas.openxmlformats.org/drawingml/2006/main">
              <a:ext uri="{FF2B5EF4-FFF2-40B4-BE49-F238E27FC236}">
                <a16:creationId xmlns:a16="http://schemas.microsoft.com/office/drawing/2014/main" id="{2BF26898-7C5B-4028-9C07-6EFE59EA4E79}"/>
              </a:ext>
            </a:extLst>
          </p:cNvPr>
          <p:cNvSpPr>
            <a:spLocks xmlns:a="http://schemas.openxmlformats.org/drawingml/2006/main" noGrp="1"/>
          </p:cNvSpPr>
          <p:nvPr/>
        </p:nvSpPr>
        <p:spPr>
          <a:xfrm xmlns:a="http://schemas.openxmlformats.org/drawingml/2006/main">
            <a:off x="2895600" y="2266950"/>
            <a:ext cx="14668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None/>
            </a:pPr>
            <a:r>
              <a:rPr sz="1525" b="1">
                <a:solidFill>
                  <a:srgbClr val="111827"/>
                </a:solidFill>
                <a:latin typeface="Arial"/>
                <a:ea typeface="Arial"/>
                <a:cs typeface="Arial"/>
              </a:rPr>
              <a:t>AWS Glue</a:t>
            </a:r>
            <a:endParaRPr/>
          </a:p>
        </p:txBody>
      </p:sp>
      <p:sp>
        <p:nvSpPr>
          <p:cNvPr id="84" name="Google Shape;84;p6">
            <a:extLst xmlns:a="http://schemas.openxmlformats.org/drawingml/2006/main">
              <a:ext uri="{FF2B5EF4-FFF2-40B4-BE49-F238E27FC236}">
                <a16:creationId xmlns:a16="http://schemas.microsoft.com/office/drawing/2014/main" id="{5E6283FE-FFB0-4750-9760-34F8C35BBA6C}"/>
              </a:ext>
            </a:extLst>
          </p:cNvPr>
          <p:cNvSpPr>
            <a:spLocks xmlns:a="http://schemas.openxmlformats.org/drawingml/2006/main" noGrp="1"/>
          </p:cNvSpPr>
          <p:nvPr/>
        </p:nvSpPr>
        <p:spPr>
          <a:xfrm xmlns:a="http://schemas.openxmlformats.org/drawingml/2006/main">
            <a:off x="2876550" y="2590800"/>
            <a:ext cx="1504950" cy="5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lnSpc>
                <a:spcPct val="92000"/>
              </a:lnSpc>
              <a:spcBef>
                <a:spcPts val="0"/>
              </a:spcBef>
              <a:spcAft>
                <a:spcPts val="0"/>
              </a:spcAft>
              <a:buNone/>
              <a:defRPr sz="1200"/>
            </a:pPr>
            <a:r>
              <a:rPr sz="1200">
                <a:solidFill>
                  <a:srgbClr val="5B6574"/>
                </a:solidFill>
                <a:latin typeface="Arial"/>
                <a:ea typeface="Arial"/>
                <a:cs typeface="Arial"/>
              </a:rPr>
              <a:t>Validate + dedupe</a:t>
            </a:r>
            <a:endParaRPr/>
          </a:p>
          <a:p xmlns:a="http://schemas.openxmlformats.org/drawingml/2006/main">
            <a:pPr marL="0" marR="0" lvl="0" indent="0" algn="ctr">
              <a:lnSpc>
                <a:spcPct val="92000"/>
              </a:lnSpc>
              <a:spcBef>
                <a:spcPts val="0"/>
              </a:spcBef>
              <a:spcAft>
                <a:spcPts val="0"/>
              </a:spcAft>
              <a:buNone/>
              <a:defRPr sz="1200"/>
            </a:pPr>
            <a:r>
              <a:rPr sz="1200">
                <a:solidFill>
                  <a:srgbClr val="5B6574"/>
                </a:solidFill>
                <a:latin typeface="Arial"/>
                <a:ea typeface="Arial"/>
                <a:cs typeface="Arial"/>
              </a:rPr>
              <a:t>Join metadata</a:t>
            </a:r>
            <a:endParaRPr/>
          </a:p>
          <a:p xmlns:a="http://schemas.openxmlformats.org/drawingml/2006/main">
            <a:pPr marL="0" marR="0" lvl="0" indent="0" algn="ctr">
              <a:lnSpc>
                <a:spcPct val="92000"/>
              </a:lnSpc>
              <a:spcBef>
                <a:spcPts val="0"/>
              </a:spcBef>
              <a:spcAft>
                <a:spcPts val="0"/>
              </a:spcAft>
              <a:buNone/>
              <a:defRPr sz="1200"/>
            </a:pPr>
            <a:r>
              <a:rPr sz="1200">
                <a:solidFill>
                  <a:srgbClr val="5B6574"/>
                </a:solidFill>
                <a:latin typeface="Arial"/>
                <a:ea typeface="Arial"/>
                <a:cs typeface="Arial"/>
              </a:rPr>
              <a:t>Write Parquet</a:t>
            </a:r>
            <a:endParaRPr/>
          </a:p>
        </p:txBody>
      </p:sp>
      <p:sp>
        <p:nvSpPr>
          <p:cNvPr id="85" name="Google Shape;85;p6">
            <a:extLst xmlns:a="http://schemas.openxmlformats.org/drawingml/2006/main">
              <a:ext uri="{FF2B5EF4-FFF2-40B4-BE49-F238E27FC236}">
                <a16:creationId xmlns:a16="http://schemas.microsoft.com/office/drawing/2014/main" id="{8FAAAB01-3CEA-4291-BC48-ADD7211125A5}"/>
              </a:ext>
            </a:extLst>
          </p:cNvPr>
          <p:cNvSpPr>
            <a:spLocks xmlns:a="http://schemas.openxmlformats.org/drawingml/2006/main" noGrp="1"/>
          </p:cNvSpPr>
          <p:nvPr/>
        </p:nvSpPr>
        <p:spPr>
          <a:xfrm xmlns:a="http://schemas.openxmlformats.org/drawingml/2006/main">
            <a:off x="5086350" y="2266950"/>
            <a:ext cx="14668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None/>
            </a:pPr>
            <a:r>
              <a:rPr sz="1525" b="1">
                <a:solidFill>
                  <a:srgbClr val="111827"/>
                </a:solidFill>
                <a:latin typeface="Arial"/>
                <a:ea typeface="Arial"/>
                <a:cs typeface="Arial"/>
              </a:rPr>
              <a:t>S3 Silver</a:t>
            </a:r>
            <a:endParaRPr/>
          </a:p>
        </p:txBody>
      </p:sp>
      <p:sp>
        <p:nvSpPr>
          <p:cNvPr id="86" name="Google Shape;86;p6">
            <a:extLst xmlns:a="http://schemas.openxmlformats.org/drawingml/2006/main">
              <a:ext uri="{FF2B5EF4-FFF2-40B4-BE49-F238E27FC236}">
                <a16:creationId xmlns:a16="http://schemas.microsoft.com/office/drawing/2014/main" id="{5E74AEE0-3014-4700-B844-CA84E5D5E184}"/>
              </a:ext>
            </a:extLst>
          </p:cNvPr>
          <p:cNvSpPr>
            <a:spLocks xmlns:a="http://schemas.openxmlformats.org/drawingml/2006/main" noGrp="1"/>
          </p:cNvSpPr>
          <p:nvPr/>
        </p:nvSpPr>
        <p:spPr>
          <a:xfrm xmlns:a="http://schemas.openxmlformats.org/drawingml/2006/main">
            <a:off x="5067300" y="2590800"/>
            <a:ext cx="1504950" cy="5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lnSpc>
                <a:spcPct val="92000"/>
              </a:lnSpc>
              <a:spcBef>
                <a:spcPts val="0"/>
              </a:spcBef>
              <a:spcAft>
                <a:spcPts val="0"/>
              </a:spcAft>
              <a:buNone/>
              <a:defRPr sz="1200"/>
            </a:pPr>
            <a:r>
              <a:rPr sz="1200">
                <a:solidFill>
                  <a:srgbClr val="5B6574"/>
                </a:solidFill>
                <a:latin typeface="Arial"/>
                <a:ea typeface="Arial"/>
                <a:cs typeface="Arial"/>
              </a:rPr>
              <a:t>fact_review +</a:t>
            </a:r>
            <a:endParaRPr/>
          </a:p>
          <a:p xmlns:a="http://schemas.openxmlformats.org/drawingml/2006/main">
            <a:pPr marL="0" marR="0" lvl="0" indent="0" algn="ctr">
              <a:lnSpc>
                <a:spcPct val="92000"/>
              </a:lnSpc>
              <a:spcBef>
                <a:spcPts val="0"/>
              </a:spcBef>
              <a:spcAft>
                <a:spcPts val="0"/>
              </a:spcAft>
              <a:buNone/>
              <a:defRPr sz="1200"/>
            </a:pPr>
            <a:r>
              <a:rPr sz="1200">
                <a:solidFill>
                  <a:srgbClr val="5B6574"/>
                </a:solidFill>
                <a:latin typeface="Arial"/>
                <a:ea typeface="Arial"/>
                <a:cs typeface="Arial"/>
              </a:rPr>
              <a:t>dim_product</a:t>
            </a:r>
            <a:endParaRPr/>
          </a:p>
          <a:p xmlns:a="http://schemas.openxmlformats.org/drawingml/2006/main">
            <a:pPr marL="0" marR="0" lvl="0" indent="0" algn="ctr">
              <a:lnSpc>
                <a:spcPct val="92000"/>
              </a:lnSpc>
              <a:spcBef>
                <a:spcPts val="0"/>
              </a:spcBef>
              <a:spcAft>
                <a:spcPts val="0"/>
              </a:spcAft>
              <a:buNone/>
              <a:defRPr sz="1200"/>
            </a:pPr>
            <a:r>
              <a:rPr sz="1200">
                <a:solidFill>
                  <a:srgbClr val="5B6574"/>
                </a:solidFill>
                <a:latin typeface="Arial"/>
                <a:ea typeface="Arial"/>
                <a:cs typeface="Arial"/>
              </a:rPr>
              <a:t>Snappy Parquet</a:t>
            </a:r>
            <a:endParaRPr/>
          </a:p>
        </p:txBody>
      </p:sp>
      <p:sp>
        <p:nvSpPr>
          <p:cNvPr id="87" name="Google Shape;87;p6">
            <a:extLst xmlns:a="http://schemas.openxmlformats.org/drawingml/2006/main">
              <a:ext uri="{FF2B5EF4-FFF2-40B4-BE49-F238E27FC236}">
                <a16:creationId xmlns:a16="http://schemas.microsoft.com/office/drawing/2014/main" id="{5BFF22EE-4681-4552-91A9-20F3B1010191}"/>
              </a:ext>
            </a:extLst>
          </p:cNvPr>
          <p:cNvSpPr>
            <a:spLocks xmlns:a="http://schemas.openxmlformats.org/drawingml/2006/main" noGrp="1"/>
          </p:cNvSpPr>
          <p:nvPr/>
        </p:nvSpPr>
        <p:spPr>
          <a:xfrm xmlns:a="http://schemas.openxmlformats.org/drawingml/2006/main">
            <a:off x="7277100" y="2266950"/>
            <a:ext cx="14668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None/>
            </a:pPr>
            <a:r>
              <a:rPr sz="1525" b="1">
                <a:solidFill>
                  <a:srgbClr val="111827"/>
                </a:solidFill>
                <a:latin typeface="Arial"/>
                <a:ea typeface="Arial"/>
                <a:cs typeface="Arial"/>
              </a:rPr>
              <a:t>Athena</a:t>
            </a:r>
            <a:endParaRPr/>
          </a:p>
        </p:txBody>
      </p:sp>
      <p:sp>
        <p:nvSpPr>
          <p:cNvPr id="88" name="Google Shape;88;p6">
            <a:extLst xmlns:a="http://schemas.openxmlformats.org/drawingml/2006/main">
              <a:ext uri="{FF2B5EF4-FFF2-40B4-BE49-F238E27FC236}">
                <a16:creationId xmlns:a16="http://schemas.microsoft.com/office/drawing/2014/main" id="{9F1B9CA9-81E1-4D8E-9A23-2F1D7FDE9FD8}"/>
              </a:ext>
            </a:extLst>
          </p:cNvPr>
          <p:cNvSpPr>
            <a:spLocks xmlns:a="http://schemas.openxmlformats.org/drawingml/2006/main" noGrp="1"/>
          </p:cNvSpPr>
          <p:nvPr/>
        </p:nvSpPr>
        <p:spPr>
          <a:xfrm xmlns:a="http://schemas.openxmlformats.org/drawingml/2006/main">
            <a:off x="7258050" y="2590800"/>
            <a:ext cx="1504950" cy="5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lnSpc>
                <a:spcPct val="92000"/>
              </a:lnSpc>
              <a:spcBef>
                <a:spcPts val="0"/>
              </a:spcBef>
              <a:spcAft>
                <a:spcPts val="0"/>
              </a:spcAft>
              <a:buNone/>
              <a:defRPr sz="1200"/>
            </a:pPr>
            <a:r>
              <a:rPr sz="1200">
                <a:solidFill>
                  <a:srgbClr val="5B6574"/>
                </a:solidFill>
                <a:latin typeface="Arial"/>
                <a:ea typeface="Arial"/>
                <a:cs typeface="Arial"/>
              </a:rPr>
              <a:t>Quality + CTAS</a:t>
            </a:r>
            <a:endParaRPr/>
          </a:p>
          <a:p xmlns:a="http://schemas.openxmlformats.org/drawingml/2006/main">
            <a:pPr marL="0" marR="0" lvl="0" indent="0" algn="ctr">
              <a:lnSpc>
                <a:spcPct val="92000"/>
              </a:lnSpc>
              <a:spcBef>
                <a:spcPts val="0"/>
              </a:spcBef>
              <a:spcAft>
                <a:spcPts val="0"/>
              </a:spcAft>
              <a:buNone/>
              <a:defRPr sz="1200"/>
            </a:pPr>
            <a:r>
              <a:rPr sz="1200">
                <a:solidFill>
                  <a:srgbClr val="5B6574"/>
                </a:solidFill>
                <a:latin typeface="Arial"/>
                <a:ea typeface="Arial"/>
                <a:cs typeface="Arial"/>
              </a:rPr>
              <a:t>Glue Catalog</a:t>
            </a:r>
            <a:endParaRPr/>
          </a:p>
          <a:p xmlns:a="http://schemas.openxmlformats.org/drawingml/2006/main">
            <a:pPr marL="0" marR="0" lvl="0" indent="0" algn="ctr">
              <a:lnSpc>
                <a:spcPct val="92000"/>
              </a:lnSpc>
              <a:spcBef>
                <a:spcPts val="0"/>
              </a:spcBef>
              <a:spcAft>
                <a:spcPts val="0"/>
              </a:spcAft>
              <a:buNone/>
              <a:defRPr sz="1200"/>
            </a:pPr>
            <a:r>
              <a:rPr sz="1200">
                <a:solidFill>
                  <a:srgbClr val="5B6574"/>
                </a:solidFill>
                <a:latin typeface="Arial"/>
                <a:ea typeface="Arial"/>
                <a:cs typeface="Arial"/>
              </a:rPr>
              <a:t>256 MiB scan cap</a:t>
            </a:r>
            <a:endParaRPr/>
          </a:p>
        </p:txBody>
      </p:sp>
      <p:sp>
        <p:nvSpPr>
          <p:cNvPr id="89" name="Google Shape;89;p6">
            <a:extLst xmlns:a="http://schemas.openxmlformats.org/drawingml/2006/main">
              <a:ext uri="{FF2B5EF4-FFF2-40B4-BE49-F238E27FC236}">
                <a16:creationId xmlns:a16="http://schemas.microsoft.com/office/drawing/2014/main" id="{B70A491C-F029-4136-BD34-AC4B5A1B028B}"/>
              </a:ext>
            </a:extLst>
          </p:cNvPr>
          <p:cNvSpPr>
            <a:spLocks xmlns:a="http://schemas.openxmlformats.org/drawingml/2006/main" noGrp="1"/>
          </p:cNvSpPr>
          <p:nvPr/>
        </p:nvSpPr>
        <p:spPr>
          <a:xfrm xmlns:a="http://schemas.openxmlformats.org/drawingml/2006/main">
            <a:off x="9467850" y="2266950"/>
            <a:ext cx="14668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None/>
            </a:pPr>
            <a:r>
              <a:rPr sz="1525" b="1">
                <a:solidFill>
                  <a:srgbClr val="111827"/>
                </a:solidFill>
                <a:latin typeface="Arial"/>
                <a:ea typeface="Arial"/>
                <a:cs typeface="Arial"/>
              </a:rPr>
              <a:t>S3 Gold</a:t>
            </a:r>
            <a:endParaRPr/>
          </a:p>
        </p:txBody>
      </p:sp>
      <p:sp>
        <p:nvSpPr>
          <p:cNvPr id="90" name="Google Shape;90;p6">
            <a:extLst xmlns:a="http://schemas.openxmlformats.org/drawingml/2006/main">
              <a:ext uri="{FF2B5EF4-FFF2-40B4-BE49-F238E27FC236}">
                <a16:creationId xmlns:a16="http://schemas.microsoft.com/office/drawing/2014/main" id="{7942F16C-5812-48D5-AB17-E7FC7013A3AA}"/>
              </a:ext>
            </a:extLst>
          </p:cNvPr>
          <p:cNvSpPr>
            <a:spLocks xmlns:a="http://schemas.openxmlformats.org/drawingml/2006/main" noGrp="1"/>
          </p:cNvSpPr>
          <p:nvPr/>
        </p:nvSpPr>
        <p:spPr>
          <a:xfrm xmlns:a="http://schemas.openxmlformats.org/drawingml/2006/main">
            <a:off x="9448800" y="2590800"/>
            <a:ext cx="1504950" cy="5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lnSpc>
                <a:spcPct val="92000"/>
              </a:lnSpc>
              <a:spcBef>
                <a:spcPts val="0"/>
              </a:spcBef>
              <a:spcAft>
                <a:spcPts val="0"/>
              </a:spcAft>
              <a:buNone/>
              <a:defRPr sz="1200"/>
            </a:pPr>
            <a:r>
              <a:rPr sz="1200">
                <a:solidFill>
                  <a:srgbClr val="5B6574"/>
                </a:solidFill>
                <a:latin typeface="Arial"/>
                <a:ea typeface="Arial"/>
                <a:cs typeface="Arial"/>
              </a:rPr>
              <a:t>Monthly KPIs</a:t>
            </a:r>
            <a:endParaRPr/>
          </a:p>
          <a:p xmlns:a="http://schemas.openxmlformats.org/drawingml/2006/main">
            <a:pPr marL="0" marR="0" lvl="0" indent="0" algn="ctr">
              <a:lnSpc>
                <a:spcPct val="92000"/>
              </a:lnSpc>
              <a:spcBef>
                <a:spcPts val="0"/>
              </a:spcBef>
              <a:spcAft>
                <a:spcPts val="0"/>
              </a:spcAft>
              <a:buNone/>
              <a:defRPr sz="1200"/>
            </a:pPr>
            <a:r>
              <a:rPr sz="1200">
                <a:solidFill>
                  <a:srgbClr val="5B6574"/>
                </a:solidFill>
                <a:latin typeface="Arial"/>
                <a:ea typeface="Arial"/>
                <a:cs typeface="Arial"/>
              </a:rPr>
              <a:t>ML splits + scores</a:t>
            </a:r>
            <a:endParaRPr/>
          </a:p>
          <a:p xmlns:a="http://schemas.openxmlformats.org/drawingml/2006/main">
            <a:pPr marL="0" marR="0" lvl="0" indent="0" algn="ctr">
              <a:lnSpc>
                <a:spcPct val="92000"/>
              </a:lnSpc>
              <a:spcBef>
                <a:spcPts val="0"/>
              </a:spcBef>
              <a:spcAft>
                <a:spcPts val="0"/>
              </a:spcAft>
              <a:buNone/>
              <a:defRPr sz="1200"/>
            </a:pPr>
            <a:r>
              <a:rPr sz="1200">
                <a:solidFill>
                  <a:srgbClr val="5B6574"/>
                </a:solidFill>
                <a:latin typeface="Arial"/>
                <a:ea typeface="Arial"/>
                <a:cs typeface="Arial"/>
              </a:rPr>
              <a:t>Cataloged outputs</a:t>
            </a:r>
            <a:endParaRPr/>
          </a:p>
        </p:txBody>
      </p:sp>
      <p:sp>
        <p:nvSpPr>
          <p:cNvPr id="91" name="Google Shape;91;p6">
            <a:extLst xmlns:a="http://schemas.openxmlformats.org/drawingml/2006/main">
              <a:ext uri="{FF2B5EF4-FFF2-40B4-BE49-F238E27FC236}">
                <a16:creationId xmlns:a16="http://schemas.microsoft.com/office/drawing/2014/main" id="{DEC61B75-5079-43FC-BDF5-49D99BFDD25A}"/>
              </a:ext>
            </a:extLst>
          </p:cNvPr>
          <p:cNvSpPr>
            <a:spLocks xmlns:a="http://schemas.openxmlformats.org/drawingml/2006/main" noGrp="1"/>
          </p:cNvSpPr>
          <p:nvPr/>
        </p:nvSpPr>
        <p:spPr>
          <a:xfrm xmlns:a="http://schemas.openxmlformats.org/drawingml/2006/main">
            <a:off x="5943600" y="4438650"/>
            <a:ext cx="25146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None/>
            </a:pPr>
            <a:r>
              <a:rPr sz="1525" b="1">
                <a:solidFill>
                  <a:srgbClr val="111827"/>
                </a:solidFill>
                <a:latin typeface="Arial"/>
                <a:ea typeface="Arial"/>
                <a:cs typeface="Arial"/>
              </a:rPr>
              <a:t>QuickSight</a:t>
            </a:r>
            <a:endParaRPr/>
          </a:p>
        </p:txBody>
      </p:sp>
      <p:sp>
        <p:nvSpPr>
          <p:cNvPr id="92" name="Google Shape;92;p6">
            <a:extLst xmlns:a="http://schemas.openxmlformats.org/drawingml/2006/main">
              <a:ext uri="{FF2B5EF4-FFF2-40B4-BE49-F238E27FC236}">
                <a16:creationId xmlns:a16="http://schemas.microsoft.com/office/drawing/2014/main" id="{CEB6059E-2872-4698-9B90-507ABA599EB5}"/>
              </a:ext>
            </a:extLst>
          </p:cNvPr>
          <p:cNvSpPr>
            <a:spLocks xmlns:a="http://schemas.openxmlformats.org/drawingml/2006/main" noGrp="1"/>
          </p:cNvSpPr>
          <p:nvPr/>
        </p:nvSpPr>
        <p:spPr>
          <a:xfrm xmlns:a="http://schemas.openxmlformats.org/drawingml/2006/main">
            <a:off x="5924550" y="4781550"/>
            <a:ext cx="2552700" cy="5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lnSpc>
                <a:spcPct val="92000"/>
              </a:lnSpc>
              <a:spcBef>
                <a:spcPts val="0"/>
              </a:spcBef>
              <a:spcAft>
                <a:spcPts val="0"/>
              </a:spcAft>
              <a:buNone/>
              <a:defRPr sz="1200"/>
            </a:pPr>
            <a:r>
              <a:rPr sz="1200">
                <a:solidFill>
                  <a:srgbClr val="5B6574"/>
                </a:solidFill>
                <a:latin typeface="Arial"/>
                <a:ea typeface="Arial"/>
                <a:cs typeface="Arial"/>
              </a:rPr>
              <a:t>3 SPICE datasets</a:t>
            </a:r>
            <a:endParaRPr/>
          </a:p>
          <a:p xmlns:a="http://schemas.openxmlformats.org/drawingml/2006/main">
            <a:pPr marL="0" marR="0" lvl="0" indent="0" algn="ctr">
              <a:lnSpc>
                <a:spcPct val="92000"/>
              </a:lnSpc>
              <a:spcBef>
                <a:spcPts val="0"/>
              </a:spcBef>
              <a:spcAft>
                <a:spcPts val="0"/>
              </a:spcAft>
              <a:buNone/>
              <a:defRPr sz="1200"/>
            </a:pPr>
            <a:r>
              <a:rPr sz="1200">
                <a:solidFill>
                  <a:srgbClr val="5B6574"/>
                </a:solidFill>
                <a:latin typeface="Arial"/>
                <a:ea typeface="Arial"/>
                <a:cs typeface="Arial"/>
              </a:rPr>
              <a:t>Portfolio + risk views</a:t>
            </a:r>
            <a:endParaRPr/>
          </a:p>
          <a:p xmlns:a="http://schemas.openxmlformats.org/drawingml/2006/main">
            <a:pPr marL="0" marR="0" lvl="0" indent="0" algn="ctr">
              <a:lnSpc>
                <a:spcPct val="92000"/>
              </a:lnSpc>
              <a:spcBef>
                <a:spcPts val="0"/>
              </a:spcBef>
              <a:spcAft>
                <a:spcPts val="0"/>
              </a:spcAft>
              <a:buNone/>
              <a:defRPr sz="1200"/>
            </a:pPr>
            <a:r>
              <a:rPr sz="1200">
                <a:solidFill>
                  <a:srgbClr val="5B6574"/>
                </a:solidFill>
                <a:latin typeface="Arial"/>
                <a:ea typeface="Arial"/>
                <a:cs typeface="Arial"/>
              </a:rPr>
              <a:t>Published dashboard</a:t>
            </a:r>
            <a:endParaRPr/>
          </a:p>
        </p:txBody>
      </p:sp>
      <p:sp>
        <p:nvSpPr>
          <p:cNvPr id="93" name="Google Shape;93;p6">
            <a:extLst xmlns:a="http://schemas.openxmlformats.org/drawingml/2006/main">
              <a:ext uri="{FF2B5EF4-FFF2-40B4-BE49-F238E27FC236}">
                <a16:creationId xmlns:a16="http://schemas.microsoft.com/office/drawing/2014/main" id="{71DCD001-5DD8-4398-83E6-BE6EE75B8A13}"/>
              </a:ext>
            </a:extLst>
          </p:cNvPr>
          <p:cNvSpPr>
            <a:spLocks xmlns:a="http://schemas.openxmlformats.org/drawingml/2006/main" noGrp="1"/>
          </p:cNvSpPr>
          <p:nvPr/>
        </p:nvSpPr>
        <p:spPr>
          <a:xfrm xmlns:a="http://schemas.openxmlformats.org/drawingml/2006/main">
            <a:off x="9467850" y="4438650"/>
            <a:ext cx="14668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None/>
            </a:pPr>
            <a:r>
              <a:rPr sz="1525" b="1">
                <a:solidFill>
                  <a:srgbClr val="111827"/>
                </a:solidFill>
                <a:latin typeface="Arial"/>
                <a:ea typeface="Arial"/>
                <a:cs typeface="Arial"/>
              </a:rPr>
              <a:t>SageMaker</a:t>
            </a:r>
            <a:endParaRPr/>
          </a:p>
        </p:txBody>
      </p:sp>
      <p:sp>
        <p:nvSpPr>
          <p:cNvPr id="94" name="Google Shape;94;p6">
            <a:extLst xmlns:a="http://schemas.openxmlformats.org/drawingml/2006/main">
              <a:ext uri="{FF2B5EF4-FFF2-40B4-BE49-F238E27FC236}">
                <a16:creationId xmlns:a16="http://schemas.microsoft.com/office/drawing/2014/main" id="{1D1F7598-CEA5-4268-B1DB-E470F873177C}"/>
              </a:ext>
            </a:extLst>
          </p:cNvPr>
          <p:cNvSpPr>
            <a:spLocks xmlns:a="http://schemas.openxmlformats.org/drawingml/2006/main" noGrp="1"/>
          </p:cNvSpPr>
          <p:nvPr/>
        </p:nvSpPr>
        <p:spPr>
          <a:xfrm xmlns:a="http://schemas.openxmlformats.org/drawingml/2006/main">
            <a:off x="9448800" y="4781550"/>
            <a:ext cx="1504950" cy="5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lnSpc>
                <a:spcPct val="92000"/>
              </a:lnSpc>
              <a:spcBef>
                <a:spcPts val="0"/>
              </a:spcBef>
              <a:spcAft>
                <a:spcPts val="0"/>
              </a:spcAft>
              <a:buNone/>
              <a:defRPr sz="1200"/>
            </a:pPr>
            <a:r>
              <a:rPr sz="1200">
                <a:solidFill>
                  <a:srgbClr val="5B6574"/>
                </a:solidFill>
                <a:latin typeface="Arial"/>
                <a:ea typeface="Arial"/>
                <a:cs typeface="Arial"/>
              </a:rPr>
              <a:t>TF-IDF features</a:t>
            </a:r>
            <a:endParaRPr/>
          </a:p>
          <a:p xmlns:a="http://schemas.openxmlformats.org/drawingml/2006/main">
            <a:pPr marL="0" marR="0" lvl="0" indent="0" algn="ctr">
              <a:lnSpc>
                <a:spcPct val="92000"/>
              </a:lnSpc>
              <a:spcBef>
                <a:spcPts val="0"/>
              </a:spcBef>
              <a:spcAft>
                <a:spcPts val="0"/>
              </a:spcAft>
              <a:buNone/>
              <a:defRPr sz="1200"/>
            </a:pPr>
            <a:r>
              <a:rPr sz="1200">
                <a:solidFill>
                  <a:srgbClr val="5B6574"/>
                </a:solidFill>
                <a:latin typeface="Arial"/>
                <a:ea typeface="Arial"/>
                <a:cs typeface="Arial"/>
              </a:rPr>
              <a:t>Balanced classifier</a:t>
            </a:r>
            <a:endParaRPr/>
          </a:p>
          <a:p xmlns:a="http://schemas.openxmlformats.org/drawingml/2006/main">
            <a:pPr marL="0" marR="0" lvl="0" indent="0" algn="ctr">
              <a:lnSpc>
                <a:spcPct val="92000"/>
              </a:lnSpc>
              <a:spcBef>
                <a:spcPts val="0"/>
              </a:spcBef>
              <a:spcAft>
                <a:spcPts val="0"/>
              </a:spcAft>
              <a:buNone/>
              <a:defRPr sz="1200"/>
            </a:pPr>
            <a:r>
              <a:rPr sz="1200">
                <a:solidFill>
                  <a:srgbClr val="5B6574"/>
                </a:solidFill>
                <a:latin typeface="Arial"/>
                <a:ea typeface="Arial"/>
                <a:cs typeface="Arial"/>
              </a:rPr>
              <a:t>89-sec batch train</a:t>
            </a:r>
            <a:endParaRPr/>
          </a:p>
        </p:txBody>
      </p:sp>
      <p:sp>
        <p:nvSpPr>
          <p:cNvPr id="95" name="Google Shape;95;p6">
            <a:extLst xmlns:a="http://schemas.openxmlformats.org/drawingml/2006/main">
              <a:ext uri="{FF2B5EF4-FFF2-40B4-BE49-F238E27FC236}">
                <a16:creationId xmlns:a16="http://schemas.microsoft.com/office/drawing/2014/main" id="{C03682CC-B8FD-4C1C-87DF-18747C40A401}"/>
              </a:ext>
            </a:extLst>
          </p:cNvPr>
          <p:cNvSpPr>
            <a:spLocks xmlns:a="http://schemas.openxmlformats.org/drawingml/2006/main" noGrp="1"/>
          </p:cNvSpPr>
          <p:nvPr/>
        </p:nvSpPr>
        <p:spPr>
          <a:xfrm xmlns:a="http://schemas.openxmlformats.org/drawingml/2006/main">
            <a:off x="533400" y="5810250"/>
            <a:ext cx="10572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92000"/>
              </a:lnSpc>
              <a:spcBef>
                <a:spcPts val="0"/>
              </a:spcBef>
              <a:spcAft>
                <a:spcPts val="0"/>
              </a:spcAft>
              <a:buNone/>
              <a:defRPr sz="1200"/>
            </a:pPr>
            <a:r>
              <a:rPr sz="1200">
                <a:solidFill>
                  <a:srgbClr val="5B6574"/>
                </a:solidFill>
                <a:latin typeface="Arial"/>
                <a:ea typeface="Arial"/>
                <a:cs typeface="Arial"/>
              </a:rPr>
              <a:t>Controls: Glue Catalog standardizes schemas · IAM restricts S3 access · Athena workgroups fix result locations and cap scans.</a:t>
            </a:r>
            <a:endParaRPr/>
          </a:p>
        </p:txBody>
      </p:sp>
    </p:spTree>
    <p:extLst>
      <p:ext uri="{BB962C8B-B14F-4D97-AF65-F5344CB8AC3E}">
        <p14:creationId xmlns:p14="http://schemas.microsoft.com/office/powerpoint/2010/main" val="61141463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2" name="architecture-kicker">
            <a:extLst xmlns:a="http://schemas.openxmlformats.org/drawingml/2006/main">
              <a:ext uri="{FF2B5EF4-FFF2-40B4-BE49-F238E27FC236}">
                <a16:creationId xmlns:a16="http://schemas.microsoft.com/office/drawing/2014/main" id="{878ABA41-2148-4E00-871A-1A42D5D8382C}"/>
              </a:ext>
            </a:extLst>
          </p:cNvPr>
          <p:cNvSpPr>
            <a:spLocks xmlns:a="http://schemas.openxmlformats.org/drawingml/2006/main" noGrp="1"/>
          </p:cNvSpPr>
          <p:nvPr/>
        </p:nvSpPr>
        <p:spPr>
          <a:xfrm xmlns:a="http://schemas.openxmlformats.org/drawingml/2006/main">
            <a:off x="533400" y="32385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lstStyle xmlns:a="http://schemas.openxmlformats.org/drawingml/2006/main"/>
          <a:p xmlns:a="http://schemas.openxmlformats.org/drawingml/2006/main">
            <a:pPr algn="l">
              <a:defRPr sz="1150" b="1">
                <a:solidFill>
                  <a:srgbClr val="3D8DFF"/>
                </a:solidFill>
                <a:latin typeface="Arial"/>
                <a:ea typeface="Arial"/>
                <a:cs typeface="Arial"/>
              </a:defRPr>
            </a:pPr>
            <a:r>
              <a:rPr sz="1150" b="1">
                <a:solidFill>
                  <a:srgbClr val="3D8DFF"/>
                </a:solidFill>
                <a:latin typeface="Arial"/>
                <a:ea typeface="Arial"/>
                <a:cs typeface="Arial"/>
              </a:rPr>
              <a:t>MGMT 59990 · GROUP 18</a:t>
            </a:r>
          </a:p>
        </p:txBody>
      </p:sp>
      <p:sp>
        <p:nvSpPr>
          <p:cNvPr id="2" name="architecture-title">
            <a:extLst xmlns:a="http://schemas.openxmlformats.org/drawingml/2006/main">
              <a:ext uri="{FF2B5EF4-FFF2-40B4-BE49-F238E27FC236}">
                <a16:creationId xmlns:a16="http://schemas.microsoft.com/office/drawing/2014/main" id="{A5CAA29A-A552-4D26-9EC0-A9815635E9AF}"/>
              </a:ext>
            </a:extLst>
          </p:cNvPr>
          <p:cNvSpPr>
            <a:spLocks xmlns:a="http://schemas.openxmlformats.org/drawingml/2006/main" noGrp="1"/>
          </p:cNvSpPr>
          <p:nvPr/>
        </p:nvSpPr>
        <p:spPr>
          <a:xfrm xmlns:a="http://schemas.openxmlformats.org/drawingml/2006/main">
            <a:off x="533400" y="647700"/>
            <a:ext cx="111252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lstStyle xmlns:a="http://schemas.openxmlformats.org/drawingml/2006/main"/>
          <a:p xmlns:a="http://schemas.openxmlformats.org/drawingml/2006/main">
            <a:pPr algn="l">
              <a:defRPr sz="3750" b="1">
                <a:solidFill>
                  <a:srgbClr val="111827"/>
                </a:solidFill>
                <a:latin typeface="Arial"/>
                <a:ea typeface="Arial"/>
                <a:cs typeface="Arial"/>
              </a:defRPr>
            </a:pPr>
            <a:r>
              <a:rPr sz="3750" b="1">
                <a:solidFill>
                  <a:srgbClr val="111827"/>
                </a:solidFill>
                <a:latin typeface="Arial"/>
                <a:ea typeface="Arial"/>
                <a:cs typeface="Arial"/>
              </a:rPr>
              <a:t>AWS separates storage, compute, and delivery</a:t>
            </a:r>
          </a:p>
        </p:txBody>
      </p:sp>
      <p:sp>
        <p:nvSpPr>
          <p:cNvPr id="3" name="architecture-connector">
            <a:extLst xmlns:a="http://schemas.openxmlformats.org/drawingml/2006/main">
              <a:ext uri="{FF2B5EF4-FFF2-40B4-BE49-F238E27FC236}">
                <a16:creationId xmlns:a16="http://schemas.microsoft.com/office/drawing/2014/main" id="{186A8725-FCC3-4747-B942-4E3BD5452D4F}"/>
              </a:ext>
            </a:extLst>
          </p:cNvPr>
          <p:cNvSpPr>
            <a:spLocks xmlns:a="http://schemas.openxmlformats.org/drawingml/2006/main" noGrp="1"/>
          </p:cNvSpPr>
          <p:nvPr/>
        </p:nvSpPr>
        <p:spPr>
          <a:xfrm xmlns:a="http://schemas.openxmlformats.org/drawingml/2006/main">
            <a:off x="952500" y="3105150"/>
            <a:ext cx="9810750" cy="28575"/>
          </a:xfrm>
          <a:prstGeom xmlns:a="http://schemas.openxmlformats.org/drawingml/2006/main" prst="rect">
            <a:avLst/>
          </a:prstGeom>
          <a:solidFill xmlns:a="http://schemas.openxmlformats.org/drawingml/2006/main">
            <a:srgbClr val="C7CDD4"/>
          </a:solidFill>
          <a:ln xmlns:a="http://schemas.openxmlformats.org/drawingml/2006/main" w="0">
            <a:noFill/>
            <a:prstDash val="solid"/>
          </a:ln>
        </p:spPr>
      </p:sp>
      <p:sp>
        <p:nvSpPr>
          <p:cNvPr id="4" name="architecture-card-1">
            <a:extLst xmlns:a="http://schemas.openxmlformats.org/drawingml/2006/main">
              <a:ext uri="{FF2B5EF4-FFF2-40B4-BE49-F238E27FC236}">
                <a16:creationId xmlns:a16="http://schemas.microsoft.com/office/drawing/2014/main" id="{D1BDD665-B0A2-4648-A7FD-6CE24B938B98}"/>
              </a:ext>
            </a:extLst>
          </p:cNvPr>
          <p:cNvSpPr>
            <a:spLocks xmlns:a="http://schemas.openxmlformats.org/drawingml/2006/main" noGrp="1"/>
          </p:cNvSpPr>
          <p:nvPr/>
        </p:nvSpPr>
        <p:spPr>
          <a:xfrm xmlns:a="http://schemas.openxmlformats.org/drawingml/2006/main">
            <a:off x="533400" y="2152650"/>
            <a:ext cx="2209800" cy="2933700"/>
          </a:xfrm>
          <a:prstGeom xmlns:a="http://schemas.openxmlformats.org/drawingml/2006/main" prst="roundRect">
            <a:avLst>
              <a:gd name="adj" fmla="val 3448"/>
            </a:avLst>
          </a:prstGeom>
          <a:solidFill xmlns:a="http://schemas.openxmlformats.org/drawingml/2006/main">
            <a:srgbClr val="F1F3F5"/>
          </a:solidFill>
          <a:ln xmlns:a="http://schemas.openxmlformats.org/drawingml/2006/main" w="0">
            <a:noFill/>
            <a:prstDash val="solid"/>
          </a:ln>
        </p:spPr>
      </p:sp>
      <p:sp>
        <p:nvSpPr>
          <p:cNvPr id="5" name="architecture-card-number-1">
            <a:extLst xmlns:a="http://schemas.openxmlformats.org/drawingml/2006/main">
              <a:ext uri="{FF2B5EF4-FFF2-40B4-BE49-F238E27FC236}">
                <a16:creationId xmlns:a16="http://schemas.microsoft.com/office/drawing/2014/main" id="{4467A9FA-5349-4404-8BB1-3907A25E275F}"/>
              </a:ext>
            </a:extLst>
          </p:cNvPr>
          <p:cNvSpPr>
            <a:spLocks xmlns:a="http://schemas.openxmlformats.org/drawingml/2006/main" noGrp="1"/>
          </p:cNvSpPr>
          <p:nvPr/>
        </p:nvSpPr>
        <p:spPr>
          <a:xfrm xmlns:a="http://schemas.openxmlformats.org/drawingml/2006/main">
            <a:off x="742950" y="2343150"/>
            <a:ext cx="66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01</a:t>
            </a:r>
          </a:p>
        </p:txBody>
      </p:sp>
      <p:sp>
        <p:nvSpPr>
          <p:cNvPr id="6" name="architecture-card-heading-1">
            <a:extLst xmlns:a="http://schemas.openxmlformats.org/drawingml/2006/main">
              <a:ext uri="{FF2B5EF4-FFF2-40B4-BE49-F238E27FC236}">
                <a16:creationId xmlns:a16="http://schemas.microsoft.com/office/drawing/2014/main" id="{BC572879-6E9E-48EE-BF2D-3311757D448E}"/>
              </a:ext>
            </a:extLst>
          </p:cNvPr>
          <p:cNvSpPr>
            <a:spLocks xmlns:a="http://schemas.openxmlformats.org/drawingml/2006/main" noGrp="1"/>
          </p:cNvSpPr>
          <p:nvPr/>
        </p:nvSpPr>
        <p:spPr>
          <a:xfrm xmlns:a="http://schemas.openxmlformats.org/drawingml/2006/main">
            <a:off x="742950" y="2838450"/>
            <a:ext cx="1790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lstStyle xmlns:a="http://schemas.openxmlformats.org/drawingml/2006/main"/>
          <a:p xmlns:a="http://schemas.openxmlformats.org/drawingml/2006/main">
            <a:pPr algn="l">
              <a:defRPr sz="2025" b="1">
                <a:solidFill>
                  <a:srgbClr val="111827"/>
                </a:solidFill>
                <a:latin typeface="Arial"/>
                <a:ea typeface="Arial"/>
                <a:cs typeface="Arial"/>
              </a:defRPr>
            </a:pPr>
            <a:r>
              <a:rPr sz="2025" b="1">
                <a:solidFill>
                  <a:srgbClr val="111827"/>
                </a:solidFill>
                <a:latin typeface="Arial"/>
                <a:ea typeface="Arial"/>
                <a:cs typeface="Arial"/>
              </a:rPr>
              <a:t>Store</a:t>
            </a:r>
          </a:p>
        </p:txBody>
      </p:sp>
      <p:sp>
        <p:nvSpPr>
          <p:cNvPr id="7" name="architecture-card-body-1">
            <a:extLst xmlns:a="http://schemas.openxmlformats.org/drawingml/2006/main">
              <a:ext uri="{FF2B5EF4-FFF2-40B4-BE49-F238E27FC236}">
                <a16:creationId xmlns:a16="http://schemas.microsoft.com/office/drawing/2014/main" id="{11166A41-0F47-4843-BCC3-2CDE768C83CD}"/>
              </a:ext>
            </a:extLst>
          </p:cNvPr>
          <p:cNvSpPr>
            <a:spLocks xmlns:a="http://schemas.openxmlformats.org/drawingml/2006/main" noGrp="1"/>
          </p:cNvSpPr>
          <p:nvPr/>
        </p:nvSpPr>
        <p:spPr>
          <a:xfrm xmlns:a="http://schemas.openxmlformats.org/drawingml/2006/main">
            <a:off x="742950" y="3505200"/>
            <a:ext cx="17907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lstStyle xmlns:a="http://schemas.openxmlformats.org/drawingml/2006/main"/>
          <a:p xmlns:a="http://schemas.openxmlformats.org/drawingml/2006/main">
            <a:pPr algn="l">
              <a:defRPr sz="1530">
                <a:solidFill>
                  <a:srgbClr val="5B6574"/>
                </a:solidFill>
                <a:latin typeface="Arial"/>
                <a:ea typeface="Arial"/>
                <a:cs typeface="Arial"/>
              </a:defRPr>
            </a:pPr>
            <a:r>
              <a:rPr sz="1530">
                <a:solidFill>
                  <a:srgbClr val="5B6574"/>
                </a:solidFill>
                <a:latin typeface="Arial"/>
                <a:ea typeface="Arial"/>
                <a:cs typeface="Arial"/>
              </a:rPr>
              <a:t>Bronze keeps raw data. Silver stores trusted Parquet. Gold serves analytics and ML.</a:t>
            </a:r>
          </a:p>
        </p:txBody>
      </p:sp>
      <p:sp>
        <p:nvSpPr>
          <p:cNvPr id="8" name="architecture-card-2">
            <a:extLst xmlns:a="http://schemas.openxmlformats.org/drawingml/2006/main">
              <a:ext uri="{FF2B5EF4-FFF2-40B4-BE49-F238E27FC236}">
                <a16:creationId xmlns:a16="http://schemas.microsoft.com/office/drawing/2014/main" id="{353F5860-0AD4-492C-ACC4-76958B92AFAE}"/>
              </a:ext>
            </a:extLst>
          </p:cNvPr>
          <p:cNvSpPr>
            <a:spLocks xmlns:a="http://schemas.openxmlformats.org/drawingml/2006/main" noGrp="1"/>
          </p:cNvSpPr>
          <p:nvPr/>
        </p:nvSpPr>
        <p:spPr>
          <a:xfrm xmlns:a="http://schemas.openxmlformats.org/drawingml/2006/main">
            <a:off x="3371850" y="2152650"/>
            <a:ext cx="2209800" cy="2933700"/>
          </a:xfrm>
          <a:prstGeom xmlns:a="http://schemas.openxmlformats.org/drawingml/2006/main" prst="roundRect">
            <a:avLst>
              <a:gd name="adj" fmla="val 3448"/>
            </a:avLst>
          </a:prstGeom>
          <a:solidFill xmlns:a="http://schemas.openxmlformats.org/drawingml/2006/main">
            <a:srgbClr val="F1F3F5"/>
          </a:solidFill>
          <a:ln xmlns:a="http://schemas.openxmlformats.org/drawingml/2006/main" w="0">
            <a:noFill/>
            <a:prstDash val="solid"/>
          </a:ln>
        </p:spPr>
      </p:sp>
      <p:sp>
        <p:nvSpPr>
          <p:cNvPr id="9" name="architecture-card-number-2">
            <a:extLst xmlns:a="http://schemas.openxmlformats.org/drawingml/2006/main">
              <a:ext uri="{FF2B5EF4-FFF2-40B4-BE49-F238E27FC236}">
                <a16:creationId xmlns:a16="http://schemas.microsoft.com/office/drawing/2014/main" id="{E59CD18E-7E10-46EB-B28E-4C695D5BDCCB}"/>
              </a:ext>
            </a:extLst>
          </p:cNvPr>
          <p:cNvSpPr>
            <a:spLocks xmlns:a="http://schemas.openxmlformats.org/drawingml/2006/main" noGrp="1"/>
          </p:cNvSpPr>
          <p:nvPr/>
        </p:nvSpPr>
        <p:spPr>
          <a:xfrm xmlns:a="http://schemas.openxmlformats.org/drawingml/2006/main">
            <a:off x="3581400" y="2343150"/>
            <a:ext cx="66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02</a:t>
            </a:r>
          </a:p>
        </p:txBody>
      </p:sp>
      <p:sp>
        <p:nvSpPr>
          <p:cNvPr id="10" name="architecture-card-heading-2">
            <a:extLst xmlns:a="http://schemas.openxmlformats.org/drawingml/2006/main">
              <a:ext uri="{FF2B5EF4-FFF2-40B4-BE49-F238E27FC236}">
                <a16:creationId xmlns:a16="http://schemas.microsoft.com/office/drawing/2014/main" id="{33C598CA-9BD8-4D96-8101-92C342ECB037}"/>
              </a:ext>
            </a:extLst>
          </p:cNvPr>
          <p:cNvSpPr>
            <a:spLocks xmlns:a="http://schemas.openxmlformats.org/drawingml/2006/main" noGrp="1"/>
          </p:cNvSpPr>
          <p:nvPr/>
        </p:nvSpPr>
        <p:spPr>
          <a:xfrm xmlns:a="http://schemas.openxmlformats.org/drawingml/2006/main">
            <a:off x="3581400" y="2838450"/>
            <a:ext cx="1790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lstStyle xmlns:a="http://schemas.openxmlformats.org/drawingml/2006/main"/>
          <a:p xmlns:a="http://schemas.openxmlformats.org/drawingml/2006/main">
            <a:pPr algn="l">
              <a:defRPr sz="2025" b="1">
                <a:solidFill>
                  <a:srgbClr val="111827"/>
                </a:solidFill>
                <a:latin typeface="Arial"/>
                <a:ea typeface="Arial"/>
                <a:cs typeface="Arial"/>
              </a:defRPr>
            </a:pPr>
            <a:r>
              <a:rPr sz="2025" b="1">
                <a:solidFill>
                  <a:srgbClr val="111827"/>
                </a:solidFill>
                <a:latin typeface="Arial"/>
                <a:ea typeface="Arial"/>
                <a:cs typeface="Arial"/>
              </a:rPr>
              <a:t>Govern</a:t>
            </a:r>
          </a:p>
        </p:txBody>
      </p:sp>
      <p:sp>
        <p:nvSpPr>
          <p:cNvPr id="11" name="architecture-card-body-2">
            <a:extLst xmlns:a="http://schemas.openxmlformats.org/drawingml/2006/main">
              <a:ext uri="{FF2B5EF4-FFF2-40B4-BE49-F238E27FC236}">
                <a16:creationId xmlns:a16="http://schemas.microsoft.com/office/drawing/2014/main" id="{255FA7DD-BD4D-4B00-8D3A-8135CD16C327}"/>
              </a:ext>
            </a:extLst>
          </p:cNvPr>
          <p:cNvSpPr>
            <a:spLocks xmlns:a="http://schemas.openxmlformats.org/drawingml/2006/main" noGrp="1"/>
          </p:cNvSpPr>
          <p:nvPr/>
        </p:nvSpPr>
        <p:spPr>
          <a:xfrm xmlns:a="http://schemas.openxmlformats.org/drawingml/2006/main">
            <a:off x="3581400" y="3505200"/>
            <a:ext cx="17907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lstStyle xmlns:a="http://schemas.openxmlformats.org/drawingml/2006/main"/>
          <a:p xmlns:a="http://schemas.openxmlformats.org/drawingml/2006/main">
            <a:pPr algn="l">
              <a:defRPr sz="1530">
                <a:solidFill>
                  <a:srgbClr val="5B6574"/>
                </a:solidFill>
                <a:latin typeface="Arial"/>
                <a:ea typeface="Arial"/>
                <a:cs typeface="Arial"/>
              </a:defRPr>
            </a:pPr>
            <a:r>
              <a:rPr sz="1530">
                <a:solidFill>
                  <a:srgbClr val="5B6574"/>
                </a:solidFill>
                <a:latin typeface="Arial"/>
                <a:ea typeface="Arial"/>
                <a:cs typeface="Arial"/>
              </a:rPr>
              <a:t>Glue validates and transforms data; its Catalog gives every service the same schema.</a:t>
            </a:r>
          </a:p>
        </p:txBody>
      </p:sp>
      <p:sp>
        <p:nvSpPr>
          <p:cNvPr id="12" name="architecture-card-3">
            <a:extLst xmlns:a="http://schemas.openxmlformats.org/drawingml/2006/main">
              <a:ext uri="{FF2B5EF4-FFF2-40B4-BE49-F238E27FC236}">
                <a16:creationId xmlns:a16="http://schemas.microsoft.com/office/drawing/2014/main" id="{31E75231-7657-42D6-B55D-F9B90B14E991}"/>
              </a:ext>
            </a:extLst>
          </p:cNvPr>
          <p:cNvSpPr>
            <a:spLocks xmlns:a="http://schemas.openxmlformats.org/drawingml/2006/main" noGrp="1"/>
          </p:cNvSpPr>
          <p:nvPr/>
        </p:nvSpPr>
        <p:spPr>
          <a:xfrm xmlns:a="http://schemas.openxmlformats.org/drawingml/2006/main">
            <a:off x="6210300" y="2152650"/>
            <a:ext cx="2209800" cy="2933700"/>
          </a:xfrm>
          <a:prstGeom xmlns:a="http://schemas.openxmlformats.org/drawingml/2006/main" prst="roundRect">
            <a:avLst>
              <a:gd name="adj" fmla="val 3448"/>
            </a:avLst>
          </a:prstGeom>
          <a:solidFill xmlns:a="http://schemas.openxmlformats.org/drawingml/2006/main">
            <a:srgbClr val="E7F4ED"/>
          </a:solidFill>
          <a:ln xmlns:a="http://schemas.openxmlformats.org/drawingml/2006/main" w="0">
            <a:noFill/>
            <a:prstDash val="solid"/>
          </a:ln>
        </p:spPr>
      </p:sp>
      <p:sp>
        <p:nvSpPr>
          <p:cNvPr id="13" name="architecture-card-number-3">
            <a:extLst xmlns:a="http://schemas.openxmlformats.org/drawingml/2006/main">
              <a:ext uri="{FF2B5EF4-FFF2-40B4-BE49-F238E27FC236}">
                <a16:creationId xmlns:a16="http://schemas.microsoft.com/office/drawing/2014/main" id="{890ABAF7-4866-403F-90FF-85DC8E61C9FF}"/>
              </a:ext>
            </a:extLst>
          </p:cNvPr>
          <p:cNvSpPr>
            <a:spLocks xmlns:a="http://schemas.openxmlformats.org/drawingml/2006/main" noGrp="1"/>
          </p:cNvSpPr>
          <p:nvPr/>
        </p:nvSpPr>
        <p:spPr>
          <a:xfrm xmlns:a="http://schemas.openxmlformats.org/drawingml/2006/main">
            <a:off x="6419850" y="2343150"/>
            <a:ext cx="66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03</a:t>
            </a:r>
          </a:p>
        </p:txBody>
      </p:sp>
      <p:sp>
        <p:nvSpPr>
          <p:cNvPr id="14" name="architecture-card-heading-3">
            <a:extLst xmlns:a="http://schemas.openxmlformats.org/drawingml/2006/main">
              <a:ext uri="{FF2B5EF4-FFF2-40B4-BE49-F238E27FC236}">
                <a16:creationId xmlns:a16="http://schemas.microsoft.com/office/drawing/2014/main" id="{4E3C56D2-557F-4BE6-93F2-2C6758C1A742}"/>
              </a:ext>
            </a:extLst>
          </p:cNvPr>
          <p:cNvSpPr>
            <a:spLocks xmlns:a="http://schemas.openxmlformats.org/drawingml/2006/main" noGrp="1"/>
          </p:cNvSpPr>
          <p:nvPr/>
        </p:nvSpPr>
        <p:spPr>
          <a:xfrm xmlns:a="http://schemas.openxmlformats.org/drawingml/2006/main">
            <a:off x="6419850" y="2838450"/>
            <a:ext cx="1790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lstStyle xmlns:a="http://schemas.openxmlformats.org/drawingml/2006/main"/>
          <a:p xmlns:a="http://schemas.openxmlformats.org/drawingml/2006/main">
            <a:pPr algn="l">
              <a:defRPr sz="2025" b="1">
                <a:solidFill>
                  <a:srgbClr val="111827"/>
                </a:solidFill>
                <a:latin typeface="Arial"/>
                <a:ea typeface="Arial"/>
                <a:cs typeface="Arial"/>
              </a:defRPr>
            </a:pPr>
            <a:r>
              <a:rPr sz="2025" b="1">
                <a:solidFill>
                  <a:srgbClr val="111827"/>
                </a:solidFill>
                <a:latin typeface="Arial"/>
                <a:ea typeface="Arial"/>
                <a:cs typeface="Arial"/>
              </a:rPr>
              <a:t>Query</a:t>
            </a:r>
          </a:p>
        </p:txBody>
      </p:sp>
      <p:sp>
        <p:nvSpPr>
          <p:cNvPr id="15" name="architecture-card-body-3">
            <a:extLst xmlns:a="http://schemas.openxmlformats.org/drawingml/2006/main">
              <a:ext uri="{FF2B5EF4-FFF2-40B4-BE49-F238E27FC236}">
                <a16:creationId xmlns:a16="http://schemas.microsoft.com/office/drawing/2014/main" id="{E48B0E08-AD39-41E1-8DB2-A19A57F2B164}"/>
              </a:ext>
            </a:extLst>
          </p:cNvPr>
          <p:cNvSpPr>
            <a:spLocks xmlns:a="http://schemas.openxmlformats.org/drawingml/2006/main" noGrp="1"/>
          </p:cNvSpPr>
          <p:nvPr/>
        </p:nvSpPr>
        <p:spPr>
          <a:xfrm xmlns:a="http://schemas.openxmlformats.org/drawingml/2006/main">
            <a:off x="6419850" y="3505200"/>
            <a:ext cx="17907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lstStyle xmlns:a="http://schemas.openxmlformats.org/drawingml/2006/main"/>
          <a:p xmlns:a="http://schemas.openxmlformats.org/drawingml/2006/main">
            <a:pPr algn="l">
              <a:defRPr sz="1530">
                <a:solidFill>
                  <a:srgbClr val="5B6574"/>
                </a:solidFill>
                <a:latin typeface="Arial"/>
                <a:ea typeface="Arial"/>
                <a:cs typeface="Arial"/>
              </a:defRPr>
            </a:pPr>
            <a:r>
              <a:rPr sz="1530">
                <a:solidFill>
                  <a:srgbClr val="5B6574"/>
                </a:solidFill>
                <a:latin typeface="Arial"/>
                <a:ea typeface="Arial"/>
                <a:cs typeface="Arial"/>
              </a:rPr>
              <a:t>Athena runs checks and CTAS builds; workgroups control output paths and scan cost.</a:t>
            </a:r>
          </a:p>
        </p:txBody>
      </p:sp>
      <p:sp>
        <p:nvSpPr>
          <p:cNvPr id="16" name="architecture-card-4">
            <a:extLst xmlns:a="http://schemas.openxmlformats.org/drawingml/2006/main">
              <a:ext uri="{FF2B5EF4-FFF2-40B4-BE49-F238E27FC236}">
                <a16:creationId xmlns:a16="http://schemas.microsoft.com/office/drawing/2014/main" id="{1B576699-7009-4173-93E7-1A44BF217D9F}"/>
              </a:ext>
            </a:extLst>
          </p:cNvPr>
          <p:cNvSpPr>
            <a:spLocks xmlns:a="http://schemas.openxmlformats.org/drawingml/2006/main" noGrp="1"/>
          </p:cNvSpPr>
          <p:nvPr/>
        </p:nvSpPr>
        <p:spPr>
          <a:xfrm xmlns:a="http://schemas.openxmlformats.org/drawingml/2006/main">
            <a:off x="9048750" y="2152650"/>
            <a:ext cx="2209800" cy="2933700"/>
          </a:xfrm>
          <a:prstGeom xmlns:a="http://schemas.openxmlformats.org/drawingml/2006/main" prst="roundRect">
            <a:avLst>
              <a:gd name="adj" fmla="val 3448"/>
            </a:avLst>
          </a:prstGeom>
          <a:solidFill xmlns:a="http://schemas.openxmlformats.org/drawingml/2006/main">
            <a:srgbClr val="F1F3F5"/>
          </a:solidFill>
          <a:ln xmlns:a="http://schemas.openxmlformats.org/drawingml/2006/main" w="0">
            <a:noFill/>
            <a:prstDash val="solid"/>
          </a:ln>
        </p:spPr>
      </p:sp>
      <p:sp>
        <p:nvSpPr>
          <p:cNvPr id="17" name="architecture-card-number-4">
            <a:extLst xmlns:a="http://schemas.openxmlformats.org/drawingml/2006/main">
              <a:ext uri="{FF2B5EF4-FFF2-40B4-BE49-F238E27FC236}">
                <a16:creationId xmlns:a16="http://schemas.microsoft.com/office/drawing/2014/main" id="{79752498-4E51-480E-8DB1-5CEC329D8C38}"/>
              </a:ext>
            </a:extLst>
          </p:cNvPr>
          <p:cNvSpPr>
            <a:spLocks xmlns:a="http://schemas.openxmlformats.org/drawingml/2006/main" noGrp="1"/>
          </p:cNvSpPr>
          <p:nvPr/>
        </p:nvSpPr>
        <p:spPr>
          <a:xfrm xmlns:a="http://schemas.openxmlformats.org/drawingml/2006/main">
            <a:off x="9258300" y="2343150"/>
            <a:ext cx="66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04</a:t>
            </a:r>
          </a:p>
        </p:txBody>
      </p:sp>
      <p:sp>
        <p:nvSpPr>
          <p:cNvPr id="18" name="architecture-card-heading-4">
            <a:extLst xmlns:a="http://schemas.openxmlformats.org/drawingml/2006/main">
              <a:ext uri="{FF2B5EF4-FFF2-40B4-BE49-F238E27FC236}">
                <a16:creationId xmlns:a16="http://schemas.microsoft.com/office/drawing/2014/main" id="{7B296E0A-FEDF-47A9-B191-29550BA56DE9}"/>
              </a:ext>
            </a:extLst>
          </p:cNvPr>
          <p:cNvSpPr>
            <a:spLocks xmlns:a="http://schemas.openxmlformats.org/drawingml/2006/main" noGrp="1"/>
          </p:cNvSpPr>
          <p:nvPr/>
        </p:nvSpPr>
        <p:spPr>
          <a:xfrm xmlns:a="http://schemas.openxmlformats.org/drawingml/2006/main">
            <a:off x="9258300" y="2838450"/>
            <a:ext cx="1790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lstStyle xmlns:a="http://schemas.openxmlformats.org/drawingml/2006/main"/>
          <a:p xmlns:a="http://schemas.openxmlformats.org/drawingml/2006/main">
            <a:pPr algn="l">
              <a:defRPr sz="2025" b="1">
                <a:solidFill>
                  <a:srgbClr val="111827"/>
                </a:solidFill>
                <a:latin typeface="Arial"/>
                <a:ea typeface="Arial"/>
                <a:cs typeface="Arial"/>
              </a:defRPr>
            </a:pPr>
            <a:r>
              <a:rPr sz="2025" b="1">
                <a:solidFill>
                  <a:srgbClr val="111827"/>
                </a:solidFill>
                <a:latin typeface="Arial"/>
                <a:ea typeface="Arial"/>
                <a:cs typeface="Arial"/>
              </a:rPr>
              <a:t>Deliver</a:t>
            </a:r>
          </a:p>
        </p:txBody>
      </p:sp>
      <p:sp>
        <p:nvSpPr>
          <p:cNvPr id="19" name="architecture-card-body-4">
            <a:extLst xmlns:a="http://schemas.openxmlformats.org/drawingml/2006/main">
              <a:ext uri="{FF2B5EF4-FFF2-40B4-BE49-F238E27FC236}">
                <a16:creationId xmlns:a16="http://schemas.microsoft.com/office/drawing/2014/main" id="{AF645684-412E-4156-8F96-100C8B0F6281}"/>
              </a:ext>
            </a:extLst>
          </p:cNvPr>
          <p:cNvSpPr>
            <a:spLocks xmlns:a="http://schemas.openxmlformats.org/drawingml/2006/main" noGrp="1"/>
          </p:cNvSpPr>
          <p:nvPr/>
        </p:nvSpPr>
        <p:spPr>
          <a:xfrm xmlns:a="http://schemas.openxmlformats.org/drawingml/2006/main">
            <a:off x="9258300" y="3505200"/>
            <a:ext cx="17907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lstStyle xmlns:a="http://schemas.openxmlformats.org/drawingml/2006/main"/>
          <a:p xmlns:a="http://schemas.openxmlformats.org/drawingml/2006/main">
            <a:pPr algn="l">
              <a:defRPr sz="1530">
                <a:solidFill>
                  <a:srgbClr val="5B6574"/>
                </a:solidFill>
                <a:latin typeface="Arial"/>
                <a:ea typeface="Arial"/>
                <a:cs typeface="Arial"/>
              </a:defRPr>
            </a:pPr>
            <a:r>
              <a:rPr sz="1530">
                <a:solidFill>
                  <a:srgbClr val="5B6574"/>
                </a:solidFill>
                <a:latin typeface="Arial"/>
                <a:ea typeface="Arial"/>
                <a:cs typeface="Arial"/>
              </a:rPr>
              <a:t>SageMaker scores review risk; QuickSight turns Gold data into business-facing views.</a:t>
            </a:r>
          </a:p>
        </p:txBody>
      </p:sp>
      <p:sp>
        <p:nvSpPr>
          <p:cNvPr id="20" name="architecture-principle">
            <a:extLst xmlns:a="http://schemas.openxmlformats.org/drawingml/2006/main">
              <a:ext uri="{FF2B5EF4-FFF2-40B4-BE49-F238E27FC236}">
                <a16:creationId xmlns:a16="http://schemas.microsoft.com/office/drawing/2014/main" id="{4044AE9D-DEF0-46C7-B295-478B603B9E8B}"/>
              </a:ext>
            </a:extLst>
          </p:cNvPr>
          <p:cNvSpPr>
            <a:spLocks xmlns:a="http://schemas.openxmlformats.org/drawingml/2006/main" noGrp="1"/>
          </p:cNvSpPr>
          <p:nvPr/>
        </p:nvSpPr>
        <p:spPr>
          <a:xfrm xmlns:a="http://schemas.openxmlformats.org/drawingml/2006/main">
            <a:off x="533400" y="5619750"/>
            <a:ext cx="1057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lstStyle xmlns:a="http://schemas.openxmlformats.org/drawingml/2006/main"/>
          <a:p xmlns:a="http://schemas.openxmlformats.org/drawingml/2006/main">
            <a:pPr algn="l">
              <a:defRPr sz="1584" b="1">
                <a:solidFill>
                  <a:srgbClr val="111827"/>
                </a:solidFill>
                <a:latin typeface="Arial"/>
                <a:ea typeface="Arial"/>
                <a:cs typeface="Arial"/>
              </a:defRPr>
            </a:pPr>
            <a:r>
              <a:rPr sz="1584" b="1">
                <a:solidFill>
                  <a:srgbClr val="111827"/>
                </a:solidFill>
                <a:latin typeface="Arial"/>
                <a:ea typeface="Arial"/>
                <a:cs typeface="Arial"/>
              </a:rPr>
              <a:t>Design principle: one S3 lake and one catalog; separate compute for ETL, SQL, ML, and BI.</a:t>
            </a:r>
          </a:p>
        </p:txBody>
      </p:sp>
      <p:sp>
        <p:nvSpPr>
          <p:cNvPr id="21" name="architecture-page">
            <a:extLst xmlns:a="http://schemas.openxmlformats.org/drawingml/2006/main">
              <a:ext uri="{FF2B5EF4-FFF2-40B4-BE49-F238E27FC236}">
                <a16:creationId xmlns:a16="http://schemas.microsoft.com/office/drawing/2014/main" id="{D9F33CA6-7FB1-4ADC-BB7D-9ED0FC01E895}"/>
              </a:ext>
            </a:extLst>
          </p:cNvPr>
          <p:cNvSpPr>
            <a:spLocks xmlns:a="http://schemas.openxmlformats.org/drawingml/2006/main" noGrp="1"/>
          </p:cNvSpPr>
          <p:nvPr/>
        </p:nvSpPr>
        <p:spPr>
          <a:xfrm xmlns:a="http://schemas.openxmlformats.org/drawingml/2006/main">
            <a:off x="11144250" y="63817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lstStyle xmlns:a="http://schemas.openxmlformats.org/drawingml/2006/main"/>
          <a:p xmlns:a="http://schemas.openxmlformats.org/drawingml/2006/main">
            <a:pPr algn="r">
              <a:defRPr sz="775">
                <a:solidFill>
                  <a:srgbClr val="5B6574"/>
                </a:solidFill>
                <a:latin typeface="Arial"/>
                <a:ea typeface="Arial"/>
                <a:cs typeface="Arial"/>
              </a:defRPr>
            </a:pPr>
            <a:r>
              <a:rPr sz="775">
                <a:solidFill>
                  <a:srgbClr val="5B6574"/>
                </a:solidFill>
                <a:latin typeface="Arial"/>
                <a:ea typeface="Arial"/>
                <a:cs typeface="Arial"/>
              </a:rPr>
              <a:t>05</a:t>
            </a:r>
          </a:p>
        </p:txBody>
      </p:sp>
    </p:spTree>
    <p:extLst>
      <p:ext uri="{BB962C8B-B14F-4D97-AF65-F5344CB8AC3E}">
        <p14:creationId xmlns:p14="http://schemas.microsoft.com/office/powerpoint/2010/main" val="213604623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quality-kicker-rebuilt">
            <a:extLst xmlns:a="http://schemas.openxmlformats.org/drawingml/2006/main">
              <a:ext uri="{FF2B5EF4-FFF2-40B4-BE49-F238E27FC236}">
                <a16:creationId xmlns:a16="http://schemas.microsoft.com/office/drawing/2014/main" id="{D54BB16A-5306-47C1-AAD1-879F6DFC987B}"/>
              </a:ext>
            </a:extLst>
          </p:cNvPr>
          <p:cNvSpPr>
            <a:spLocks xmlns:a="http://schemas.openxmlformats.org/drawingml/2006/main" noGrp="1"/>
          </p:cNvSpPr>
          <p:nvPr/>
        </p:nvSpPr>
        <p:spPr>
          <a:xfrm xmlns:a="http://schemas.openxmlformats.org/drawingml/2006/main">
            <a:off x="533400" y="32385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lstStyle xmlns:a="http://schemas.openxmlformats.org/drawingml/2006/main"/>
          <a:p xmlns:a="http://schemas.openxmlformats.org/drawingml/2006/main">
            <a:pPr algn="l">
              <a:defRPr sz="1150" b="1">
                <a:solidFill>
                  <a:srgbClr val="3D8DFF"/>
                </a:solidFill>
                <a:latin typeface="Arial"/>
                <a:ea typeface="Arial"/>
                <a:cs typeface="Arial"/>
              </a:defRPr>
            </a:pPr>
            <a:r>
              <a:rPr sz="1150" b="1">
                <a:solidFill>
                  <a:srgbClr val="3D8DFF"/>
                </a:solidFill>
                <a:latin typeface="Arial"/>
                <a:ea typeface="Arial"/>
                <a:cs typeface="Arial"/>
              </a:rPr>
              <a:t>MGMT 59990 · GROUP 18</a:t>
            </a:r>
          </a:p>
        </p:txBody>
      </p:sp>
      <p:sp>
        <p:nvSpPr>
          <p:cNvPr id="2" name="quality-title-rebuilt">
            <a:extLst xmlns:a="http://schemas.openxmlformats.org/drawingml/2006/main">
              <a:ext uri="{FF2B5EF4-FFF2-40B4-BE49-F238E27FC236}">
                <a16:creationId xmlns:a16="http://schemas.microsoft.com/office/drawing/2014/main" id="{15D01A2E-FAA2-47FD-AA8E-DC54A89BE1C3}"/>
              </a:ext>
            </a:extLst>
          </p:cNvPr>
          <p:cNvSpPr>
            <a:spLocks xmlns:a="http://schemas.openxmlformats.org/drawingml/2006/main" noGrp="1"/>
          </p:cNvSpPr>
          <p:nvPr/>
        </p:nvSpPr>
        <p:spPr>
          <a:xfrm xmlns:a="http://schemas.openxmlformats.org/drawingml/2006/main">
            <a:off x="533400" y="647700"/>
            <a:ext cx="111252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lstStyle xmlns:a="http://schemas.openxmlformats.org/drawingml/2006/main"/>
          <a:p xmlns:a="http://schemas.openxmlformats.org/drawingml/2006/main">
            <a:pPr algn="l">
              <a:defRPr sz="3750" b="1">
                <a:solidFill>
                  <a:srgbClr val="111827"/>
                </a:solidFill>
                <a:latin typeface="Arial"/>
                <a:ea typeface="Arial"/>
                <a:cs typeface="Arial"/>
              </a:defRPr>
            </a:pPr>
            <a:r>
              <a:rPr sz="3750" b="1">
                <a:solidFill>
                  <a:srgbClr val="111827"/>
                </a:solidFill>
                <a:latin typeface="Arial"/>
                <a:ea typeface="Arial"/>
                <a:cs typeface="Arial"/>
              </a:rPr>
              <a:t>Quality gates make each layer auditable</a:t>
            </a:r>
          </a:p>
        </p:txBody>
      </p:sp>
      <p:sp>
        <p:nvSpPr>
          <p:cNvPr id="3" name="quality-connector-rebuilt">
            <a:extLst xmlns:a="http://schemas.openxmlformats.org/drawingml/2006/main">
              <a:ext uri="{FF2B5EF4-FFF2-40B4-BE49-F238E27FC236}">
                <a16:creationId xmlns:a16="http://schemas.microsoft.com/office/drawing/2014/main" id="{0855FE88-1EE6-4223-98A5-2B7D9384D5E7}"/>
              </a:ext>
            </a:extLst>
          </p:cNvPr>
          <p:cNvSpPr>
            <a:spLocks xmlns:a="http://schemas.openxmlformats.org/drawingml/2006/main" noGrp="1"/>
          </p:cNvSpPr>
          <p:nvPr/>
        </p:nvSpPr>
        <p:spPr>
          <a:xfrm xmlns:a="http://schemas.openxmlformats.org/drawingml/2006/main">
            <a:off x="952500" y="3105150"/>
            <a:ext cx="9810750" cy="28575"/>
          </a:xfrm>
          <a:prstGeom xmlns:a="http://schemas.openxmlformats.org/drawingml/2006/main" prst="rect">
            <a:avLst/>
          </a:prstGeom>
          <a:solidFill xmlns:a="http://schemas.openxmlformats.org/drawingml/2006/main">
            <a:srgbClr val="C7CDD4"/>
          </a:solidFill>
          <a:ln xmlns:a="http://schemas.openxmlformats.org/drawingml/2006/main" w="0">
            <a:noFill/>
            <a:prstDash val="solid"/>
          </a:ln>
        </p:spPr>
      </p:sp>
      <p:sp>
        <p:nvSpPr>
          <p:cNvPr id="4" name="architecture-card-1">
            <a:extLst xmlns:a="http://schemas.openxmlformats.org/drawingml/2006/main">
              <a:ext uri="{FF2B5EF4-FFF2-40B4-BE49-F238E27FC236}">
                <a16:creationId xmlns:a16="http://schemas.microsoft.com/office/drawing/2014/main" id="{7C1DF2A8-7FD5-47E8-8997-D7FF64B342E5}"/>
              </a:ext>
            </a:extLst>
          </p:cNvPr>
          <p:cNvSpPr>
            <a:spLocks xmlns:a="http://schemas.openxmlformats.org/drawingml/2006/main" noGrp="1"/>
          </p:cNvSpPr>
          <p:nvPr/>
        </p:nvSpPr>
        <p:spPr>
          <a:xfrm xmlns:a="http://schemas.openxmlformats.org/drawingml/2006/main">
            <a:off x="533400" y="2152650"/>
            <a:ext cx="2209800" cy="2933700"/>
          </a:xfrm>
          <a:prstGeom xmlns:a="http://schemas.openxmlformats.org/drawingml/2006/main" prst="roundRect">
            <a:avLst>
              <a:gd name="adj" fmla="val 3448"/>
            </a:avLst>
          </a:prstGeom>
          <a:solidFill xmlns:a="http://schemas.openxmlformats.org/drawingml/2006/main">
            <a:srgbClr val="F1F3F5"/>
          </a:solidFill>
          <a:ln xmlns:a="http://schemas.openxmlformats.org/drawingml/2006/main" w="0">
            <a:noFill/>
            <a:prstDash val="solid"/>
          </a:ln>
        </p:spPr>
      </p:sp>
      <p:sp>
        <p:nvSpPr>
          <p:cNvPr id="5" name="architecture-card-number-1">
            <a:extLst xmlns:a="http://schemas.openxmlformats.org/drawingml/2006/main">
              <a:ext uri="{FF2B5EF4-FFF2-40B4-BE49-F238E27FC236}">
                <a16:creationId xmlns:a16="http://schemas.microsoft.com/office/drawing/2014/main" id="{731E8355-E751-4F81-B077-93AB1A814FF7}"/>
              </a:ext>
            </a:extLst>
          </p:cNvPr>
          <p:cNvSpPr>
            <a:spLocks xmlns:a="http://schemas.openxmlformats.org/drawingml/2006/main" noGrp="1"/>
          </p:cNvSpPr>
          <p:nvPr/>
        </p:nvSpPr>
        <p:spPr>
          <a:xfrm xmlns:a="http://schemas.openxmlformats.org/drawingml/2006/main">
            <a:off x="742950" y="2343150"/>
            <a:ext cx="66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01</a:t>
            </a:r>
          </a:p>
        </p:txBody>
      </p:sp>
      <p:sp>
        <p:nvSpPr>
          <p:cNvPr id="6" name="architecture-card-heading-1">
            <a:extLst xmlns:a="http://schemas.openxmlformats.org/drawingml/2006/main">
              <a:ext uri="{FF2B5EF4-FFF2-40B4-BE49-F238E27FC236}">
                <a16:creationId xmlns:a16="http://schemas.microsoft.com/office/drawing/2014/main" id="{6436ADD6-EB1C-48C8-99E0-B890BF3477A7}"/>
              </a:ext>
            </a:extLst>
          </p:cNvPr>
          <p:cNvSpPr>
            <a:spLocks xmlns:a="http://schemas.openxmlformats.org/drawingml/2006/main" noGrp="1"/>
          </p:cNvSpPr>
          <p:nvPr/>
        </p:nvSpPr>
        <p:spPr>
          <a:xfrm xmlns:a="http://schemas.openxmlformats.org/drawingml/2006/main">
            <a:off x="742950" y="2838450"/>
            <a:ext cx="1790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lstStyle xmlns:a="http://schemas.openxmlformats.org/drawingml/2006/main"/>
          <a:p xmlns:a="http://schemas.openxmlformats.org/drawingml/2006/main">
            <a:pPr algn="l">
              <a:defRPr sz="2025" b="1">
                <a:solidFill>
                  <a:srgbClr val="111827"/>
                </a:solidFill>
                <a:latin typeface="Arial"/>
                <a:ea typeface="Arial"/>
                <a:cs typeface="Arial"/>
              </a:defRPr>
            </a:pPr>
            <a:r>
              <a:rPr sz="2025" b="1">
                <a:solidFill>
                  <a:srgbClr val="111827"/>
                </a:solidFill>
                <a:latin typeface="Arial"/>
                <a:ea typeface="Arial"/>
                <a:cs typeface="Arial"/>
              </a:rPr>
              <a:t>Land</a:t>
            </a:r>
          </a:p>
        </p:txBody>
      </p:sp>
      <p:sp>
        <p:nvSpPr>
          <p:cNvPr id="7" name="architecture-card-body-1">
            <a:extLst xmlns:a="http://schemas.openxmlformats.org/drawingml/2006/main">
              <a:ext uri="{FF2B5EF4-FFF2-40B4-BE49-F238E27FC236}">
                <a16:creationId xmlns:a16="http://schemas.microsoft.com/office/drawing/2014/main" id="{E28A3A0B-D44E-4556-8B36-F9860AD7C91C}"/>
              </a:ext>
            </a:extLst>
          </p:cNvPr>
          <p:cNvSpPr>
            <a:spLocks xmlns:a="http://schemas.openxmlformats.org/drawingml/2006/main" noGrp="1"/>
          </p:cNvSpPr>
          <p:nvPr/>
        </p:nvSpPr>
        <p:spPr>
          <a:xfrm xmlns:a="http://schemas.openxmlformats.org/drawingml/2006/main">
            <a:off x="742950" y="3505200"/>
            <a:ext cx="17907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lstStyle xmlns:a="http://schemas.openxmlformats.org/drawingml/2006/main"/>
          <a:p xmlns:a="http://schemas.openxmlformats.org/drawingml/2006/main">
            <a:pPr algn="l">
              <a:defRPr sz="1530">
                <a:solidFill>
                  <a:srgbClr val="5B6574"/>
                </a:solidFill>
                <a:latin typeface="Arial"/>
                <a:ea typeface="Arial"/>
                <a:cs typeface="Arial"/>
              </a:defRPr>
            </a:pPr>
            <a:r>
              <a:rPr sz="1530">
                <a:solidFill>
                  <a:srgbClr val="5B6574"/>
                </a:solidFill>
                <a:latin typeface="Arial"/>
                <a:ea typeface="Arial"/>
                <a:cs typeface="Arial"/>
              </a:rPr>
              <a:t>Verify S3 keys, byte sizes, checksums, and expected account/Region.</a:t>
            </a:r>
          </a:p>
        </p:txBody>
      </p:sp>
      <p:sp>
        <p:nvSpPr>
          <p:cNvPr id="8" name="architecture-card-2">
            <a:extLst xmlns:a="http://schemas.openxmlformats.org/drawingml/2006/main">
              <a:ext uri="{FF2B5EF4-FFF2-40B4-BE49-F238E27FC236}">
                <a16:creationId xmlns:a16="http://schemas.microsoft.com/office/drawing/2014/main" id="{70B59A7A-852B-4C31-BE7C-DA4F01609BA0}"/>
              </a:ext>
            </a:extLst>
          </p:cNvPr>
          <p:cNvSpPr>
            <a:spLocks xmlns:a="http://schemas.openxmlformats.org/drawingml/2006/main" noGrp="1"/>
          </p:cNvSpPr>
          <p:nvPr/>
        </p:nvSpPr>
        <p:spPr>
          <a:xfrm xmlns:a="http://schemas.openxmlformats.org/drawingml/2006/main">
            <a:off x="3371850" y="2152650"/>
            <a:ext cx="2209800" cy="2933700"/>
          </a:xfrm>
          <a:prstGeom xmlns:a="http://schemas.openxmlformats.org/drawingml/2006/main" prst="roundRect">
            <a:avLst>
              <a:gd name="adj" fmla="val 3448"/>
            </a:avLst>
          </a:prstGeom>
          <a:solidFill xmlns:a="http://schemas.openxmlformats.org/drawingml/2006/main">
            <a:srgbClr val="F1F3F5"/>
          </a:solidFill>
          <a:ln xmlns:a="http://schemas.openxmlformats.org/drawingml/2006/main" w="0">
            <a:noFill/>
            <a:prstDash val="solid"/>
          </a:ln>
        </p:spPr>
      </p:sp>
      <p:sp>
        <p:nvSpPr>
          <p:cNvPr id="9" name="architecture-card-number-2">
            <a:extLst xmlns:a="http://schemas.openxmlformats.org/drawingml/2006/main">
              <a:ext uri="{FF2B5EF4-FFF2-40B4-BE49-F238E27FC236}">
                <a16:creationId xmlns:a16="http://schemas.microsoft.com/office/drawing/2014/main" id="{8C232BAF-C3A6-409E-9D9C-14B1DBE199B6}"/>
              </a:ext>
            </a:extLst>
          </p:cNvPr>
          <p:cNvSpPr>
            <a:spLocks xmlns:a="http://schemas.openxmlformats.org/drawingml/2006/main" noGrp="1"/>
          </p:cNvSpPr>
          <p:nvPr/>
        </p:nvSpPr>
        <p:spPr>
          <a:xfrm xmlns:a="http://schemas.openxmlformats.org/drawingml/2006/main">
            <a:off x="3581400" y="2343150"/>
            <a:ext cx="66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02</a:t>
            </a:r>
          </a:p>
        </p:txBody>
      </p:sp>
      <p:sp>
        <p:nvSpPr>
          <p:cNvPr id="10" name="architecture-card-heading-2">
            <a:extLst xmlns:a="http://schemas.openxmlformats.org/drawingml/2006/main">
              <a:ext uri="{FF2B5EF4-FFF2-40B4-BE49-F238E27FC236}">
                <a16:creationId xmlns:a16="http://schemas.microsoft.com/office/drawing/2014/main" id="{9C5C8E3B-14D7-4E81-8C0A-61F0DE11A4DC}"/>
              </a:ext>
            </a:extLst>
          </p:cNvPr>
          <p:cNvSpPr>
            <a:spLocks xmlns:a="http://schemas.openxmlformats.org/drawingml/2006/main" noGrp="1"/>
          </p:cNvSpPr>
          <p:nvPr/>
        </p:nvSpPr>
        <p:spPr>
          <a:xfrm xmlns:a="http://schemas.openxmlformats.org/drawingml/2006/main">
            <a:off x="3581400" y="2838450"/>
            <a:ext cx="1790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lstStyle xmlns:a="http://schemas.openxmlformats.org/drawingml/2006/main"/>
          <a:p xmlns:a="http://schemas.openxmlformats.org/drawingml/2006/main">
            <a:pPr algn="l">
              <a:defRPr sz="2025" b="1">
                <a:solidFill>
                  <a:srgbClr val="111827"/>
                </a:solidFill>
                <a:latin typeface="Arial"/>
                <a:ea typeface="Arial"/>
                <a:cs typeface="Arial"/>
              </a:defRPr>
            </a:pPr>
            <a:r>
              <a:rPr sz="2025" b="1">
                <a:solidFill>
                  <a:srgbClr val="111827"/>
                </a:solidFill>
                <a:latin typeface="Arial"/>
                <a:ea typeface="Arial"/>
                <a:cs typeface="Arial"/>
              </a:rPr>
              <a:t>Transform</a:t>
            </a:r>
          </a:p>
        </p:txBody>
      </p:sp>
      <p:sp>
        <p:nvSpPr>
          <p:cNvPr id="11" name="architecture-card-body-2">
            <a:extLst xmlns:a="http://schemas.openxmlformats.org/drawingml/2006/main">
              <a:ext uri="{FF2B5EF4-FFF2-40B4-BE49-F238E27FC236}">
                <a16:creationId xmlns:a16="http://schemas.microsoft.com/office/drawing/2014/main" id="{347661A3-6DC3-4BEE-8C33-885DF2466FC8}"/>
              </a:ext>
            </a:extLst>
          </p:cNvPr>
          <p:cNvSpPr>
            <a:spLocks xmlns:a="http://schemas.openxmlformats.org/drawingml/2006/main" noGrp="1"/>
          </p:cNvSpPr>
          <p:nvPr/>
        </p:nvSpPr>
        <p:spPr>
          <a:xfrm xmlns:a="http://schemas.openxmlformats.org/drawingml/2006/main">
            <a:off x="3581400" y="3505200"/>
            <a:ext cx="17907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lstStyle xmlns:a="http://schemas.openxmlformats.org/drawingml/2006/main"/>
          <a:p xmlns:a="http://schemas.openxmlformats.org/drawingml/2006/main">
            <a:pPr algn="l">
              <a:defRPr sz="1530">
                <a:solidFill>
                  <a:srgbClr val="5B6574"/>
                </a:solidFill>
                <a:latin typeface="Arial"/>
                <a:ea typeface="Arial"/>
                <a:cs typeface="Arial"/>
              </a:defRPr>
            </a:pPr>
            <a:r>
              <a:rPr sz="1530">
                <a:solidFill>
                  <a:srgbClr val="5B6574"/>
                </a:solidFill>
                <a:latin typeface="Arial"/>
                <a:ea typeface="Arial"/>
                <a:cs typeface="Arial"/>
              </a:rPr>
              <a:t>Reject malformed rows, enforce rating bounds, deduplicate, and join metadata.</a:t>
            </a:r>
          </a:p>
        </p:txBody>
      </p:sp>
      <p:sp>
        <p:nvSpPr>
          <p:cNvPr id="12" name="architecture-card-3">
            <a:extLst xmlns:a="http://schemas.openxmlformats.org/drawingml/2006/main">
              <a:ext uri="{FF2B5EF4-FFF2-40B4-BE49-F238E27FC236}">
                <a16:creationId xmlns:a16="http://schemas.microsoft.com/office/drawing/2014/main" id="{2A0B5BEA-D9CA-4627-956A-D32D199DB960}"/>
              </a:ext>
            </a:extLst>
          </p:cNvPr>
          <p:cNvSpPr>
            <a:spLocks xmlns:a="http://schemas.openxmlformats.org/drawingml/2006/main" noGrp="1"/>
          </p:cNvSpPr>
          <p:nvPr/>
        </p:nvSpPr>
        <p:spPr>
          <a:xfrm xmlns:a="http://schemas.openxmlformats.org/drawingml/2006/main">
            <a:off x="6210300" y="2152650"/>
            <a:ext cx="2209800" cy="2933700"/>
          </a:xfrm>
          <a:prstGeom xmlns:a="http://schemas.openxmlformats.org/drawingml/2006/main" prst="roundRect">
            <a:avLst>
              <a:gd name="adj" fmla="val 3448"/>
            </a:avLst>
          </a:prstGeom>
          <a:solidFill xmlns:a="http://schemas.openxmlformats.org/drawingml/2006/main">
            <a:srgbClr val="E7F4ED"/>
          </a:solidFill>
          <a:ln xmlns:a="http://schemas.openxmlformats.org/drawingml/2006/main" w="0">
            <a:noFill/>
            <a:prstDash val="solid"/>
          </a:ln>
        </p:spPr>
      </p:sp>
      <p:sp>
        <p:nvSpPr>
          <p:cNvPr id="13" name="architecture-card-number-3">
            <a:extLst xmlns:a="http://schemas.openxmlformats.org/drawingml/2006/main">
              <a:ext uri="{FF2B5EF4-FFF2-40B4-BE49-F238E27FC236}">
                <a16:creationId xmlns:a16="http://schemas.microsoft.com/office/drawing/2014/main" id="{75BE696C-ECE9-4DB6-9152-3FE4DB367C3A}"/>
              </a:ext>
            </a:extLst>
          </p:cNvPr>
          <p:cNvSpPr>
            <a:spLocks xmlns:a="http://schemas.openxmlformats.org/drawingml/2006/main" noGrp="1"/>
          </p:cNvSpPr>
          <p:nvPr/>
        </p:nvSpPr>
        <p:spPr>
          <a:xfrm xmlns:a="http://schemas.openxmlformats.org/drawingml/2006/main">
            <a:off x="6419850" y="2343150"/>
            <a:ext cx="66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03</a:t>
            </a:r>
          </a:p>
        </p:txBody>
      </p:sp>
      <p:sp>
        <p:nvSpPr>
          <p:cNvPr id="14" name="architecture-card-heading-3">
            <a:extLst xmlns:a="http://schemas.openxmlformats.org/drawingml/2006/main">
              <a:ext uri="{FF2B5EF4-FFF2-40B4-BE49-F238E27FC236}">
                <a16:creationId xmlns:a16="http://schemas.microsoft.com/office/drawing/2014/main" id="{2E8A4B06-D14F-4F2B-BE38-9045E7D27DE3}"/>
              </a:ext>
            </a:extLst>
          </p:cNvPr>
          <p:cNvSpPr>
            <a:spLocks xmlns:a="http://schemas.openxmlformats.org/drawingml/2006/main" noGrp="1"/>
          </p:cNvSpPr>
          <p:nvPr/>
        </p:nvSpPr>
        <p:spPr>
          <a:xfrm xmlns:a="http://schemas.openxmlformats.org/drawingml/2006/main">
            <a:off x="6419850" y="2838450"/>
            <a:ext cx="1790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lstStyle xmlns:a="http://schemas.openxmlformats.org/drawingml/2006/main"/>
          <a:p xmlns:a="http://schemas.openxmlformats.org/drawingml/2006/main">
            <a:pPr algn="l">
              <a:defRPr sz="2025" b="1">
                <a:solidFill>
                  <a:srgbClr val="111827"/>
                </a:solidFill>
                <a:latin typeface="Arial"/>
                <a:ea typeface="Arial"/>
                <a:cs typeface="Arial"/>
              </a:defRPr>
            </a:pPr>
            <a:r>
              <a:rPr sz="2025" b="1">
                <a:solidFill>
                  <a:srgbClr val="111827"/>
                </a:solidFill>
                <a:latin typeface="Arial"/>
                <a:ea typeface="Arial"/>
                <a:cs typeface="Arial"/>
              </a:rPr>
              <a:t>Reconcile</a:t>
            </a:r>
          </a:p>
        </p:txBody>
      </p:sp>
      <p:sp>
        <p:nvSpPr>
          <p:cNvPr id="15" name="architecture-card-body-3">
            <a:extLst xmlns:a="http://schemas.openxmlformats.org/drawingml/2006/main">
              <a:ext uri="{FF2B5EF4-FFF2-40B4-BE49-F238E27FC236}">
                <a16:creationId xmlns:a16="http://schemas.microsoft.com/office/drawing/2014/main" id="{EB54C32A-DE3F-42EC-81AA-92E340F01283}"/>
              </a:ext>
            </a:extLst>
          </p:cNvPr>
          <p:cNvSpPr>
            <a:spLocks xmlns:a="http://schemas.openxmlformats.org/drawingml/2006/main" noGrp="1"/>
          </p:cNvSpPr>
          <p:nvPr/>
        </p:nvSpPr>
        <p:spPr>
          <a:xfrm xmlns:a="http://schemas.openxmlformats.org/drawingml/2006/main">
            <a:off x="6419850" y="3505200"/>
            <a:ext cx="17907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lstStyle xmlns:a="http://schemas.openxmlformats.org/drawingml/2006/main"/>
          <a:p xmlns:a="http://schemas.openxmlformats.org/drawingml/2006/main">
            <a:pPr algn="l">
              <a:defRPr sz="1530">
                <a:solidFill>
                  <a:srgbClr val="5B6574"/>
                </a:solidFill>
                <a:latin typeface="Arial"/>
                <a:ea typeface="Arial"/>
                <a:cs typeface="Arial"/>
              </a:defRPr>
            </a:pPr>
            <a:r>
              <a:rPr sz="1530">
                <a:solidFill>
                  <a:srgbClr val="5B6574"/>
                </a:solidFill>
                <a:latin typeface="Arial"/>
                <a:ea typeface="Arial"/>
                <a:cs typeface="Arial"/>
              </a:rPr>
              <a:t>Athena checks 66,004 fact rows, 39,476 products, partitions, and nulls.</a:t>
            </a:r>
          </a:p>
        </p:txBody>
      </p:sp>
      <p:sp>
        <p:nvSpPr>
          <p:cNvPr id="16" name="architecture-card-4">
            <a:extLst xmlns:a="http://schemas.openxmlformats.org/drawingml/2006/main">
              <a:ext uri="{FF2B5EF4-FFF2-40B4-BE49-F238E27FC236}">
                <a16:creationId xmlns:a16="http://schemas.microsoft.com/office/drawing/2014/main" id="{5CADC286-317D-47F9-9EED-7C6C75807F68}"/>
              </a:ext>
            </a:extLst>
          </p:cNvPr>
          <p:cNvSpPr>
            <a:spLocks xmlns:a="http://schemas.openxmlformats.org/drawingml/2006/main" noGrp="1"/>
          </p:cNvSpPr>
          <p:nvPr/>
        </p:nvSpPr>
        <p:spPr>
          <a:xfrm xmlns:a="http://schemas.openxmlformats.org/drawingml/2006/main">
            <a:off x="9048750" y="2152650"/>
            <a:ext cx="2209800" cy="2933700"/>
          </a:xfrm>
          <a:prstGeom xmlns:a="http://schemas.openxmlformats.org/drawingml/2006/main" prst="roundRect">
            <a:avLst>
              <a:gd name="adj" fmla="val 3448"/>
            </a:avLst>
          </a:prstGeom>
          <a:solidFill xmlns:a="http://schemas.openxmlformats.org/drawingml/2006/main">
            <a:srgbClr val="F1F3F5"/>
          </a:solidFill>
          <a:ln xmlns:a="http://schemas.openxmlformats.org/drawingml/2006/main" w="0">
            <a:noFill/>
            <a:prstDash val="solid"/>
          </a:ln>
        </p:spPr>
      </p:sp>
      <p:sp>
        <p:nvSpPr>
          <p:cNvPr id="17" name="architecture-card-number-4">
            <a:extLst xmlns:a="http://schemas.openxmlformats.org/drawingml/2006/main">
              <a:ext uri="{FF2B5EF4-FFF2-40B4-BE49-F238E27FC236}">
                <a16:creationId xmlns:a16="http://schemas.microsoft.com/office/drawing/2014/main" id="{D2AAAD18-6C10-40FE-9077-262C3AD45FA6}"/>
              </a:ext>
            </a:extLst>
          </p:cNvPr>
          <p:cNvSpPr>
            <a:spLocks xmlns:a="http://schemas.openxmlformats.org/drawingml/2006/main" noGrp="1"/>
          </p:cNvSpPr>
          <p:nvPr/>
        </p:nvSpPr>
        <p:spPr>
          <a:xfrm xmlns:a="http://schemas.openxmlformats.org/drawingml/2006/main">
            <a:off x="9258300" y="2343150"/>
            <a:ext cx="66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04</a:t>
            </a:r>
          </a:p>
        </p:txBody>
      </p:sp>
      <p:sp>
        <p:nvSpPr>
          <p:cNvPr id="18" name="architecture-card-heading-4">
            <a:extLst xmlns:a="http://schemas.openxmlformats.org/drawingml/2006/main">
              <a:ext uri="{FF2B5EF4-FFF2-40B4-BE49-F238E27FC236}">
                <a16:creationId xmlns:a16="http://schemas.microsoft.com/office/drawing/2014/main" id="{A9401D33-B8C1-452F-BBD6-ECBF4326FC14}"/>
              </a:ext>
            </a:extLst>
          </p:cNvPr>
          <p:cNvSpPr>
            <a:spLocks xmlns:a="http://schemas.openxmlformats.org/drawingml/2006/main" noGrp="1"/>
          </p:cNvSpPr>
          <p:nvPr/>
        </p:nvSpPr>
        <p:spPr>
          <a:xfrm xmlns:a="http://schemas.openxmlformats.org/drawingml/2006/main">
            <a:off x="9258300" y="2838450"/>
            <a:ext cx="1790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lstStyle xmlns:a="http://schemas.openxmlformats.org/drawingml/2006/main"/>
          <a:p xmlns:a="http://schemas.openxmlformats.org/drawingml/2006/main">
            <a:pPr algn="l">
              <a:defRPr sz="2025" b="1">
                <a:solidFill>
                  <a:srgbClr val="111827"/>
                </a:solidFill>
                <a:latin typeface="Arial"/>
                <a:ea typeface="Arial"/>
                <a:cs typeface="Arial"/>
              </a:defRPr>
            </a:pPr>
            <a:r>
              <a:rPr sz="2025" b="1">
                <a:solidFill>
                  <a:srgbClr val="111827"/>
                </a:solidFill>
                <a:latin typeface="Arial"/>
                <a:ea typeface="Arial"/>
                <a:cs typeface="Arial"/>
              </a:rPr>
              <a:t>Isolate</a:t>
            </a:r>
          </a:p>
        </p:txBody>
      </p:sp>
      <p:sp>
        <p:nvSpPr>
          <p:cNvPr id="19" name="architecture-card-body-4">
            <a:extLst xmlns:a="http://schemas.openxmlformats.org/drawingml/2006/main">
              <a:ext uri="{FF2B5EF4-FFF2-40B4-BE49-F238E27FC236}">
                <a16:creationId xmlns:a16="http://schemas.microsoft.com/office/drawing/2014/main" id="{75722129-B6AA-42A1-BE19-653C293EEC57}"/>
              </a:ext>
            </a:extLst>
          </p:cNvPr>
          <p:cNvSpPr>
            <a:spLocks xmlns:a="http://schemas.openxmlformats.org/drawingml/2006/main" noGrp="1"/>
          </p:cNvSpPr>
          <p:nvPr/>
        </p:nvSpPr>
        <p:spPr>
          <a:xfrm xmlns:a="http://schemas.openxmlformats.org/drawingml/2006/main">
            <a:off x="9258300" y="3505200"/>
            <a:ext cx="17907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lstStyle xmlns:a="http://schemas.openxmlformats.org/drawingml/2006/main"/>
          <a:p xmlns:a="http://schemas.openxmlformats.org/drawingml/2006/main">
            <a:pPr algn="l">
              <a:defRPr sz="1530">
                <a:solidFill>
                  <a:srgbClr val="5B6574"/>
                </a:solidFill>
                <a:latin typeface="Arial"/>
                <a:ea typeface="Arial"/>
                <a:cs typeface="Arial"/>
              </a:defRPr>
            </a:pPr>
            <a:r>
              <a:rPr sz="1530">
                <a:solidFill>
                  <a:srgbClr val="5B6574"/>
                </a:solidFill>
                <a:latin typeface="Arial"/>
                <a:ea typeface="Arial"/>
                <a:cs typeface="Arial"/>
              </a:rPr>
              <a:t>Hash users into train, validation, and test so one user never crosses splits.</a:t>
            </a:r>
          </a:p>
        </p:txBody>
      </p:sp>
      <p:sp>
        <p:nvSpPr>
          <p:cNvPr id="20" name="quality-principle-rebuilt">
            <a:extLst xmlns:a="http://schemas.openxmlformats.org/drawingml/2006/main">
              <a:ext uri="{FF2B5EF4-FFF2-40B4-BE49-F238E27FC236}">
                <a16:creationId xmlns:a16="http://schemas.microsoft.com/office/drawing/2014/main" id="{45F480D8-50F4-4107-AC47-939BB2980750}"/>
              </a:ext>
            </a:extLst>
          </p:cNvPr>
          <p:cNvSpPr>
            <a:spLocks xmlns:a="http://schemas.openxmlformats.org/drawingml/2006/main" noGrp="1"/>
          </p:cNvSpPr>
          <p:nvPr/>
        </p:nvSpPr>
        <p:spPr>
          <a:xfrm xmlns:a="http://schemas.openxmlformats.org/drawingml/2006/main">
            <a:off x="533400" y="5619750"/>
            <a:ext cx="1057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lstStyle xmlns:a="http://schemas.openxmlformats.org/drawingml/2006/main"/>
          <a:p xmlns:a="http://schemas.openxmlformats.org/drawingml/2006/main">
            <a:pPr algn="l">
              <a:defRPr sz="1584" b="1">
                <a:solidFill>
                  <a:srgbClr val="111827"/>
                </a:solidFill>
                <a:latin typeface="Arial"/>
                <a:ea typeface="Arial"/>
                <a:cs typeface="Arial"/>
              </a:defRPr>
            </a:pPr>
            <a:r>
              <a:rPr sz="1584" b="1">
                <a:solidFill>
                  <a:srgbClr val="111827"/>
                </a:solidFill>
                <a:latin typeface="Arial"/>
                <a:ea typeface="Arial"/>
                <a:cs typeface="Arial"/>
              </a:rPr>
              <a:t>Promotion rule: a failed check stops the workflow; no downstream claim is made without matching evidence.</a:t>
            </a:r>
          </a:p>
        </p:txBody>
      </p:sp>
      <p:sp>
        <p:nvSpPr>
          <p:cNvPr id="21" name="quality-page-rebuilt">
            <a:extLst xmlns:a="http://schemas.openxmlformats.org/drawingml/2006/main">
              <a:ext uri="{FF2B5EF4-FFF2-40B4-BE49-F238E27FC236}">
                <a16:creationId xmlns:a16="http://schemas.microsoft.com/office/drawing/2014/main" id="{2E023585-0183-4309-A8AF-B87C675C9541}"/>
              </a:ext>
            </a:extLst>
          </p:cNvPr>
          <p:cNvSpPr>
            <a:spLocks xmlns:a="http://schemas.openxmlformats.org/drawingml/2006/main" noGrp="1"/>
          </p:cNvSpPr>
          <p:nvPr/>
        </p:nvSpPr>
        <p:spPr>
          <a:xfrm xmlns:a="http://schemas.openxmlformats.org/drawingml/2006/main">
            <a:off x="11144250" y="63817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lstStyle xmlns:a="http://schemas.openxmlformats.org/drawingml/2006/main"/>
          <a:p xmlns:a="http://schemas.openxmlformats.org/drawingml/2006/main">
            <a:pPr algn="r">
              <a:defRPr sz="775">
                <a:solidFill>
                  <a:srgbClr val="5B6574"/>
                </a:solidFill>
                <a:latin typeface="Arial"/>
                <a:ea typeface="Arial"/>
                <a:cs typeface="Arial"/>
              </a:defRPr>
            </a:pPr>
            <a:r>
              <a:rPr sz="775">
                <a:solidFill>
                  <a:srgbClr val="5B6574"/>
                </a:solidFill>
                <a:latin typeface="Arial"/>
                <a:ea typeface="Arial"/>
                <a:cs typeface="Arial"/>
              </a:rPr>
              <a:t>06</a:t>
            </a:r>
          </a:p>
        </p:txBody>
      </p:sp>
    </p:spTree>
    <p:extLst>
      <p:ext uri="{BB962C8B-B14F-4D97-AF65-F5344CB8AC3E}">
        <p14:creationId xmlns:p14="http://schemas.microsoft.com/office/powerpoint/2010/main" val="154327053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7" name="Google Shape;127;p8">
            <a:extLst xmlns:a="http://schemas.openxmlformats.org/drawingml/2006/main">
              <a:ext uri="{FF2B5EF4-FFF2-40B4-BE49-F238E27FC236}">
                <a16:creationId xmlns:a16="http://schemas.microsoft.com/office/drawing/2014/main" id="{44AC110A-44AC-4D6B-A035-7890CCF1BC97}"/>
              </a:ext>
            </a:extLst>
          </p:cNvPr>
          <p:cNvSpPr>
            <a:spLocks xmlns:a="http://schemas.openxmlformats.org/drawingml/2006/main" noGrp="1"/>
          </p:cNvSpPr>
          <p:nvPr/>
        </p:nvSpPr>
        <p:spPr>
          <a:xfrm xmlns:a="http://schemas.openxmlformats.org/drawingml/2006/main">
            <a:off x="533400" y="323850"/>
            <a:ext cx="4381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150" b="1">
                <a:solidFill>
                  <a:srgbClr val="3D8DFF"/>
                </a:solidFill>
                <a:latin typeface="Arial"/>
                <a:ea typeface="Arial"/>
                <a:cs typeface="Arial"/>
              </a:rPr>
              <a:t>MGMT 59990 · GROUP 18</a:t>
            </a:r>
            <a:endParaRPr/>
          </a:p>
        </p:txBody>
      </p:sp>
      <p:sp>
        <p:nvSpPr>
          <p:cNvPr id="128" name="Google Shape;128;p8">
            <a:extLst xmlns:a="http://schemas.openxmlformats.org/drawingml/2006/main">
              <a:ext uri="{FF2B5EF4-FFF2-40B4-BE49-F238E27FC236}">
                <a16:creationId xmlns:a16="http://schemas.microsoft.com/office/drawing/2014/main" id="{993F668B-D3C3-4FA6-B2E5-57F293CCC3F7}"/>
              </a:ext>
            </a:extLst>
          </p:cNvPr>
          <p:cNvSpPr>
            <a:spLocks xmlns:a="http://schemas.openxmlformats.org/drawingml/2006/main" noGrp="1"/>
          </p:cNvSpPr>
          <p:nvPr/>
        </p:nvSpPr>
        <p:spPr>
          <a:xfrm xmlns:a="http://schemas.openxmlformats.org/drawingml/2006/main">
            <a:off x="533400" y="647700"/>
            <a:ext cx="1112520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3306" b="1">
                <a:solidFill>
                  <a:srgbClr val="111827"/>
                </a:solidFill>
                <a:latin typeface="Arial"/>
                <a:ea typeface="Arial"/>
                <a:cs typeface="Arial"/>
              </a:rPr>
              <a:t>Positive reviews dominate, so low-rating recall matters</a:t>
            </a:r>
            <a:endParaRPr/>
          </a:p>
        </p:txBody>
      </p:sp>
      <p:sp>
        <p:nvSpPr>
          <p:cNvPr id="129" name="Google Shape;129;p8">
            <a:extLst xmlns:a="http://schemas.openxmlformats.org/drawingml/2006/main">
              <a:ext uri="{FF2B5EF4-FFF2-40B4-BE49-F238E27FC236}">
                <a16:creationId xmlns:a16="http://schemas.microsoft.com/office/drawing/2014/main" id="{D0FA5548-FCCC-4B65-B96A-266C7FC5B679}"/>
              </a:ext>
            </a:extLst>
          </p:cNvPr>
          <p:cNvSpPr>
            <a:spLocks xmlns:a="http://schemas.openxmlformats.org/drawingml/2006/main" noGrp="1"/>
          </p:cNvSpPr>
          <p:nvPr/>
        </p:nvSpPr>
        <p:spPr>
          <a:xfrm xmlns:a="http://schemas.openxmlformats.org/drawingml/2006/main">
            <a:off x="11144250" y="6381750"/>
            <a:ext cx="5143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r">
              <a:spcBef>
                <a:spcPts val="0"/>
              </a:spcBef>
              <a:spcAft>
                <a:spcPts val="0"/>
              </a:spcAft>
              <a:buNone/>
            </a:pPr>
            <a:r>
              <a:rPr sz="775">
                <a:solidFill>
                  <a:srgbClr val="5B6574"/>
                </a:solidFill>
                <a:latin typeface="Arial"/>
                <a:ea typeface="Arial"/>
                <a:cs typeface="Arial"/>
              </a:rPr>
              <a:t>07</a:t>
            </a:r>
            <a:endParaRPr/>
          </a:p>
        </p:txBody>
      </p:sp>
      <p:pic>
        <p:nvPicPr>
          <p:cNvPr id="140" name="Google Shape;130;p8"/>
          <p:cNvPicPr>
            <a:picLocks xmlns:a="http://schemas.openxmlformats.org/drawingml/2006/main" noChangeAspect="1"/>
          </p:cNvPicPr>
          <p:nvPr/>
        </p:nvPicPr>
        <p:blipFill rotWithShape="1">
          <a:blip xmlns:r="http://schemas.openxmlformats.org/officeDocument/2006/relationships" xmlns:a="http://schemas.openxmlformats.org/drawingml/2006/main" r:embed="R2b4714a416f5496b">
            <a:alphaModFix/>
          </a:blip>
          <a:srcRect xmlns:a="http://schemas.openxmlformats.org/drawingml/2006/main" l="0" t="0" r="0" b="0"/>
          <a:stretch xmlns:a="http://schemas.openxmlformats.org/drawingml/2006/main"/>
        </p:blipFill>
        <p:spPr>
          <a:xfrm xmlns:a="http://schemas.openxmlformats.org/drawingml/2006/main">
            <a:off x="533400" y="1752600"/>
            <a:ext cx="6762750" cy="4095750"/>
          </a:xfrm>
          <a:prstGeom xmlns:a="http://schemas.openxmlformats.org/drawingml/2006/main" prst="rect">
            <a:avLst/>
          </a:prstGeom>
          <a:ln xmlns:a="http://schemas.openxmlformats.org/drawingml/2006/main">
            <a:noFill/>
          </a:ln>
        </p:spPr>
      </p:pic>
      <p:sp>
        <p:nvSpPr>
          <p:cNvPr id="131" name="Google Shape;131;p8">
            <a:extLst xmlns:a="http://schemas.openxmlformats.org/drawingml/2006/main">
              <a:ext uri="{FF2B5EF4-FFF2-40B4-BE49-F238E27FC236}">
                <a16:creationId xmlns:a16="http://schemas.microsoft.com/office/drawing/2014/main" id="{FCF8ECFD-DF60-46E9-8386-1F9CB8642C07}"/>
              </a:ext>
            </a:extLst>
          </p:cNvPr>
          <p:cNvSpPr>
            <a:spLocks xmlns:a="http://schemas.openxmlformats.org/drawingml/2006/main" noGrp="1"/>
          </p:cNvSpPr>
          <p:nvPr/>
        </p:nvSpPr>
        <p:spPr>
          <a:xfrm xmlns:a="http://schemas.openxmlformats.org/drawingml/2006/main">
            <a:off x="8001000" y="2038350"/>
            <a:ext cx="3048000" cy="87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4800" b="1">
                <a:solidFill>
                  <a:srgbClr val="B42318"/>
                </a:solidFill>
                <a:latin typeface="Arial"/>
                <a:ea typeface="Arial"/>
                <a:cs typeface="Arial"/>
              </a:rPr>
              <a:t>17.28%</a:t>
            </a:r>
            <a:endParaRPr/>
          </a:p>
        </p:txBody>
      </p:sp>
      <p:sp>
        <p:nvSpPr>
          <p:cNvPr id="132" name="Google Shape;132;p8">
            <a:extLst xmlns:a="http://schemas.openxmlformats.org/drawingml/2006/main">
              <a:ext uri="{FF2B5EF4-FFF2-40B4-BE49-F238E27FC236}">
                <a16:creationId xmlns:a16="http://schemas.microsoft.com/office/drawing/2014/main" id="{55B12CCE-D290-478F-B8B3-767FC4A32811}"/>
              </a:ext>
            </a:extLst>
          </p:cNvPr>
          <p:cNvSpPr>
            <a:spLocks xmlns:a="http://schemas.openxmlformats.org/drawingml/2006/main" noGrp="1"/>
          </p:cNvSpPr>
          <p:nvPr/>
        </p:nvSpPr>
        <p:spPr>
          <a:xfrm xmlns:a="http://schemas.openxmlformats.org/drawingml/2006/main">
            <a:off x="8001000" y="3009900"/>
            <a:ext cx="314325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637">
                <a:solidFill>
                  <a:srgbClr val="111827"/>
                </a:solidFill>
                <a:latin typeface="Arial"/>
                <a:ea typeface="Arial"/>
                <a:cs typeface="Arial"/>
              </a:rPr>
              <a:t>of sampled reviews are 1–2 stars</a:t>
            </a:r>
            <a:endParaRPr/>
          </a:p>
        </p:txBody>
      </p:sp>
      <p:sp>
        <p:nvSpPr>
          <p:cNvPr id="133" name="Google Shape;133;p8">
            <a:extLst xmlns:a="http://schemas.openxmlformats.org/drawingml/2006/main">
              <a:ext uri="{FF2B5EF4-FFF2-40B4-BE49-F238E27FC236}">
                <a16:creationId xmlns:a16="http://schemas.microsoft.com/office/drawing/2014/main" id="{F91FBCE6-2343-4EDD-A15D-576DDCB6EA4B}"/>
              </a:ext>
            </a:extLst>
          </p:cNvPr>
          <p:cNvSpPr>
            <a:spLocks xmlns:a="http://schemas.openxmlformats.org/drawingml/2006/main" noGrp="1"/>
          </p:cNvSpPr>
          <p:nvPr/>
        </p:nvSpPr>
        <p:spPr>
          <a:xfrm xmlns:a="http://schemas.openxmlformats.org/drawingml/2006/main">
            <a:off x="8001000" y="3886200"/>
            <a:ext cx="2952750" cy="19050"/>
          </a:xfrm>
          <a:prstGeom xmlns:a="http://schemas.openxmlformats.org/drawingml/2006/main" prst="rect">
            <a:avLst/>
          </a:prstGeom>
          <a:solidFill xmlns:a="http://schemas.openxmlformats.org/drawingml/2006/main">
            <a:srgbClr val="C7CCD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4" name="Google Shape;134;p8">
            <a:extLst xmlns:a="http://schemas.openxmlformats.org/drawingml/2006/main">
              <a:ext uri="{FF2B5EF4-FFF2-40B4-BE49-F238E27FC236}">
                <a16:creationId xmlns:a16="http://schemas.microsoft.com/office/drawing/2014/main" id="{8F2ED9D1-49FA-4CED-8538-D9752016883F}"/>
              </a:ext>
            </a:extLst>
          </p:cNvPr>
          <p:cNvSpPr>
            <a:spLocks xmlns:a="http://schemas.openxmlformats.org/drawingml/2006/main" noGrp="1"/>
          </p:cNvSpPr>
          <p:nvPr/>
        </p:nvSpPr>
        <p:spPr>
          <a:xfrm xmlns:a="http://schemas.openxmlformats.org/drawingml/2006/main">
            <a:off x="8001000" y="4248150"/>
            <a:ext cx="3143250" cy="87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800" b="1">
                <a:solidFill>
                  <a:srgbClr val="5B6574"/>
                </a:solidFill>
                <a:latin typeface="Arial"/>
                <a:ea typeface="Arial"/>
                <a:cs typeface="Arial"/>
              </a:rPr>
              <a:t>11,408 low-rating reviews</a:t>
            </a:r>
            <a:endParaRPr/>
          </a:p>
          <a:p xmlns:a="http://schemas.openxmlformats.org/drawingml/2006/main">
            <a:pPr marL="0" marR="0" lvl="0" indent="0" algn="l">
              <a:spcBef>
                <a:spcPts val="0"/>
              </a:spcBef>
              <a:spcAft>
                <a:spcPts val="0"/>
              </a:spcAft>
              <a:buNone/>
            </a:pPr>
            <a:r>
              <a:rPr sz="1800" b="1">
                <a:solidFill>
                  <a:srgbClr val="5B6574"/>
                </a:solidFill>
                <a:latin typeface="Arial"/>
                <a:ea typeface="Arial"/>
                <a:cs typeface="Arial"/>
              </a:rPr>
              <a:t>42,153 five-star reviews</a:t>
            </a:r>
            <a:endParaRPr/>
          </a:p>
        </p:txBody>
      </p:sp>
      <p:sp>
        <p:nvSpPr>
          <p:cNvPr id="135" name="Google Shape;135;p8">
            <a:extLst xmlns:a="http://schemas.openxmlformats.org/drawingml/2006/main">
              <a:ext uri="{FF2B5EF4-FFF2-40B4-BE49-F238E27FC236}">
                <a16:creationId xmlns:a16="http://schemas.microsoft.com/office/drawing/2014/main" id="{8362C853-AFF6-4535-95D7-2E9E3E9E053F}"/>
              </a:ext>
            </a:extLst>
          </p:cNvPr>
          <p:cNvSpPr>
            <a:spLocks xmlns:a="http://schemas.openxmlformats.org/drawingml/2006/main" noGrp="1"/>
          </p:cNvSpPr>
          <p:nvPr/>
        </p:nvSpPr>
        <p:spPr>
          <a:xfrm xmlns:a="http://schemas.openxmlformats.org/drawingml/2006/main">
            <a:off x="8001000" y="5372100"/>
            <a:ext cx="32385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300">
                <a:solidFill>
                  <a:srgbClr val="5B6574"/>
                </a:solidFill>
                <a:latin typeface="Arial"/>
                <a:ea typeface="Arial"/>
                <a:cs typeface="Arial"/>
              </a:rPr>
              <a:t>A majority-class guess already achieves 82.19% accuracy—so accuracy alone would be misleading.</a:t>
            </a:r>
            <a:endParaRPr/>
          </a:p>
        </p:txBody>
      </p:sp>
    </p:spTree>
    <p:extLst>
      <p:ext uri="{BB962C8B-B14F-4D97-AF65-F5344CB8AC3E}">
        <p14:creationId xmlns:p14="http://schemas.microsoft.com/office/powerpoint/2010/main" val="30526639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 name="Google Shape;141;p9">
            <a:extLst xmlns:a="http://schemas.openxmlformats.org/drawingml/2006/main">
              <a:ext uri="{FF2B5EF4-FFF2-40B4-BE49-F238E27FC236}">
                <a16:creationId xmlns:a16="http://schemas.microsoft.com/office/drawing/2014/main" id="{0C531911-0B46-4A75-9C66-90606AB4915B}"/>
              </a:ext>
            </a:extLst>
          </p:cNvPr>
          <p:cNvSpPr>
            <a:spLocks xmlns:a="http://schemas.openxmlformats.org/drawingml/2006/main" noGrp="1"/>
          </p:cNvSpPr>
          <p:nvPr/>
        </p:nvSpPr>
        <p:spPr>
          <a:xfrm xmlns:a="http://schemas.openxmlformats.org/drawingml/2006/main">
            <a:off x="533400" y="323850"/>
            <a:ext cx="4381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150" b="1">
                <a:solidFill>
                  <a:srgbClr val="3D8DFF"/>
                </a:solidFill>
                <a:latin typeface="Arial"/>
                <a:ea typeface="Arial"/>
                <a:cs typeface="Arial"/>
              </a:rPr>
              <a:t>MGMT 59990 · GROUP 18</a:t>
            </a:r>
            <a:endParaRPr/>
          </a:p>
        </p:txBody>
      </p:sp>
      <p:sp>
        <p:nvSpPr>
          <p:cNvPr id="142" name="Google Shape;142;p9">
            <a:extLst xmlns:a="http://schemas.openxmlformats.org/drawingml/2006/main">
              <a:ext uri="{FF2B5EF4-FFF2-40B4-BE49-F238E27FC236}">
                <a16:creationId xmlns:a16="http://schemas.microsoft.com/office/drawing/2014/main" id="{2CAD659F-FAF9-4256-BB41-165151517D96}"/>
              </a:ext>
            </a:extLst>
          </p:cNvPr>
          <p:cNvSpPr>
            <a:spLocks xmlns:a="http://schemas.openxmlformats.org/drawingml/2006/main" noGrp="1"/>
          </p:cNvSpPr>
          <p:nvPr/>
        </p:nvSpPr>
        <p:spPr>
          <a:xfrm xmlns:a="http://schemas.openxmlformats.org/drawingml/2006/main">
            <a:off x="533400" y="647700"/>
            <a:ext cx="1112520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3750" b="1">
                <a:solidFill>
                  <a:srgbClr val="111827"/>
                </a:solidFill>
                <a:latin typeface="Arial"/>
                <a:ea typeface="Arial"/>
                <a:cs typeface="Arial"/>
              </a:rPr>
              <a:t>The model learns language linked to low ratings</a:t>
            </a:r>
            <a:endParaRPr/>
          </a:p>
        </p:txBody>
      </p:sp>
      <p:sp>
        <p:nvSpPr>
          <p:cNvPr id="143" name="Google Shape;143;p9">
            <a:extLst xmlns:a="http://schemas.openxmlformats.org/drawingml/2006/main">
              <a:ext uri="{FF2B5EF4-FFF2-40B4-BE49-F238E27FC236}">
                <a16:creationId xmlns:a16="http://schemas.microsoft.com/office/drawing/2014/main" id="{9DDABA39-34BD-4FBB-BDE8-1D4FDB7E579E}"/>
              </a:ext>
            </a:extLst>
          </p:cNvPr>
          <p:cNvSpPr>
            <a:spLocks xmlns:a="http://schemas.openxmlformats.org/drawingml/2006/main" noGrp="1"/>
          </p:cNvSpPr>
          <p:nvPr/>
        </p:nvSpPr>
        <p:spPr>
          <a:xfrm xmlns:a="http://schemas.openxmlformats.org/drawingml/2006/main">
            <a:off x="11144250" y="6381750"/>
            <a:ext cx="5143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r">
              <a:spcBef>
                <a:spcPts val="0"/>
              </a:spcBef>
              <a:spcAft>
                <a:spcPts val="0"/>
              </a:spcAft>
              <a:buNone/>
            </a:pPr>
            <a:r>
              <a:rPr sz="775">
                <a:solidFill>
                  <a:srgbClr val="5B6574"/>
                </a:solidFill>
                <a:latin typeface="Arial"/>
                <a:ea typeface="Arial"/>
                <a:cs typeface="Arial"/>
              </a:rPr>
              <a:t>08</a:t>
            </a:r>
            <a:endParaRPr/>
          </a:p>
        </p:txBody>
      </p:sp>
      <p:sp>
        <p:nvSpPr>
          <p:cNvPr id="144" name="Google Shape;144;p9">
            <a:extLst xmlns:a="http://schemas.openxmlformats.org/drawingml/2006/main">
              <a:ext uri="{FF2B5EF4-FFF2-40B4-BE49-F238E27FC236}">
                <a16:creationId xmlns:a16="http://schemas.microsoft.com/office/drawing/2014/main" id="{5AC019F0-4488-4041-BAE8-BB2162528168}"/>
              </a:ext>
            </a:extLst>
          </p:cNvPr>
          <p:cNvSpPr>
            <a:spLocks xmlns:a="http://schemas.openxmlformats.org/drawingml/2006/main" noGrp="1"/>
          </p:cNvSpPr>
          <p:nvPr/>
        </p:nvSpPr>
        <p:spPr>
          <a:xfrm xmlns:a="http://schemas.openxmlformats.org/drawingml/2006/main">
            <a:off x="533400" y="1428750"/>
            <a:ext cx="1057275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697">
                <a:solidFill>
                  <a:srgbClr val="5B6574"/>
                </a:solidFill>
                <a:latin typeface="Arial"/>
                <a:ea typeface="Arial"/>
                <a:cs typeface="Arial"/>
              </a:rPr>
              <a:t>Its job is to estimate whether a review is likely to receive one or two stars—then prioritize it for human review.</a:t>
            </a:r>
            <a:endParaRPr/>
          </a:p>
        </p:txBody>
      </p:sp>
      <p:sp>
        <p:nvSpPr>
          <p:cNvPr id="145" name="Google Shape;145;p9">
            <a:extLst xmlns:a="http://schemas.openxmlformats.org/drawingml/2006/main">
              <a:ext uri="{FF2B5EF4-FFF2-40B4-BE49-F238E27FC236}">
                <a16:creationId xmlns:a16="http://schemas.microsoft.com/office/drawing/2014/main" id="{7B53F516-D59A-44E5-B6BA-38D1B11E3741}"/>
              </a:ext>
            </a:extLst>
          </p:cNvPr>
          <p:cNvSpPr>
            <a:spLocks xmlns:a="http://schemas.openxmlformats.org/drawingml/2006/main" noGrp="1"/>
          </p:cNvSpPr>
          <p:nvPr/>
        </p:nvSpPr>
        <p:spPr>
          <a:xfrm xmlns:a="http://schemas.openxmlformats.org/drawingml/2006/main">
            <a:off x="3028950" y="3143250"/>
            <a:ext cx="3048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None/>
            </a:pPr>
            <a:r>
              <a:rPr sz="956" b="1">
                <a:solidFill>
                  <a:srgbClr val="5B6574"/>
                </a:solidFill>
                <a:latin typeface="Arial"/>
                <a:ea typeface="Arial"/>
                <a:cs typeface="Arial"/>
              </a:rPr>
              <a:t>→</a:t>
            </a:r>
            <a:endParaRPr/>
          </a:p>
        </p:txBody>
      </p:sp>
      <p:sp>
        <p:nvSpPr>
          <p:cNvPr id="146" name="Google Shape;146;p9">
            <a:extLst xmlns:a="http://schemas.openxmlformats.org/drawingml/2006/main">
              <a:ext uri="{FF2B5EF4-FFF2-40B4-BE49-F238E27FC236}">
                <a16:creationId xmlns:a16="http://schemas.microsoft.com/office/drawing/2014/main" id="{7152DB41-DDCB-4BA5-9575-12BFDB9BCD89}"/>
              </a:ext>
            </a:extLst>
          </p:cNvPr>
          <p:cNvSpPr>
            <a:spLocks xmlns:a="http://schemas.openxmlformats.org/drawingml/2006/main" noGrp="1"/>
          </p:cNvSpPr>
          <p:nvPr/>
        </p:nvSpPr>
        <p:spPr>
          <a:xfrm xmlns:a="http://schemas.openxmlformats.org/drawingml/2006/main">
            <a:off x="5829300" y="3143250"/>
            <a:ext cx="3048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None/>
            </a:pPr>
            <a:r>
              <a:rPr sz="956" b="1">
                <a:solidFill>
                  <a:srgbClr val="5B6574"/>
                </a:solidFill>
                <a:latin typeface="Arial"/>
                <a:ea typeface="Arial"/>
                <a:cs typeface="Arial"/>
              </a:rPr>
              <a:t>→</a:t>
            </a:r>
            <a:endParaRPr/>
          </a:p>
        </p:txBody>
      </p:sp>
      <p:sp>
        <p:nvSpPr>
          <p:cNvPr id="147" name="Google Shape;147;p9">
            <a:extLst xmlns:a="http://schemas.openxmlformats.org/drawingml/2006/main">
              <a:ext uri="{FF2B5EF4-FFF2-40B4-BE49-F238E27FC236}">
                <a16:creationId xmlns:a16="http://schemas.microsoft.com/office/drawing/2014/main" id="{EB9CDA9A-BD5A-48DC-9288-DDEE3000E984}"/>
              </a:ext>
            </a:extLst>
          </p:cNvPr>
          <p:cNvSpPr>
            <a:spLocks xmlns:a="http://schemas.openxmlformats.org/drawingml/2006/main" noGrp="1"/>
          </p:cNvSpPr>
          <p:nvPr/>
        </p:nvSpPr>
        <p:spPr>
          <a:xfrm xmlns:a="http://schemas.openxmlformats.org/drawingml/2006/main">
            <a:off x="8629650" y="3143250"/>
            <a:ext cx="3048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None/>
            </a:pPr>
            <a:r>
              <a:rPr sz="956" b="1">
                <a:solidFill>
                  <a:srgbClr val="5B6574"/>
                </a:solidFill>
                <a:latin typeface="Arial"/>
                <a:ea typeface="Arial"/>
                <a:cs typeface="Arial"/>
              </a:rPr>
              <a:t>→</a:t>
            </a:r>
            <a:endParaRPr/>
          </a:p>
        </p:txBody>
      </p:sp>
      <p:sp>
        <p:nvSpPr>
          <p:cNvPr id="148" name="Google Shape;148;p9">
            <a:extLst xmlns:a="http://schemas.openxmlformats.org/drawingml/2006/main">
              <a:ext uri="{FF2B5EF4-FFF2-40B4-BE49-F238E27FC236}">
                <a16:creationId xmlns:a16="http://schemas.microsoft.com/office/drawing/2014/main" id="{D471B1AE-635D-4472-9A85-2D9F7C530CBB}"/>
              </a:ext>
            </a:extLst>
          </p:cNvPr>
          <p:cNvSpPr>
            <a:spLocks xmlns:a="http://schemas.openxmlformats.org/drawingml/2006/main" noGrp="1"/>
          </p:cNvSpPr>
          <p:nvPr/>
        </p:nvSpPr>
        <p:spPr>
          <a:xfrm xmlns:a="http://schemas.openxmlformats.org/drawingml/2006/main">
            <a:off x="533400" y="2152650"/>
            <a:ext cx="2571750" cy="2857500"/>
          </a:xfrm>
          <a:prstGeom xmlns:a="http://schemas.openxmlformats.org/drawingml/2006/main" prst="roundRect">
            <a:avLst>
              <a:gd name="adj" fmla="val 4444"/>
            </a:avLst>
          </a:prstGeom>
          <a:solidFill xmlns:a="http://schemas.openxmlformats.org/drawingml/2006/main">
            <a:srgbClr val="E9F5F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9">
            <a:extLst xmlns:a="http://schemas.openxmlformats.org/drawingml/2006/main">
              <a:ext uri="{FF2B5EF4-FFF2-40B4-BE49-F238E27FC236}">
                <a16:creationId xmlns:a16="http://schemas.microsoft.com/office/drawing/2014/main" id="{0F9BDDC6-0527-44BF-BB95-535104434B3E}"/>
              </a:ext>
            </a:extLst>
          </p:cNvPr>
          <p:cNvSpPr>
            <a:spLocks xmlns:a="http://schemas.openxmlformats.org/drawingml/2006/main" noGrp="1"/>
          </p:cNvSpPr>
          <p:nvPr/>
        </p:nvSpPr>
        <p:spPr>
          <a:xfrm xmlns:a="http://schemas.openxmlformats.org/drawingml/2006/main">
            <a:off x="742950" y="2343150"/>
            <a:ext cx="571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275" b="1">
                <a:solidFill>
                  <a:srgbClr val="3D8DFF"/>
                </a:solidFill>
                <a:latin typeface="Arial"/>
                <a:ea typeface="Arial"/>
                <a:cs typeface="Arial"/>
              </a:rPr>
              <a:t>01</a:t>
            </a:r>
            <a:endParaRPr/>
          </a:p>
        </p:txBody>
      </p:sp>
      <p:sp>
        <p:nvSpPr>
          <p:cNvPr id="150" name="Google Shape;150;p9">
            <a:extLst xmlns:a="http://schemas.openxmlformats.org/drawingml/2006/main">
              <a:ext uri="{FF2B5EF4-FFF2-40B4-BE49-F238E27FC236}">
                <a16:creationId xmlns:a16="http://schemas.microsoft.com/office/drawing/2014/main" id="{CF3607A3-97A2-4782-82E9-C00384BFF6E2}"/>
              </a:ext>
            </a:extLst>
          </p:cNvPr>
          <p:cNvSpPr>
            <a:spLocks xmlns:a="http://schemas.openxmlformats.org/drawingml/2006/main" noGrp="1"/>
          </p:cNvSpPr>
          <p:nvPr/>
        </p:nvSpPr>
        <p:spPr>
          <a:xfrm xmlns:a="http://schemas.openxmlformats.org/drawingml/2006/main">
            <a:off x="742950" y="2781300"/>
            <a:ext cx="21526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671" b="1">
                <a:solidFill>
                  <a:srgbClr val="111827"/>
                </a:solidFill>
                <a:latin typeface="Arial"/>
                <a:ea typeface="Arial"/>
                <a:cs typeface="Arial"/>
              </a:rPr>
              <a:t>Define the outcome</a:t>
            </a:r>
            <a:endParaRPr/>
          </a:p>
        </p:txBody>
      </p:sp>
      <p:sp>
        <p:nvSpPr>
          <p:cNvPr id="151" name="Google Shape;151;p9">
            <a:extLst xmlns:a="http://schemas.openxmlformats.org/drawingml/2006/main">
              <a:ext uri="{FF2B5EF4-FFF2-40B4-BE49-F238E27FC236}">
                <a16:creationId xmlns:a16="http://schemas.microsoft.com/office/drawing/2014/main" id="{36633364-2982-479C-9804-01544151A31B}"/>
              </a:ext>
            </a:extLst>
          </p:cNvPr>
          <p:cNvSpPr>
            <a:spLocks xmlns:a="http://schemas.openxmlformats.org/drawingml/2006/main" noGrp="1"/>
          </p:cNvSpPr>
          <p:nvPr/>
        </p:nvSpPr>
        <p:spPr>
          <a:xfrm xmlns:a="http://schemas.openxmlformats.org/drawingml/2006/main">
            <a:off x="742950" y="3390900"/>
            <a:ext cx="2152650" cy="1352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379">
                <a:solidFill>
                  <a:srgbClr val="5B6574"/>
                </a:solidFill>
                <a:latin typeface="Arial"/>
                <a:ea typeface="Arial"/>
                <a:cs typeface="Arial"/>
              </a:rPr>
              <a:t>Reviews rated 1–2 stars are labeled low rating.</a:t>
            </a:r>
            <a:endParaRPr/>
          </a:p>
          <a:p xmlns:a="http://schemas.openxmlformats.org/drawingml/2006/main">
            <a:pPr marL="0" marR="0" lvl="0" indent="0" algn="l">
              <a:spcBef>
                <a:spcPts val="0"/>
              </a:spcBef>
              <a:spcAft>
                <a:spcPts val="0"/>
              </a:spcAft>
              <a:buNone/>
            </a:pPr>
            <a:r>
              <a:t/>
            </a:r>
            <a:endParaRPr sz="1379">
              <a:solidFill>
                <a:srgbClr val="5B6574"/>
              </a:solidFill>
              <a:latin typeface="Arial"/>
              <a:ea typeface="Arial"/>
              <a:cs typeface="Arial"/>
            </a:endParaRPr>
          </a:p>
          <a:p xmlns:a="http://schemas.openxmlformats.org/drawingml/2006/main">
            <a:pPr marL="0" marR="0" lvl="0" indent="0" algn="l">
              <a:spcBef>
                <a:spcPts val="0"/>
              </a:spcBef>
              <a:spcAft>
                <a:spcPts val="0"/>
              </a:spcAft>
              <a:buNone/>
            </a:pPr>
            <a:r>
              <a:rPr sz="1379">
                <a:solidFill>
                  <a:srgbClr val="5B6574"/>
                </a:solidFill>
                <a:latin typeface="Arial"/>
                <a:ea typeface="Arial"/>
                <a:cs typeface="Arial"/>
              </a:rPr>
              <a:t>The model predicts that label using only the written review text.</a:t>
            </a:r>
            <a:endParaRPr/>
          </a:p>
        </p:txBody>
      </p:sp>
      <p:sp>
        <p:nvSpPr>
          <p:cNvPr id="152" name="Google Shape;152;p9">
            <a:extLst xmlns:a="http://schemas.openxmlformats.org/drawingml/2006/main">
              <a:ext uri="{FF2B5EF4-FFF2-40B4-BE49-F238E27FC236}">
                <a16:creationId xmlns:a16="http://schemas.microsoft.com/office/drawing/2014/main" id="{E4CAE72B-4C2F-4B8C-90B0-B3321CD8DAE4}"/>
              </a:ext>
            </a:extLst>
          </p:cNvPr>
          <p:cNvSpPr>
            <a:spLocks xmlns:a="http://schemas.openxmlformats.org/drawingml/2006/main" noGrp="1"/>
          </p:cNvSpPr>
          <p:nvPr/>
        </p:nvSpPr>
        <p:spPr>
          <a:xfrm xmlns:a="http://schemas.openxmlformats.org/drawingml/2006/main">
            <a:off x="3333750" y="2152650"/>
            <a:ext cx="2571750" cy="2857500"/>
          </a:xfrm>
          <a:prstGeom xmlns:a="http://schemas.openxmlformats.org/drawingml/2006/main" prst="roundRect">
            <a:avLst>
              <a:gd name="adj" fmla="val 4444"/>
            </a:avLst>
          </a:prstGeom>
          <a:solidFill xmlns:a="http://schemas.openxmlformats.org/drawingml/2006/main">
            <a:srgbClr val="F1F3F5"/>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53" name="Google Shape;153;p9">
            <a:extLst xmlns:a="http://schemas.openxmlformats.org/drawingml/2006/main">
              <a:ext uri="{FF2B5EF4-FFF2-40B4-BE49-F238E27FC236}">
                <a16:creationId xmlns:a16="http://schemas.microsoft.com/office/drawing/2014/main" id="{0E75E492-144A-47CA-A3C9-493C2EBC8EB2}"/>
              </a:ext>
            </a:extLst>
          </p:cNvPr>
          <p:cNvSpPr>
            <a:spLocks xmlns:a="http://schemas.openxmlformats.org/drawingml/2006/main" noGrp="1"/>
          </p:cNvSpPr>
          <p:nvPr/>
        </p:nvSpPr>
        <p:spPr>
          <a:xfrm xmlns:a="http://schemas.openxmlformats.org/drawingml/2006/main">
            <a:off x="3543300" y="2343150"/>
            <a:ext cx="571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275" b="1">
                <a:solidFill>
                  <a:srgbClr val="3D8DFF"/>
                </a:solidFill>
                <a:latin typeface="Arial"/>
                <a:ea typeface="Arial"/>
                <a:cs typeface="Arial"/>
              </a:rPr>
              <a:t>02</a:t>
            </a:r>
            <a:endParaRPr/>
          </a:p>
        </p:txBody>
      </p:sp>
      <p:sp>
        <p:nvSpPr>
          <p:cNvPr id="154" name="Google Shape;154;p9">
            <a:extLst xmlns:a="http://schemas.openxmlformats.org/drawingml/2006/main">
              <a:ext uri="{FF2B5EF4-FFF2-40B4-BE49-F238E27FC236}">
                <a16:creationId xmlns:a16="http://schemas.microsoft.com/office/drawing/2014/main" id="{82CFA568-2A5E-434B-A73C-78954B4E09BC}"/>
              </a:ext>
            </a:extLst>
          </p:cNvPr>
          <p:cNvSpPr>
            <a:spLocks xmlns:a="http://schemas.openxmlformats.org/drawingml/2006/main" noGrp="1"/>
          </p:cNvSpPr>
          <p:nvPr/>
        </p:nvSpPr>
        <p:spPr>
          <a:xfrm xmlns:a="http://schemas.openxmlformats.org/drawingml/2006/main">
            <a:off x="3543300" y="2781300"/>
            <a:ext cx="21526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337" b="1">
                <a:solidFill>
                  <a:srgbClr val="111827"/>
                </a:solidFill>
                <a:latin typeface="Arial"/>
                <a:ea typeface="Arial"/>
                <a:cs typeface="Arial"/>
              </a:rPr>
              <a:t>Learn language patterns</a:t>
            </a:r>
            <a:endParaRPr/>
          </a:p>
        </p:txBody>
      </p:sp>
      <p:sp>
        <p:nvSpPr>
          <p:cNvPr id="155" name="Google Shape;155;p9">
            <a:extLst xmlns:a="http://schemas.openxmlformats.org/drawingml/2006/main">
              <a:ext uri="{FF2B5EF4-FFF2-40B4-BE49-F238E27FC236}">
                <a16:creationId xmlns:a16="http://schemas.microsoft.com/office/drawing/2014/main" id="{B4B673E3-3BFD-4E5F-8060-E22A862DD8DF}"/>
              </a:ext>
            </a:extLst>
          </p:cNvPr>
          <p:cNvSpPr>
            <a:spLocks xmlns:a="http://schemas.openxmlformats.org/drawingml/2006/main" noGrp="1"/>
          </p:cNvSpPr>
          <p:nvPr/>
        </p:nvSpPr>
        <p:spPr>
          <a:xfrm xmlns:a="http://schemas.openxmlformats.org/drawingml/2006/main">
            <a:off x="3543225" y="3295725"/>
            <a:ext cx="2152800" cy="16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182">
                <a:solidFill>
                  <a:srgbClr val="5B6574"/>
                </a:solidFill>
                <a:latin typeface="Arial"/>
                <a:ea typeface="Arial"/>
                <a:cs typeface="Arial"/>
              </a:rPr>
              <a:t>Each review becomes weighted words and two-word phrases.</a:t>
            </a:r>
            <a:endParaRPr/>
          </a:p>
          <a:p xmlns:a="http://schemas.openxmlformats.org/drawingml/2006/main">
            <a:pPr marL="0" marR="0" lvl="0" indent="0" algn="l">
              <a:spcBef>
                <a:spcPts val="0"/>
              </a:spcBef>
              <a:spcAft>
                <a:spcPts val="0"/>
              </a:spcAft>
              <a:buNone/>
            </a:pPr>
            <a:r>
              <a:t/>
            </a:r>
            <a:endParaRPr sz="1182">
              <a:solidFill>
                <a:srgbClr val="5B6574"/>
              </a:solidFill>
              <a:latin typeface="Arial"/>
              <a:ea typeface="Arial"/>
              <a:cs typeface="Arial"/>
            </a:endParaRPr>
          </a:p>
          <a:p xmlns:a="http://schemas.openxmlformats.org/drawingml/2006/main">
            <a:pPr marL="0" marR="0" lvl="0" indent="0" algn="l">
              <a:spcBef>
                <a:spcPts val="0"/>
              </a:spcBef>
              <a:spcAft>
                <a:spcPts val="0"/>
              </a:spcAft>
              <a:buNone/>
            </a:pPr>
            <a:r>
              <a:rPr sz="1182">
                <a:solidFill>
                  <a:srgbClr val="5B6574"/>
                </a:solidFill>
                <a:latin typeface="Arial"/>
                <a:ea typeface="Arial"/>
                <a:cs typeface="Arial"/>
              </a:rPr>
              <a:t>The model learns which patterns are more common in low-rated reviews. </a:t>
            </a:r>
            <a:r>
              <a:rPr sz="1182">
                <a:solidFill>
                  <a:srgbClr val="5B6574"/>
                </a:solidFill>
              </a:rPr>
              <a:t>Like ‘broken, excellent, refund’ etc.</a:t>
            </a:r>
            <a:endParaRPr/>
          </a:p>
        </p:txBody>
      </p:sp>
      <p:sp>
        <p:nvSpPr>
          <p:cNvPr id="156" name="Google Shape;156;p9">
            <a:extLst xmlns:a="http://schemas.openxmlformats.org/drawingml/2006/main">
              <a:ext uri="{FF2B5EF4-FFF2-40B4-BE49-F238E27FC236}">
                <a16:creationId xmlns:a16="http://schemas.microsoft.com/office/drawing/2014/main" id="{88E74876-B17F-4611-9687-4723B44FE2FC}"/>
              </a:ext>
            </a:extLst>
          </p:cNvPr>
          <p:cNvSpPr>
            <a:spLocks xmlns:a="http://schemas.openxmlformats.org/drawingml/2006/main" noGrp="1"/>
          </p:cNvSpPr>
          <p:nvPr/>
        </p:nvSpPr>
        <p:spPr>
          <a:xfrm xmlns:a="http://schemas.openxmlformats.org/drawingml/2006/main">
            <a:off x="6134100" y="2152650"/>
            <a:ext cx="2571750" cy="2857500"/>
          </a:xfrm>
          <a:prstGeom xmlns:a="http://schemas.openxmlformats.org/drawingml/2006/main" prst="roundRect">
            <a:avLst>
              <a:gd name="adj" fmla="val 4444"/>
            </a:avLst>
          </a:prstGeom>
          <a:solidFill xmlns:a="http://schemas.openxmlformats.org/drawingml/2006/main">
            <a:srgbClr val="E8F5E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57" name="Google Shape;157;p9">
            <a:extLst xmlns:a="http://schemas.openxmlformats.org/drawingml/2006/main">
              <a:ext uri="{FF2B5EF4-FFF2-40B4-BE49-F238E27FC236}">
                <a16:creationId xmlns:a16="http://schemas.microsoft.com/office/drawing/2014/main" id="{592CCB35-305D-4BDE-AB49-DC4F0A3618A5}"/>
              </a:ext>
            </a:extLst>
          </p:cNvPr>
          <p:cNvSpPr>
            <a:spLocks xmlns:a="http://schemas.openxmlformats.org/drawingml/2006/main" noGrp="1"/>
          </p:cNvSpPr>
          <p:nvPr/>
        </p:nvSpPr>
        <p:spPr>
          <a:xfrm xmlns:a="http://schemas.openxmlformats.org/drawingml/2006/main">
            <a:off x="6343650" y="2343150"/>
            <a:ext cx="571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275" b="1">
                <a:solidFill>
                  <a:srgbClr val="3D8DFF"/>
                </a:solidFill>
                <a:latin typeface="Arial"/>
                <a:ea typeface="Arial"/>
                <a:cs typeface="Arial"/>
              </a:rPr>
              <a:t>03</a:t>
            </a:r>
            <a:endParaRPr/>
          </a:p>
        </p:txBody>
      </p:sp>
      <p:sp>
        <p:nvSpPr>
          <p:cNvPr id="158" name="Google Shape;158;p9">
            <a:extLst xmlns:a="http://schemas.openxmlformats.org/drawingml/2006/main">
              <a:ext uri="{FF2B5EF4-FFF2-40B4-BE49-F238E27FC236}">
                <a16:creationId xmlns:a16="http://schemas.microsoft.com/office/drawing/2014/main" id="{8D9B9023-05D3-44AF-9705-6B6F3616213E}"/>
              </a:ext>
            </a:extLst>
          </p:cNvPr>
          <p:cNvSpPr>
            <a:spLocks xmlns:a="http://schemas.openxmlformats.org/drawingml/2006/main" noGrp="1"/>
          </p:cNvSpPr>
          <p:nvPr/>
        </p:nvSpPr>
        <p:spPr>
          <a:xfrm xmlns:a="http://schemas.openxmlformats.org/drawingml/2006/main">
            <a:off x="6343650" y="2781300"/>
            <a:ext cx="21526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373" b="1">
                <a:solidFill>
                  <a:srgbClr val="111827"/>
                </a:solidFill>
                <a:latin typeface="Arial"/>
                <a:ea typeface="Arial"/>
                <a:cs typeface="Arial"/>
              </a:rPr>
              <a:t>Handle class imbalance</a:t>
            </a:r>
            <a:endParaRPr/>
          </a:p>
        </p:txBody>
      </p:sp>
      <p:sp>
        <p:nvSpPr>
          <p:cNvPr id="159" name="Google Shape;159;p9">
            <a:extLst xmlns:a="http://schemas.openxmlformats.org/drawingml/2006/main">
              <a:ext uri="{FF2B5EF4-FFF2-40B4-BE49-F238E27FC236}">
                <a16:creationId xmlns:a16="http://schemas.microsoft.com/office/drawing/2014/main" id="{61A7A226-9CC2-4B3E-A403-D8DC4838F8AB}"/>
              </a:ext>
            </a:extLst>
          </p:cNvPr>
          <p:cNvSpPr>
            <a:spLocks xmlns:a="http://schemas.openxmlformats.org/drawingml/2006/main" noGrp="1"/>
          </p:cNvSpPr>
          <p:nvPr/>
        </p:nvSpPr>
        <p:spPr>
          <a:xfrm xmlns:a="http://schemas.openxmlformats.org/drawingml/2006/main">
            <a:off x="6343650" y="3390900"/>
            <a:ext cx="2152650" cy="1352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337">
                <a:solidFill>
                  <a:srgbClr val="5B6574"/>
                </a:solidFill>
                <a:latin typeface="Arial"/>
                <a:ea typeface="Arial"/>
                <a:cs typeface="Arial"/>
              </a:rPr>
              <a:t>Low ratings are only 17.28% of the sample.</a:t>
            </a:r>
            <a:endParaRPr/>
          </a:p>
          <a:p xmlns:a="http://schemas.openxmlformats.org/drawingml/2006/main">
            <a:pPr marL="0" marR="0" lvl="0" indent="0" algn="l">
              <a:spcBef>
                <a:spcPts val="0"/>
              </a:spcBef>
              <a:spcAft>
                <a:spcPts val="0"/>
              </a:spcAft>
              <a:buNone/>
            </a:pPr>
            <a:r>
              <a:t/>
            </a:r>
            <a:endParaRPr sz="1337">
              <a:solidFill>
                <a:srgbClr val="5B6574"/>
              </a:solidFill>
              <a:latin typeface="Arial"/>
              <a:ea typeface="Arial"/>
              <a:cs typeface="Arial"/>
            </a:endParaRPr>
          </a:p>
          <a:p xmlns:a="http://schemas.openxmlformats.org/drawingml/2006/main">
            <a:pPr marL="0" marR="0" lvl="0" indent="0" algn="l">
              <a:spcBef>
                <a:spcPts val="0"/>
              </a:spcBef>
              <a:spcAft>
                <a:spcPts val="0"/>
              </a:spcAft>
              <a:buNone/>
            </a:pPr>
            <a:r>
              <a:rPr sz="1337">
                <a:solidFill>
                  <a:srgbClr val="5B6574"/>
                </a:solidFill>
                <a:latin typeface="Arial"/>
                <a:ea typeface="Arial"/>
                <a:cs typeface="Arial"/>
              </a:rPr>
              <a:t>Training gives the minority class more weight so it is not ignored.</a:t>
            </a:r>
            <a:endParaRPr/>
          </a:p>
        </p:txBody>
      </p:sp>
      <p:sp>
        <p:nvSpPr>
          <p:cNvPr id="160" name="Google Shape;160;p9">
            <a:extLst xmlns:a="http://schemas.openxmlformats.org/drawingml/2006/main">
              <a:ext uri="{FF2B5EF4-FFF2-40B4-BE49-F238E27FC236}">
                <a16:creationId xmlns:a16="http://schemas.microsoft.com/office/drawing/2014/main" id="{70D82BB5-8B79-4929-9BE3-DA1CEAA282BF}"/>
              </a:ext>
            </a:extLst>
          </p:cNvPr>
          <p:cNvSpPr>
            <a:spLocks xmlns:a="http://schemas.openxmlformats.org/drawingml/2006/main" noGrp="1"/>
          </p:cNvSpPr>
          <p:nvPr/>
        </p:nvSpPr>
        <p:spPr>
          <a:xfrm xmlns:a="http://schemas.openxmlformats.org/drawingml/2006/main">
            <a:off x="8934450" y="2152650"/>
            <a:ext cx="2571750" cy="2857500"/>
          </a:xfrm>
          <a:prstGeom xmlns:a="http://schemas.openxmlformats.org/drawingml/2006/main" prst="roundRect">
            <a:avLst>
              <a:gd name="adj" fmla="val 4444"/>
            </a:avLst>
          </a:prstGeom>
          <a:solidFill xmlns:a="http://schemas.openxmlformats.org/drawingml/2006/main">
            <a:srgbClr val="FFF4D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61" name="Google Shape;161;p9">
            <a:extLst xmlns:a="http://schemas.openxmlformats.org/drawingml/2006/main">
              <a:ext uri="{FF2B5EF4-FFF2-40B4-BE49-F238E27FC236}">
                <a16:creationId xmlns:a16="http://schemas.microsoft.com/office/drawing/2014/main" id="{9186928E-AAD6-4AF1-A25B-92539537E27F}"/>
              </a:ext>
            </a:extLst>
          </p:cNvPr>
          <p:cNvSpPr>
            <a:spLocks xmlns:a="http://schemas.openxmlformats.org/drawingml/2006/main" noGrp="1"/>
          </p:cNvSpPr>
          <p:nvPr/>
        </p:nvSpPr>
        <p:spPr>
          <a:xfrm xmlns:a="http://schemas.openxmlformats.org/drawingml/2006/main">
            <a:off x="9144000" y="2343150"/>
            <a:ext cx="571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275" b="1">
                <a:solidFill>
                  <a:srgbClr val="3D8DFF"/>
                </a:solidFill>
                <a:latin typeface="Arial"/>
                <a:ea typeface="Arial"/>
                <a:cs typeface="Arial"/>
              </a:rPr>
              <a:t>04</a:t>
            </a:r>
            <a:endParaRPr/>
          </a:p>
        </p:txBody>
      </p:sp>
      <p:sp>
        <p:nvSpPr>
          <p:cNvPr id="162" name="Google Shape;162;p9">
            <a:extLst xmlns:a="http://schemas.openxmlformats.org/drawingml/2006/main">
              <a:ext uri="{FF2B5EF4-FFF2-40B4-BE49-F238E27FC236}">
                <a16:creationId xmlns:a16="http://schemas.microsoft.com/office/drawing/2014/main" id="{B2347E73-FB6F-41C2-9CCB-615D2F19A746}"/>
              </a:ext>
            </a:extLst>
          </p:cNvPr>
          <p:cNvSpPr>
            <a:spLocks xmlns:a="http://schemas.openxmlformats.org/drawingml/2006/main" noGrp="1"/>
          </p:cNvSpPr>
          <p:nvPr/>
        </p:nvSpPr>
        <p:spPr>
          <a:xfrm xmlns:a="http://schemas.openxmlformats.org/drawingml/2006/main">
            <a:off x="9144000" y="2781300"/>
            <a:ext cx="21526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2025" b="1">
                <a:solidFill>
                  <a:srgbClr val="111827"/>
                </a:solidFill>
                <a:latin typeface="Arial"/>
                <a:ea typeface="Arial"/>
                <a:cs typeface="Arial"/>
              </a:rPr>
              <a:t>Test it fairly</a:t>
            </a:r>
            <a:endParaRPr/>
          </a:p>
        </p:txBody>
      </p:sp>
      <p:sp>
        <p:nvSpPr>
          <p:cNvPr id="163" name="Google Shape;163;p9">
            <a:extLst xmlns:a="http://schemas.openxmlformats.org/drawingml/2006/main">
              <a:ext uri="{FF2B5EF4-FFF2-40B4-BE49-F238E27FC236}">
                <a16:creationId xmlns:a16="http://schemas.microsoft.com/office/drawing/2014/main" id="{CD5BBE25-B02D-4E35-B154-FE9871AFF4F5}"/>
              </a:ext>
            </a:extLst>
          </p:cNvPr>
          <p:cNvSpPr>
            <a:spLocks xmlns:a="http://schemas.openxmlformats.org/drawingml/2006/main" noGrp="1"/>
          </p:cNvSpPr>
          <p:nvPr/>
        </p:nvSpPr>
        <p:spPr>
          <a:xfrm xmlns:a="http://schemas.openxmlformats.org/drawingml/2006/main">
            <a:off x="9144000" y="3390900"/>
            <a:ext cx="2152650" cy="1352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210">
                <a:solidFill>
                  <a:srgbClr val="5B6574"/>
                </a:solidFill>
                <a:latin typeface="Arial"/>
                <a:ea typeface="Arial"/>
                <a:cs typeface="Arial"/>
              </a:rPr>
              <a:t>Every reviewer stays in one data split to prevent leakage.</a:t>
            </a:r>
            <a:endParaRPr/>
          </a:p>
          <a:p xmlns:a="http://schemas.openxmlformats.org/drawingml/2006/main">
            <a:pPr marL="0" marR="0" lvl="0" indent="0" algn="l">
              <a:spcBef>
                <a:spcPts val="0"/>
              </a:spcBef>
              <a:spcAft>
                <a:spcPts val="0"/>
              </a:spcAft>
              <a:buNone/>
            </a:pPr>
            <a:r>
              <a:t/>
            </a:r>
            <a:endParaRPr sz="1210">
              <a:solidFill>
                <a:srgbClr val="5B6574"/>
              </a:solidFill>
              <a:latin typeface="Arial"/>
              <a:ea typeface="Arial"/>
              <a:cs typeface="Arial"/>
            </a:endParaRPr>
          </a:p>
          <a:p xmlns:a="http://schemas.openxmlformats.org/drawingml/2006/main">
            <a:pPr marL="0" marR="0" lvl="0" indent="0" algn="l">
              <a:spcBef>
                <a:spcPts val="0"/>
              </a:spcBef>
              <a:spcAft>
                <a:spcPts val="0"/>
              </a:spcAft>
              <a:buNone/>
            </a:pPr>
            <a:r>
              <a:rPr sz="1210">
                <a:solidFill>
                  <a:srgbClr val="5B6574"/>
                </a:solidFill>
                <a:latin typeface="Arial"/>
                <a:ea typeface="Arial"/>
                <a:cs typeface="Arial"/>
              </a:rPr>
              <a:t>The final model is evaluated once on 6,436 unseen reviews.</a:t>
            </a:r>
            <a:endParaRPr/>
          </a:p>
        </p:txBody>
      </p:sp>
      <p:sp>
        <p:nvSpPr>
          <p:cNvPr id="164" name="Google Shape;164;p9">
            <a:extLst xmlns:a="http://schemas.openxmlformats.org/drawingml/2006/main">
              <a:ext uri="{FF2B5EF4-FFF2-40B4-BE49-F238E27FC236}">
                <a16:creationId xmlns:a16="http://schemas.microsoft.com/office/drawing/2014/main" id="{EEA1F43C-FF39-4CBD-9EC0-F9063D21EE44}"/>
              </a:ext>
            </a:extLst>
          </p:cNvPr>
          <p:cNvSpPr>
            <a:spLocks xmlns:a="http://schemas.openxmlformats.org/drawingml/2006/main" noGrp="1"/>
          </p:cNvSpPr>
          <p:nvPr/>
        </p:nvSpPr>
        <p:spPr>
          <a:xfrm xmlns:a="http://schemas.openxmlformats.org/drawingml/2006/main">
            <a:off x="533400" y="5391150"/>
            <a:ext cx="11125200" cy="781050"/>
          </a:xfrm>
          <a:prstGeom xmlns:a="http://schemas.openxmlformats.org/drawingml/2006/main" prst="roundRect">
            <a:avLst>
              <a:gd name="adj" fmla="val 14634"/>
            </a:avLst>
          </a:prstGeom>
          <a:solidFill xmlns:a="http://schemas.openxmlformats.org/drawingml/2006/main">
            <a:srgbClr val="11182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65" name="Google Shape;165;p9">
            <a:extLst xmlns:a="http://schemas.openxmlformats.org/drawingml/2006/main">
              <a:ext uri="{FF2B5EF4-FFF2-40B4-BE49-F238E27FC236}">
                <a16:creationId xmlns:a16="http://schemas.microsoft.com/office/drawing/2014/main" id="{0096C461-7263-4649-AF1F-C66621E22219}"/>
              </a:ext>
            </a:extLst>
          </p:cNvPr>
          <p:cNvSpPr>
            <a:spLocks xmlns:a="http://schemas.openxmlformats.org/drawingml/2006/main" noGrp="1"/>
          </p:cNvSpPr>
          <p:nvPr/>
        </p:nvSpPr>
        <p:spPr>
          <a:xfrm xmlns:a="http://schemas.openxmlformats.org/drawingml/2006/main">
            <a:off x="800100" y="5638800"/>
            <a:ext cx="16192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150" b="1">
                <a:solidFill>
                  <a:srgbClr val="6DCBF4"/>
                </a:solidFill>
                <a:latin typeface="Arial"/>
                <a:ea typeface="Arial"/>
                <a:cs typeface="Arial"/>
              </a:rPr>
              <a:t>MODEL OUTPUT</a:t>
            </a:r>
            <a:endParaRPr/>
          </a:p>
        </p:txBody>
      </p:sp>
      <p:sp>
        <p:nvSpPr>
          <p:cNvPr id="166" name="Google Shape;166;p9">
            <a:extLst xmlns:a="http://schemas.openxmlformats.org/drawingml/2006/main">
              <a:ext uri="{FF2B5EF4-FFF2-40B4-BE49-F238E27FC236}">
                <a16:creationId xmlns:a16="http://schemas.microsoft.com/office/drawing/2014/main" id="{5C53B43D-D73A-4D14-B73F-08AA433291DA}"/>
              </a:ext>
            </a:extLst>
          </p:cNvPr>
          <p:cNvSpPr>
            <a:spLocks xmlns:a="http://schemas.openxmlformats.org/drawingml/2006/main" noGrp="1"/>
          </p:cNvSpPr>
          <p:nvPr/>
        </p:nvSpPr>
        <p:spPr>
          <a:xfrm xmlns:a="http://schemas.openxmlformats.org/drawingml/2006/main">
            <a:off x="2476500" y="5581650"/>
            <a:ext cx="87630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725" b="1">
                <a:solidFill>
                  <a:srgbClr val="FFFFFF"/>
                </a:solidFill>
                <a:latin typeface="Arial"/>
                <a:ea typeface="Arial"/>
                <a:cs typeface="Arial"/>
              </a:rPr>
              <a:t>Review text  →  probability of a 1–2 star rating  →  prioritized human follow-up</a:t>
            </a:r>
            <a:endParaRPr/>
          </a:p>
        </p:txBody>
      </p:sp>
    </p:spTree>
    <p:extLst>
      <p:ext uri="{BB962C8B-B14F-4D97-AF65-F5344CB8AC3E}">
        <p14:creationId xmlns:p14="http://schemas.microsoft.com/office/powerpoint/2010/main" val="200788466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4" name="Google Shape;174;p10">
            <a:extLst xmlns:a="http://schemas.openxmlformats.org/drawingml/2006/main">
              <a:ext uri="{FF2B5EF4-FFF2-40B4-BE49-F238E27FC236}">
                <a16:creationId xmlns:a16="http://schemas.microsoft.com/office/drawing/2014/main" id="{CF59064A-3002-46E0-BF11-5B420CBC9105}"/>
              </a:ext>
            </a:extLst>
          </p:cNvPr>
          <p:cNvSpPr>
            <a:spLocks xmlns:a="http://schemas.openxmlformats.org/drawingml/2006/main" noGrp="1"/>
          </p:cNvSpPr>
          <p:nvPr/>
        </p:nvSpPr>
        <p:spPr>
          <a:xfrm xmlns:a="http://schemas.openxmlformats.org/drawingml/2006/main">
            <a:off x="11144250" y="6381750"/>
            <a:ext cx="5143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r">
              <a:spcBef>
                <a:spcPts val="0"/>
              </a:spcBef>
              <a:spcAft>
                <a:spcPts val="0"/>
              </a:spcAft>
              <a:buNone/>
            </a:pPr>
            <a:r>
              <a:rPr sz="775">
                <a:solidFill>
                  <a:srgbClr val="5B6574"/>
                </a:solidFill>
                <a:latin typeface="Arial"/>
                <a:ea typeface="Arial"/>
                <a:cs typeface="Arial"/>
              </a:rPr>
              <a:t>09</a:t>
            </a:r>
            <a:endParaRPr/>
          </a:p>
        </p:txBody>
      </p:sp>
      <p:pic>
        <p:nvPicPr>
          <p:cNvPr id="188" name="Google Shape;175;p10"/>
          <p:cNvPicPr>
            <a:picLocks xmlns:a="http://schemas.openxmlformats.org/drawingml/2006/main" noChangeAspect="1"/>
          </p:cNvPicPr>
          <p:nvPr/>
        </p:nvPicPr>
        <p:blipFill rotWithShape="1">
          <a:blip xmlns:r="http://schemas.openxmlformats.org/officeDocument/2006/relationships" xmlns:a="http://schemas.openxmlformats.org/drawingml/2006/main" r:embed="Rba1e4bb6fa14402f">
            <a:alphaModFix/>
          </a:blip>
          <a:srcRect xmlns:a="http://schemas.openxmlformats.org/drawingml/2006/main" l="0" t="0" r="0" b="0"/>
          <a:stretch xmlns:a="http://schemas.openxmlformats.org/drawingml/2006/main"/>
        </p:blipFill>
        <p:spPr>
          <a:xfrm xmlns:a="http://schemas.openxmlformats.org/drawingml/2006/main">
            <a:off x="533400" y="1695450"/>
            <a:ext cx="6667500" cy="4267200"/>
          </a:xfrm>
          <a:prstGeom xmlns:a="http://schemas.openxmlformats.org/drawingml/2006/main" prst="rect">
            <a:avLst/>
          </a:prstGeom>
          <a:ln xmlns:a="http://schemas.openxmlformats.org/drawingml/2006/main">
            <a:noFill/>
          </a:ln>
        </p:spPr>
      </p:pic>
      <p:sp>
        <p:nvSpPr>
          <p:cNvPr id="176" name="Google Shape;176;p10">
            <a:extLst xmlns:a="http://schemas.openxmlformats.org/drawingml/2006/main">
              <a:ext uri="{FF2B5EF4-FFF2-40B4-BE49-F238E27FC236}">
                <a16:creationId xmlns:a16="http://schemas.microsoft.com/office/drawing/2014/main" id="{D54B8EC0-20DA-411E-8B10-CB91CD7439A5}"/>
              </a:ext>
            </a:extLst>
          </p:cNvPr>
          <p:cNvSpPr>
            <a:spLocks xmlns:a="http://schemas.openxmlformats.org/drawingml/2006/main" noGrp="1"/>
          </p:cNvSpPr>
          <p:nvPr/>
        </p:nvSpPr>
        <p:spPr>
          <a:xfrm xmlns:a="http://schemas.openxmlformats.org/drawingml/2006/main">
            <a:off x="7810500" y="1695450"/>
            <a:ext cx="3429000" cy="1524000"/>
          </a:xfrm>
          <a:prstGeom xmlns:a="http://schemas.openxmlformats.org/drawingml/2006/main" prst="roundRect">
            <a:avLst>
              <a:gd name="adj" fmla="val 7500"/>
            </a:avLst>
          </a:prstGeom>
          <a:solidFill xmlns:a="http://schemas.openxmlformats.org/drawingml/2006/main">
            <a:srgbClr val="E8F5E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77" name="Google Shape;177;p10">
            <a:extLst xmlns:a="http://schemas.openxmlformats.org/drawingml/2006/main">
              <a:ext uri="{FF2B5EF4-FFF2-40B4-BE49-F238E27FC236}">
                <a16:creationId xmlns:a16="http://schemas.microsoft.com/office/drawing/2014/main" id="{E696F4A4-87A8-4F33-AC0B-EF5CF5EAE92B}"/>
              </a:ext>
            </a:extLst>
          </p:cNvPr>
          <p:cNvSpPr>
            <a:spLocks xmlns:a="http://schemas.openxmlformats.org/drawingml/2006/main" noGrp="1"/>
          </p:cNvSpPr>
          <p:nvPr/>
        </p:nvSpPr>
        <p:spPr>
          <a:xfrm xmlns:a="http://schemas.openxmlformats.org/drawingml/2006/main">
            <a:off x="8058150" y="1924050"/>
            <a:ext cx="28575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147A4A"/>
                </a:solidFill>
                <a:latin typeface="Arial"/>
                <a:ea typeface="Arial"/>
                <a:cs typeface="Arial"/>
              </a:rPr>
              <a:t>Model</a:t>
            </a:r>
            <a:endParaRPr/>
          </a:p>
        </p:txBody>
      </p:sp>
      <p:sp>
        <p:nvSpPr>
          <p:cNvPr id="178" name="Google Shape;178;p10">
            <a:extLst xmlns:a="http://schemas.openxmlformats.org/drawingml/2006/main">
              <a:ext uri="{FF2B5EF4-FFF2-40B4-BE49-F238E27FC236}">
                <a16:creationId xmlns:a16="http://schemas.microsoft.com/office/drawing/2014/main" id="{C38F240C-FB04-4CE3-86DC-255F810997EF}"/>
              </a:ext>
            </a:extLst>
          </p:cNvPr>
          <p:cNvSpPr>
            <a:spLocks xmlns:a="http://schemas.openxmlformats.org/drawingml/2006/main" noGrp="1"/>
          </p:cNvSpPr>
          <p:nvPr/>
        </p:nvSpPr>
        <p:spPr>
          <a:xfrm xmlns:a="http://schemas.openxmlformats.org/drawingml/2006/main">
            <a:off x="8058150" y="2343150"/>
            <a:ext cx="2857500"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888" b="1">
                <a:solidFill>
                  <a:srgbClr val="111827"/>
                </a:solidFill>
                <a:latin typeface="Arial"/>
                <a:ea typeface="Arial"/>
                <a:cs typeface="Arial"/>
              </a:rPr>
              <a:t>TF-IDF + balanced</a:t>
            </a:r>
            <a:endParaRPr/>
          </a:p>
          <a:p xmlns:a="http://schemas.openxmlformats.org/drawingml/2006/main">
            <a:pPr marL="0" marR="0" lvl="0" indent="0" algn="l">
              <a:spcBef>
                <a:spcPts val="0"/>
              </a:spcBef>
              <a:spcAft>
                <a:spcPts val="0"/>
              </a:spcAft>
              <a:buNone/>
            </a:pPr>
            <a:r>
              <a:rPr sz="1888" b="1">
                <a:solidFill>
                  <a:srgbClr val="111827"/>
                </a:solidFill>
                <a:latin typeface="Arial"/>
                <a:ea typeface="Arial"/>
                <a:cs typeface="Arial"/>
              </a:rPr>
              <a:t>logistic regression</a:t>
            </a:r>
            <a:endParaRPr/>
          </a:p>
        </p:txBody>
      </p:sp>
      <p:sp>
        <p:nvSpPr>
          <p:cNvPr id="179" name="Google Shape;179;p10">
            <a:extLst xmlns:a="http://schemas.openxmlformats.org/drawingml/2006/main">
              <a:ext uri="{FF2B5EF4-FFF2-40B4-BE49-F238E27FC236}">
                <a16:creationId xmlns:a16="http://schemas.microsoft.com/office/drawing/2014/main" id="{10C72D55-D844-4FCF-A3A6-3FB967C9F505}"/>
              </a:ext>
            </a:extLst>
          </p:cNvPr>
          <p:cNvSpPr>
            <a:spLocks xmlns:a="http://schemas.openxmlformats.org/drawingml/2006/main" noGrp="1"/>
          </p:cNvSpPr>
          <p:nvPr/>
        </p:nvSpPr>
        <p:spPr>
          <a:xfrm xmlns:a="http://schemas.openxmlformats.org/drawingml/2006/main">
            <a:off x="7810500" y="3429000"/>
            <a:ext cx="3429000" cy="1200150"/>
          </a:xfrm>
          <a:prstGeom xmlns:a="http://schemas.openxmlformats.org/drawingml/2006/main" prst="roundRect">
            <a:avLst>
              <a:gd name="adj" fmla="val 9524"/>
            </a:avLst>
          </a:prstGeom>
          <a:solidFill xmlns:a="http://schemas.openxmlformats.org/drawingml/2006/main">
            <a:srgbClr val="F1F3F5"/>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80" name="Google Shape;180;p10">
            <a:extLst xmlns:a="http://schemas.openxmlformats.org/drawingml/2006/main">
              <a:ext uri="{FF2B5EF4-FFF2-40B4-BE49-F238E27FC236}">
                <a16:creationId xmlns:a16="http://schemas.microsoft.com/office/drawing/2014/main" id="{1DA4AD43-CF25-4B00-9251-10E091F1979D}"/>
              </a:ext>
            </a:extLst>
          </p:cNvPr>
          <p:cNvSpPr>
            <a:spLocks xmlns:a="http://schemas.openxmlformats.org/drawingml/2006/main" noGrp="1"/>
          </p:cNvSpPr>
          <p:nvPr/>
        </p:nvSpPr>
        <p:spPr>
          <a:xfrm xmlns:a="http://schemas.openxmlformats.org/drawingml/2006/main">
            <a:off x="8058150" y="3638550"/>
            <a:ext cx="2857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150">
                <a:solidFill>
                  <a:srgbClr val="5B6574"/>
                </a:solidFill>
                <a:latin typeface="Arial"/>
                <a:ea typeface="Arial"/>
                <a:cs typeface="Arial"/>
              </a:rPr>
              <a:t>Validation-selected threshold</a:t>
            </a:r>
            <a:endParaRPr/>
          </a:p>
        </p:txBody>
      </p:sp>
      <p:sp>
        <p:nvSpPr>
          <p:cNvPr id="181" name="Google Shape;181;p10">
            <a:extLst xmlns:a="http://schemas.openxmlformats.org/drawingml/2006/main">
              <a:ext uri="{FF2B5EF4-FFF2-40B4-BE49-F238E27FC236}">
                <a16:creationId xmlns:a16="http://schemas.microsoft.com/office/drawing/2014/main" id="{8312FF1D-78B4-4413-A1FE-CA95DCAA948D}"/>
              </a:ext>
            </a:extLst>
          </p:cNvPr>
          <p:cNvSpPr>
            <a:spLocks xmlns:a="http://schemas.openxmlformats.org/drawingml/2006/main" noGrp="1"/>
          </p:cNvSpPr>
          <p:nvPr/>
        </p:nvSpPr>
        <p:spPr>
          <a:xfrm xmlns:a="http://schemas.openxmlformats.org/drawingml/2006/main">
            <a:off x="8058150" y="4038600"/>
            <a:ext cx="15240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2275" b="1">
                <a:solidFill>
                  <a:srgbClr val="111827"/>
                </a:solidFill>
                <a:latin typeface="Arial"/>
                <a:ea typeface="Arial"/>
                <a:cs typeface="Arial"/>
              </a:rPr>
              <a:t>0.62</a:t>
            </a:r>
            <a:endParaRPr/>
          </a:p>
        </p:txBody>
      </p:sp>
      <p:sp>
        <p:nvSpPr>
          <p:cNvPr id="182" name="Google Shape;182;p10">
            <a:extLst xmlns:a="http://schemas.openxmlformats.org/drawingml/2006/main">
              <a:ext uri="{FF2B5EF4-FFF2-40B4-BE49-F238E27FC236}">
                <a16:creationId xmlns:a16="http://schemas.microsoft.com/office/drawing/2014/main" id="{959757DF-F235-4FDF-8E7E-AB1CBD7F9325}"/>
              </a:ext>
            </a:extLst>
          </p:cNvPr>
          <p:cNvSpPr>
            <a:spLocks xmlns:a="http://schemas.openxmlformats.org/drawingml/2006/main" noGrp="1"/>
          </p:cNvSpPr>
          <p:nvPr/>
        </p:nvSpPr>
        <p:spPr>
          <a:xfrm xmlns:a="http://schemas.openxmlformats.org/drawingml/2006/main">
            <a:off x="7810500" y="4972050"/>
            <a:ext cx="34290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525" b="1">
                <a:solidFill>
                  <a:srgbClr val="111827"/>
                </a:solidFill>
                <a:latin typeface="Arial"/>
                <a:ea typeface="Arial"/>
                <a:cs typeface="Arial"/>
              </a:rPr>
              <a:t>6,436 held-out reviews</a:t>
            </a:r>
            <a:endParaRPr/>
          </a:p>
        </p:txBody>
      </p:sp>
      <p:sp>
        <p:nvSpPr>
          <p:cNvPr id="183" name="Google Shape;183;p10">
            <a:extLst xmlns:a="http://schemas.openxmlformats.org/drawingml/2006/main">
              <a:ext uri="{FF2B5EF4-FFF2-40B4-BE49-F238E27FC236}">
                <a16:creationId xmlns:a16="http://schemas.microsoft.com/office/drawing/2014/main" id="{0FF5605F-935E-43B7-AA90-C113AE62D56D}"/>
              </a:ext>
            </a:extLst>
          </p:cNvPr>
          <p:cNvSpPr>
            <a:spLocks xmlns:a="http://schemas.openxmlformats.org/drawingml/2006/main" noGrp="1"/>
          </p:cNvSpPr>
          <p:nvPr/>
        </p:nvSpPr>
        <p:spPr>
          <a:xfrm xmlns:a="http://schemas.openxmlformats.org/drawingml/2006/main">
            <a:off x="7810500" y="5429250"/>
            <a:ext cx="34290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472">
                <a:solidFill>
                  <a:srgbClr val="5B6574"/>
                </a:solidFill>
                <a:latin typeface="Arial"/>
                <a:ea typeface="Arial"/>
                <a:cs typeface="Arial"/>
              </a:rPr>
              <a:t>999 true positives · 147 false negatives</a:t>
            </a:r>
            <a:endParaRPr/>
          </a:p>
        </p:txBody>
      </p:sp>
      <p:sp>
        <p:nvSpPr>
          <p:cNvPr id="185" name="model-results-kicker-rebuilt">
            <a:extLst xmlns:a="http://schemas.openxmlformats.org/drawingml/2006/main">
              <a:ext uri="{FF2B5EF4-FFF2-40B4-BE49-F238E27FC236}">
                <a16:creationId xmlns:a16="http://schemas.microsoft.com/office/drawing/2014/main" id="{34322BE8-752C-46AA-84F1-757AD15C8CC9}"/>
              </a:ext>
            </a:extLst>
          </p:cNvPr>
          <p:cNvSpPr>
            <a:spLocks xmlns:a="http://schemas.openxmlformats.org/drawingml/2006/main" noGrp="1"/>
          </p:cNvSpPr>
          <p:nvPr/>
        </p:nvSpPr>
        <p:spPr>
          <a:xfrm xmlns:a="http://schemas.openxmlformats.org/drawingml/2006/main">
            <a:off x="533400" y="32385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lstStyle xmlns:a="http://schemas.openxmlformats.org/drawingml/2006/main"/>
          <a:p xmlns:a="http://schemas.openxmlformats.org/drawingml/2006/main">
            <a:pPr algn="l">
              <a:defRPr sz="1150" b="1">
                <a:solidFill>
                  <a:srgbClr val="3D8DFF"/>
                </a:solidFill>
                <a:latin typeface="Arial"/>
                <a:ea typeface="Arial"/>
                <a:cs typeface="Arial"/>
              </a:defRPr>
            </a:pPr>
            <a:r>
              <a:rPr sz="1150" b="1">
                <a:solidFill>
                  <a:srgbClr val="3D8DFF"/>
                </a:solidFill>
                <a:latin typeface="Arial"/>
                <a:ea typeface="Arial"/>
                <a:cs typeface="Arial"/>
              </a:rPr>
              <a:t>MGMT 59990 · GROUP 18</a:t>
            </a:r>
          </a:p>
        </p:txBody>
      </p:sp>
      <p:sp>
        <p:nvSpPr>
          <p:cNvPr id="186" name="model-results-title-rebuilt">
            <a:extLst xmlns:a="http://schemas.openxmlformats.org/drawingml/2006/main">
              <a:ext uri="{FF2B5EF4-FFF2-40B4-BE49-F238E27FC236}">
                <a16:creationId xmlns:a16="http://schemas.microsoft.com/office/drawing/2014/main" id="{08B9877A-2034-433F-BB2A-48A4CFFC3F74}"/>
              </a:ext>
            </a:extLst>
          </p:cNvPr>
          <p:cNvSpPr>
            <a:spLocks xmlns:a="http://schemas.openxmlformats.org/drawingml/2006/main" noGrp="1"/>
          </p:cNvSpPr>
          <p:nvPr/>
        </p:nvSpPr>
        <p:spPr>
          <a:xfrm xmlns:a="http://schemas.openxmlformats.org/drawingml/2006/main">
            <a:off x="533400" y="647700"/>
            <a:ext cx="111252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lstStyle xmlns:a="http://schemas.openxmlformats.org/drawingml/2006/main"/>
          <a:p xmlns:a="http://schemas.openxmlformats.org/drawingml/2006/main">
            <a:pPr algn="l">
              <a:defRPr sz="3750" b="1">
                <a:solidFill>
                  <a:srgbClr val="111827"/>
                </a:solidFill>
                <a:latin typeface="Arial"/>
                <a:ea typeface="Arial"/>
                <a:cs typeface="Arial"/>
              </a:defRPr>
            </a:pPr>
            <a:r>
              <a:rPr sz="3750" b="1">
                <a:solidFill>
                  <a:srgbClr val="111827"/>
                </a:solidFill>
                <a:latin typeface="Arial"/>
                <a:ea typeface="Arial"/>
                <a:cs typeface="Arial"/>
              </a:rPr>
              <a:t>The model catches 87% of actual low ratings</a:t>
            </a:r>
          </a:p>
        </p:txBody>
      </p:sp>
    </p:spTree>
    <p:extLst>
      <p:ext uri="{BB962C8B-B14F-4D97-AF65-F5344CB8AC3E}">
        <p14:creationId xmlns:p14="http://schemas.microsoft.com/office/powerpoint/2010/main" val="190392016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 name="Google Shape;189;p11">
            <a:extLst xmlns:a="http://schemas.openxmlformats.org/drawingml/2006/main">
              <a:ext uri="{FF2B5EF4-FFF2-40B4-BE49-F238E27FC236}">
                <a16:creationId xmlns:a16="http://schemas.microsoft.com/office/drawing/2014/main" id="{9A26B306-24F4-468E-937D-52C346E42670}"/>
              </a:ext>
            </a:extLst>
          </p:cNvPr>
          <p:cNvSpPr>
            <a:spLocks xmlns:a="http://schemas.openxmlformats.org/drawingml/2006/main" noGrp="1"/>
          </p:cNvSpPr>
          <p:nvPr/>
        </p:nvSpPr>
        <p:spPr>
          <a:xfrm xmlns:a="http://schemas.openxmlformats.org/drawingml/2006/main">
            <a:off x="533400" y="323850"/>
            <a:ext cx="4381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150" b="1">
                <a:solidFill>
                  <a:srgbClr val="3D8DFF"/>
                </a:solidFill>
                <a:latin typeface="Arial"/>
                <a:ea typeface="Arial"/>
                <a:cs typeface="Arial"/>
              </a:rPr>
              <a:t>MGMT 59990 · GROUP 18</a:t>
            </a:r>
            <a:endParaRPr/>
          </a:p>
        </p:txBody>
      </p:sp>
      <p:sp>
        <p:nvSpPr>
          <p:cNvPr id="190" name="Google Shape;190;p11">
            <a:extLst xmlns:a="http://schemas.openxmlformats.org/drawingml/2006/main">
              <a:ext uri="{FF2B5EF4-FFF2-40B4-BE49-F238E27FC236}">
                <a16:creationId xmlns:a16="http://schemas.microsoft.com/office/drawing/2014/main" id="{74F16CDC-BC84-4BDC-95FE-899167F8D4A8}"/>
              </a:ext>
            </a:extLst>
          </p:cNvPr>
          <p:cNvSpPr>
            <a:spLocks xmlns:a="http://schemas.openxmlformats.org/drawingml/2006/main" noGrp="1"/>
          </p:cNvSpPr>
          <p:nvPr/>
        </p:nvSpPr>
        <p:spPr>
          <a:xfrm xmlns:a="http://schemas.openxmlformats.org/drawingml/2006/main">
            <a:off x="533400" y="647700"/>
            <a:ext cx="1112520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3750" b="1">
                <a:solidFill>
                  <a:srgbClr val="111827"/>
                </a:solidFill>
                <a:latin typeface="Arial"/>
                <a:ea typeface="Arial"/>
                <a:cs typeface="Arial"/>
              </a:rPr>
              <a:t>QuickSight connects trends to product risk</a:t>
            </a:r>
            <a:endParaRPr/>
          </a:p>
        </p:txBody>
      </p:sp>
      <p:sp>
        <p:nvSpPr>
          <p:cNvPr id="191" name="Google Shape;191;p11">
            <a:extLst xmlns:a="http://schemas.openxmlformats.org/drawingml/2006/main">
              <a:ext uri="{FF2B5EF4-FFF2-40B4-BE49-F238E27FC236}">
                <a16:creationId xmlns:a16="http://schemas.microsoft.com/office/drawing/2014/main" id="{8AD171B8-EFA9-41BD-92EF-8836C2FBCB8C}"/>
              </a:ext>
            </a:extLst>
          </p:cNvPr>
          <p:cNvSpPr>
            <a:spLocks xmlns:a="http://schemas.openxmlformats.org/drawingml/2006/main" noGrp="1"/>
          </p:cNvSpPr>
          <p:nvPr/>
        </p:nvSpPr>
        <p:spPr>
          <a:xfrm xmlns:a="http://schemas.openxmlformats.org/drawingml/2006/main">
            <a:off x="11144250" y="6381750"/>
            <a:ext cx="5143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r">
              <a:spcBef>
                <a:spcPts val="0"/>
              </a:spcBef>
              <a:spcAft>
                <a:spcPts val="0"/>
              </a:spcAft>
              <a:buNone/>
            </a:pPr>
            <a:r>
              <a:rPr sz="775">
                <a:solidFill>
                  <a:srgbClr val="5B6574"/>
                </a:solidFill>
                <a:latin typeface="Arial"/>
                <a:ea typeface="Arial"/>
                <a:cs typeface="Arial"/>
              </a:rPr>
              <a:t>09</a:t>
            </a:r>
            <a:endParaRPr/>
          </a:p>
        </p:txBody>
      </p:sp>
      <p:sp>
        <p:nvSpPr>
          <p:cNvPr id="192" name="Google Shape;192;p11">
            <a:extLst xmlns:a="http://schemas.openxmlformats.org/drawingml/2006/main">
              <a:ext uri="{FF2B5EF4-FFF2-40B4-BE49-F238E27FC236}">
                <a16:creationId xmlns:a16="http://schemas.microsoft.com/office/drawing/2014/main" id="{E14EDE8F-2769-4EB4-9AFA-4F23CB37B149}"/>
              </a:ext>
            </a:extLst>
          </p:cNvPr>
          <p:cNvSpPr>
            <a:spLocks xmlns:a="http://schemas.openxmlformats.org/drawingml/2006/main" noGrp="1"/>
          </p:cNvSpPr>
          <p:nvPr/>
        </p:nvSpPr>
        <p:spPr>
          <a:xfrm xmlns:a="http://schemas.openxmlformats.org/drawingml/2006/main">
            <a:off x="533400" y="1504950"/>
            <a:ext cx="33337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775" b="1">
                <a:solidFill>
                  <a:srgbClr val="3D8DFF"/>
                </a:solidFill>
                <a:latin typeface="Arial"/>
                <a:ea typeface="Arial"/>
                <a:cs typeface="Arial"/>
              </a:rPr>
              <a:t>Portfolio overview</a:t>
            </a:r>
            <a:endParaRPr/>
          </a:p>
        </p:txBody>
      </p:sp>
      <p:sp>
        <p:nvSpPr>
          <p:cNvPr id="193" name="Google Shape;193;p11">
            <a:extLst xmlns:a="http://schemas.openxmlformats.org/drawingml/2006/main">
              <a:ext uri="{FF2B5EF4-FFF2-40B4-BE49-F238E27FC236}">
                <a16:creationId xmlns:a16="http://schemas.microsoft.com/office/drawing/2014/main" id="{9CE82A43-CAF0-4EC0-9799-FFC399B7D5A0}"/>
              </a:ext>
            </a:extLst>
          </p:cNvPr>
          <p:cNvSpPr>
            <a:spLocks xmlns:a="http://schemas.openxmlformats.org/drawingml/2006/main" noGrp="1"/>
          </p:cNvSpPr>
          <p:nvPr/>
        </p:nvSpPr>
        <p:spPr>
          <a:xfrm xmlns:a="http://schemas.openxmlformats.org/drawingml/2006/main">
            <a:off x="6419850" y="1504950"/>
            <a:ext cx="33337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775" b="1">
                <a:solidFill>
                  <a:srgbClr val="147A4A"/>
                </a:solidFill>
                <a:latin typeface="Arial"/>
                <a:ea typeface="Arial"/>
                <a:cs typeface="Arial"/>
              </a:rPr>
              <a:t>Product risk</a:t>
            </a:r>
            <a:endParaRPr/>
          </a:p>
        </p:txBody>
      </p:sp>
      <p:pic>
        <p:nvPicPr>
          <p:cNvPr id="208" name="Google Shape;194;p11"/>
          <p:cNvPicPr>
            <a:picLocks xmlns:a="http://schemas.openxmlformats.org/drawingml/2006/main" noChangeAspect="1"/>
          </p:cNvPicPr>
          <p:nvPr/>
        </p:nvPicPr>
        <p:blipFill rotWithShape="1">
          <a:blip xmlns:r="http://schemas.openxmlformats.org/officeDocument/2006/relationships" xmlns:a="http://schemas.openxmlformats.org/drawingml/2006/main" r:embed="R783e1e40e3ef4e85">
            <a:alphaModFix/>
          </a:blip>
          <a:srcRect xmlns:a="http://schemas.openxmlformats.org/drawingml/2006/main" l="0" t="2386" r="0" b="2386"/>
          <a:stretch xmlns:a="http://schemas.openxmlformats.org/drawingml/2006/main"/>
        </p:blipFill>
        <p:spPr>
          <a:xfrm xmlns:a="http://schemas.openxmlformats.org/drawingml/2006/main">
            <a:off x="163950" y="1966200"/>
            <a:ext cx="5668500" cy="3751500"/>
          </a:xfrm>
          <a:prstGeom xmlns:a="http://schemas.openxmlformats.org/drawingml/2006/main" prst="roundRect">
            <a:avLst>
              <a:gd name="adj" fmla="val 3297"/>
            </a:avLst>
          </a:prstGeom>
          <a:ln xmlns:a="http://schemas.openxmlformats.org/drawingml/2006/main">
            <a:noFill/>
          </a:ln>
        </p:spPr>
      </p:pic>
      <p:pic>
        <p:nvPicPr>
          <p:cNvPr id="209" name="Google Shape;195;p11"/>
          <p:cNvPicPr>
            <a:picLocks xmlns:a="http://schemas.openxmlformats.org/drawingml/2006/main" noChangeAspect="1"/>
          </p:cNvPicPr>
          <p:nvPr/>
        </p:nvPicPr>
        <p:blipFill rotWithShape="1">
          <a:blip xmlns:r="http://schemas.openxmlformats.org/officeDocument/2006/relationships" xmlns:a="http://schemas.openxmlformats.org/drawingml/2006/main" r:embed="R1c115a99ecc24151">
            <a:alphaModFix/>
          </a:blip>
          <a:srcRect xmlns:a="http://schemas.openxmlformats.org/drawingml/2006/main" l="112" t="0" r="112" b="0"/>
          <a:stretch xmlns:a="http://schemas.openxmlformats.org/drawingml/2006/main"/>
        </p:blipFill>
        <p:spPr>
          <a:xfrm xmlns:a="http://schemas.openxmlformats.org/drawingml/2006/main">
            <a:off x="5990100" y="1962150"/>
            <a:ext cx="5668500" cy="3751500"/>
          </a:xfrm>
          <a:prstGeom xmlns:a="http://schemas.openxmlformats.org/drawingml/2006/main" prst="roundRect">
            <a:avLst>
              <a:gd name="adj" fmla="val 3297"/>
            </a:avLst>
          </a:prstGeom>
          <a:ln xmlns:a="http://schemas.openxmlformats.org/drawingml/2006/main">
            <a:noFill/>
          </a:ln>
        </p:spPr>
      </p:pic>
      <p:sp>
        <p:nvSpPr>
          <p:cNvPr id="196" name="Google Shape;196;p11">
            <a:extLst xmlns:a="http://schemas.openxmlformats.org/drawingml/2006/main">
              <a:ext uri="{FF2B5EF4-FFF2-40B4-BE49-F238E27FC236}">
                <a16:creationId xmlns:a16="http://schemas.microsoft.com/office/drawing/2014/main" id="{6FFEC6DD-9EC2-4412-81AA-F4A52B015F6F}"/>
              </a:ext>
            </a:extLst>
          </p:cNvPr>
          <p:cNvSpPr>
            <a:spLocks xmlns:a="http://schemas.openxmlformats.org/drawingml/2006/main" noGrp="1"/>
          </p:cNvSpPr>
          <p:nvPr/>
        </p:nvSpPr>
        <p:spPr>
          <a:xfrm xmlns:a="http://schemas.openxmlformats.org/drawingml/2006/main">
            <a:off x="533400" y="5676900"/>
            <a:ext cx="11125200" cy="19050"/>
          </a:xfrm>
          <a:prstGeom xmlns:a="http://schemas.openxmlformats.org/drawingml/2006/main" prst="rect">
            <a:avLst/>
          </a:prstGeom>
          <a:solidFill xmlns:a="http://schemas.openxmlformats.org/drawingml/2006/main">
            <a:srgbClr val="C7CCD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7" name="Google Shape;197;p11">
            <a:extLst xmlns:a="http://schemas.openxmlformats.org/drawingml/2006/main">
              <a:ext uri="{FF2B5EF4-FFF2-40B4-BE49-F238E27FC236}">
                <a16:creationId xmlns:a16="http://schemas.microsoft.com/office/drawing/2014/main" id="{03001BED-65C7-4541-8906-47D90988083C}"/>
              </a:ext>
            </a:extLst>
          </p:cNvPr>
          <p:cNvSpPr>
            <a:spLocks xmlns:a="http://schemas.openxmlformats.org/drawingml/2006/main" noGrp="1"/>
          </p:cNvSpPr>
          <p:nvPr/>
        </p:nvSpPr>
        <p:spPr>
          <a:xfrm xmlns:a="http://schemas.openxmlformats.org/drawingml/2006/main">
            <a:off x="533400" y="5905500"/>
            <a:ext cx="3429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575" b="1">
                <a:solidFill>
                  <a:srgbClr val="111827"/>
                </a:solidFill>
                <a:latin typeface="Arial"/>
                <a:ea typeface="Arial"/>
                <a:cs typeface="Arial"/>
              </a:rPr>
              <a:t>66,004 reviews · 11,408 low-rated</a:t>
            </a:r>
            <a:endParaRPr/>
          </a:p>
        </p:txBody>
      </p:sp>
      <p:sp>
        <p:nvSpPr>
          <p:cNvPr id="198" name="Google Shape;198;p11">
            <a:extLst xmlns:a="http://schemas.openxmlformats.org/drawingml/2006/main">
              <a:ext uri="{FF2B5EF4-FFF2-40B4-BE49-F238E27FC236}">
                <a16:creationId xmlns:a16="http://schemas.microsoft.com/office/drawing/2014/main" id="{685718C2-D575-4825-A675-063043C0D3DF}"/>
              </a:ext>
            </a:extLst>
          </p:cNvPr>
          <p:cNvSpPr>
            <a:spLocks xmlns:a="http://schemas.openxmlformats.org/drawingml/2006/main" noGrp="1"/>
          </p:cNvSpPr>
          <p:nvPr/>
        </p:nvSpPr>
        <p:spPr>
          <a:xfrm xmlns:a="http://schemas.openxmlformats.org/drawingml/2006/main">
            <a:off x="4572000" y="5905500"/>
            <a:ext cx="32385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575" b="1">
                <a:solidFill>
                  <a:srgbClr val="111827"/>
                </a:solidFill>
                <a:latin typeface="Arial"/>
                <a:ea typeface="Arial"/>
                <a:cs typeface="Arial"/>
              </a:rPr>
              <a:t>Descriptive + predicted risk</a:t>
            </a:r>
            <a:endParaRPr/>
          </a:p>
        </p:txBody>
      </p:sp>
      <p:sp>
        <p:nvSpPr>
          <p:cNvPr id="199" name="Google Shape;199;p11">
            <a:extLst xmlns:a="http://schemas.openxmlformats.org/drawingml/2006/main">
              <a:ext uri="{FF2B5EF4-FFF2-40B4-BE49-F238E27FC236}">
                <a16:creationId xmlns:a16="http://schemas.microsoft.com/office/drawing/2014/main" id="{5C1C1BF9-BEBE-465D-9A36-B4F2735286CA}"/>
              </a:ext>
            </a:extLst>
          </p:cNvPr>
          <p:cNvSpPr>
            <a:spLocks xmlns:a="http://schemas.openxmlformats.org/drawingml/2006/main" noGrp="1"/>
          </p:cNvSpPr>
          <p:nvPr/>
        </p:nvSpPr>
        <p:spPr>
          <a:xfrm xmlns:a="http://schemas.openxmlformats.org/drawingml/2006/main">
            <a:off x="8420100" y="5905500"/>
            <a:ext cx="32385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575" b="1">
                <a:solidFill>
                  <a:srgbClr val="111827"/>
                </a:solidFill>
                <a:latin typeface="Arial"/>
                <a:ea typeface="Arial"/>
                <a:cs typeface="Arial"/>
              </a:rPr>
              <a:t>3 SPICE datasets</a:t>
            </a:r>
            <a:endParaRPr/>
          </a:p>
        </p:txBody>
      </p:sp>
      <p:sp>
        <p:nvSpPr>
          <p:cNvPr id="202" name="page-ten-marker-overlay">
            <a:extLst xmlns:a="http://schemas.openxmlformats.org/drawingml/2006/main">
              <a:ext uri="{FF2B5EF4-FFF2-40B4-BE49-F238E27FC236}">
                <a16:creationId xmlns:a16="http://schemas.microsoft.com/office/drawing/2014/main" id="{4DDB37B6-4541-436F-8D39-3B4F34CDF972}"/>
              </a:ext>
            </a:extLst>
          </p:cNvPr>
          <p:cNvSpPr>
            <a:spLocks xmlns:a="http://schemas.openxmlformats.org/drawingml/2006/main" noGrp="1"/>
          </p:cNvSpPr>
          <p:nvPr/>
        </p:nvSpPr>
        <p:spPr>
          <a:xfrm xmlns:a="http://schemas.openxmlformats.org/drawingml/2006/main">
            <a:off x="11144250" y="6381750"/>
            <a:ext cx="514350" cy="2095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lIns="91440" tIns="45720" rIns="91440" bIns="45720" anchor="t"/>
          <a:lstStyle xmlns:a="http://schemas.openxmlformats.org/drawingml/2006/main"/>
          <a:p xmlns:a="http://schemas.openxmlformats.org/drawingml/2006/main">
            <a:pPr algn="r">
              <a:defRPr sz="775">
                <a:solidFill>
                  <a:srgbClr val="5B6574"/>
                </a:solidFill>
                <a:latin typeface="Arial"/>
                <a:ea typeface="Arial"/>
                <a:cs typeface="Arial"/>
              </a:defRPr>
            </a:pPr>
            <a:r>
              <a:rPr sz="775">
                <a:solidFill>
                  <a:srgbClr val="5B6574"/>
                </a:solidFill>
                <a:latin typeface="Arial"/>
                <a:ea typeface="Arial"/>
                <a:cs typeface="Arial"/>
              </a:rPr>
              <a:t>10</a:t>
            </a:r>
          </a:p>
        </p:txBody>
      </p:sp>
    </p:spTree>
    <p:extLst>
      <p:ext uri="{BB962C8B-B14F-4D97-AF65-F5344CB8AC3E}">
        <p14:creationId xmlns:p14="http://schemas.microsoft.com/office/powerpoint/2010/main" val="137343761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5" name="Google Shape;205;p12">
            <a:extLst xmlns:a="http://schemas.openxmlformats.org/drawingml/2006/main">
              <a:ext uri="{FF2B5EF4-FFF2-40B4-BE49-F238E27FC236}">
                <a16:creationId xmlns:a16="http://schemas.microsoft.com/office/drawing/2014/main" id="{33788B34-C46A-483D-A87C-D3B75CFDD2D8}"/>
              </a:ext>
            </a:extLst>
          </p:cNvPr>
          <p:cNvSpPr>
            <a:spLocks xmlns:a="http://schemas.openxmlformats.org/drawingml/2006/main" noGrp="1"/>
          </p:cNvSpPr>
          <p:nvPr/>
        </p:nvSpPr>
        <p:spPr>
          <a:xfrm xmlns:a="http://schemas.openxmlformats.org/drawingml/2006/main">
            <a:off x="533400" y="323850"/>
            <a:ext cx="4381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150" b="1">
                <a:solidFill>
                  <a:srgbClr val="3D8DFF"/>
                </a:solidFill>
                <a:latin typeface="Arial"/>
                <a:ea typeface="Arial"/>
                <a:cs typeface="Arial"/>
              </a:rPr>
              <a:t>MGMT 59990 · GROUP 18</a:t>
            </a:r>
            <a:endParaRPr/>
          </a:p>
        </p:txBody>
      </p:sp>
      <p:sp>
        <p:nvSpPr>
          <p:cNvPr id="206" name="Google Shape;206;p12">
            <a:extLst xmlns:a="http://schemas.openxmlformats.org/drawingml/2006/main">
              <a:ext uri="{FF2B5EF4-FFF2-40B4-BE49-F238E27FC236}">
                <a16:creationId xmlns:a16="http://schemas.microsoft.com/office/drawing/2014/main" id="{88905F74-3EB2-4D09-B4CB-AACB5A7C02EF}"/>
              </a:ext>
            </a:extLst>
          </p:cNvPr>
          <p:cNvSpPr>
            <a:spLocks xmlns:a="http://schemas.openxmlformats.org/drawingml/2006/main" noGrp="1"/>
          </p:cNvSpPr>
          <p:nvPr/>
        </p:nvSpPr>
        <p:spPr>
          <a:xfrm xmlns:a="http://schemas.openxmlformats.org/drawingml/2006/main">
            <a:off x="533400" y="647700"/>
            <a:ext cx="1112520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3750" b="1">
                <a:solidFill>
                  <a:srgbClr val="111827"/>
                </a:solidFill>
                <a:latin typeface="Arial"/>
                <a:ea typeface="Arial"/>
                <a:cs typeface="Arial"/>
              </a:rPr>
              <a:t>AWS connected the lake, ML, and dashboard</a:t>
            </a:r>
            <a:endParaRPr/>
          </a:p>
        </p:txBody>
      </p:sp>
      <p:sp>
        <p:nvSpPr>
          <p:cNvPr id="207" name="Google Shape;207;p12">
            <a:extLst xmlns:a="http://schemas.openxmlformats.org/drawingml/2006/main">
              <a:ext uri="{FF2B5EF4-FFF2-40B4-BE49-F238E27FC236}">
                <a16:creationId xmlns:a16="http://schemas.microsoft.com/office/drawing/2014/main" id="{2522CE4C-B02D-4FC1-8045-EF8F54C083AF}"/>
              </a:ext>
            </a:extLst>
          </p:cNvPr>
          <p:cNvSpPr>
            <a:spLocks xmlns:a="http://schemas.openxmlformats.org/drawingml/2006/main" noGrp="1"/>
          </p:cNvSpPr>
          <p:nvPr/>
        </p:nvSpPr>
        <p:spPr>
          <a:xfrm xmlns:a="http://schemas.openxmlformats.org/drawingml/2006/main">
            <a:off x="11144250" y="6381750"/>
            <a:ext cx="5143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r">
              <a:spcBef>
                <a:spcPts val="0"/>
              </a:spcBef>
              <a:spcAft>
                <a:spcPts val="0"/>
              </a:spcAft>
              <a:buNone/>
            </a:pPr>
            <a:r>
              <a:rPr sz="775">
                <a:solidFill>
                  <a:srgbClr val="5B6574"/>
                </a:solidFill>
                <a:latin typeface="Arial"/>
                <a:ea typeface="Arial"/>
                <a:cs typeface="Arial"/>
              </a:rPr>
              <a:t>11</a:t>
            </a:r>
            <a:endParaRPr/>
          </a:p>
        </p:txBody>
      </p:sp>
      <p:sp>
        <p:nvSpPr>
          <p:cNvPr id="208" name="Google Shape;208;p12">
            <a:extLst xmlns:a="http://schemas.openxmlformats.org/drawingml/2006/main">
              <a:ext uri="{FF2B5EF4-FFF2-40B4-BE49-F238E27FC236}">
                <a16:creationId xmlns:a16="http://schemas.microsoft.com/office/drawing/2014/main" id="{B483C802-C1A2-4883-9AFF-7AFE757E81D6}"/>
              </a:ext>
            </a:extLst>
          </p:cNvPr>
          <p:cNvSpPr>
            <a:spLocks xmlns:a="http://schemas.openxmlformats.org/drawingml/2006/main" noGrp="1"/>
          </p:cNvSpPr>
          <p:nvPr/>
        </p:nvSpPr>
        <p:spPr>
          <a:xfrm xmlns:a="http://schemas.openxmlformats.org/drawingml/2006/main">
            <a:off x="4038600" y="1581150"/>
            <a:ext cx="19050" cy="2038350"/>
          </a:xfrm>
          <a:prstGeom xmlns:a="http://schemas.openxmlformats.org/drawingml/2006/main" prst="rect">
            <a:avLst/>
          </a:prstGeom>
          <a:solidFill xmlns:a="http://schemas.openxmlformats.org/drawingml/2006/main">
            <a:srgbClr val="C7CCD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9" name="Google Shape;209;p12">
            <a:extLst xmlns:a="http://schemas.openxmlformats.org/drawingml/2006/main">
              <a:ext uri="{FF2B5EF4-FFF2-40B4-BE49-F238E27FC236}">
                <a16:creationId xmlns:a16="http://schemas.microsoft.com/office/drawing/2014/main" id="{2EF098C4-CA39-4778-8E04-8BD178F971F9}"/>
              </a:ext>
            </a:extLst>
          </p:cNvPr>
          <p:cNvSpPr>
            <a:spLocks xmlns:a="http://schemas.openxmlformats.org/drawingml/2006/main" noGrp="1"/>
          </p:cNvSpPr>
          <p:nvPr/>
        </p:nvSpPr>
        <p:spPr>
          <a:xfrm xmlns:a="http://schemas.openxmlformats.org/drawingml/2006/main">
            <a:off x="7848600" y="1581150"/>
            <a:ext cx="19050" cy="2038350"/>
          </a:xfrm>
          <a:prstGeom xmlns:a="http://schemas.openxmlformats.org/drawingml/2006/main" prst="rect">
            <a:avLst/>
          </a:prstGeom>
          <a:solidFill xmlns:a="http://schemas.openxmlformats.org/drawingml/2006/main">
            <a:srgbClr val="C7CCD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10" name="Google Shape;210;p12">
            <a:extLst xmlns:a="http://schemas.openxmlformats.org/drawingml/2006/main">
              <a:ext uri="{FF2B5EF4-FFF2-40B4-BE49-F238E27FC236}">
                <a16:creationId xmlns:a16="http://schemas.microsoft.com/office/drawing/2014/main" id="{35D6715F-3BFA-4E75-B78E-1E2023592C93}"/>
              </a:ext>
            </a:extLst>
          </p:cNvPr>
          <p:cNvSpPr>
            <a:spLocks xmlns:a="http://schemas.openxmlformats.org/drawingml/2006/main" noGrp="1"/>
          </p:cNvSpPr>
          <p:nvPr/>
        </p:nvSpPr>
        <p:spPr>
          <a:xfrm xmlns:a="http://schemas.openxmlformats.org/drawingml/2006/main">
            <a:off x="533400" y="1562100"/>
            <a:ext cx="31432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150" b="1">
                <a:solidFill>
                  <a:srgbClr val="3D8DFF"/>
                </a:solidFill>
                <a:latin typeface="Arial"/>
                <a:ea typeface="Arial"/>
                <a:cs typeface="Arial"/>
              </a:rPr>
              <a:t>ATHENA CONTROL</a:t>
            </a:r>
            <a:endParaRPr/>
          </a:p>
        </p:txBody>
      </p:sp>
      <p:sp>
        <p:nvSpPr>
          <p:cNvPr id="211" name="Google Shape;211;p12">
            <a:extLst xmlns:a="http://schemas.openxmlformats.org/drawingml/2006/main">
              <a:ext uri="{FF2B5EF4-FFF2-40B4-BE49-F238E27FC236}">
                <a16:creationId xmlns:a16="http://schemas.microsoft.com/office/drawing/2014/main" id="{AA451EF7-0A0A-4759-9E9A-0F21348A74A1}"/>
              </a:ext>
            </a:extLst>
          </p:cNvPr>
          <p:cNvSpPr>
            <a:spLocks xmlns:a="http://schemas.openxmlformats.org/drawingml/2006/main" noGrp="1"/>
          </p:cNvSpPr>
          <p:nvPr/>
        </p:nvSpPr>
        <p:spPr>
          <a:xfrm xmlns:a="http://schemas.openxmlformats.org/drawingml/2006/main">
            <a:off x="533400" y="1981200"/>
            <a:ext cx="3238500" cy="628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3525" b="1">
                <a:solidFill>
                  <a:srgbClr val="111827"/>
                </a:solidFill>
                <a:latin typeface="Arial"/>
                <a:ea typeface="Arial"/>
                <a:cs typeface="Arial"/>
              </a:rPr>
              <a:t>256 MiB</a:t>
            </a:r>
            <a:endParaRPr/>
          </a:p>
        </p:txBody>
      </p:sp>
      <p:sp>
        <p:nvSpPr>
          <p:cNvPr id="212" name="Google Shape;212;p12">
            <a:extLst xmlns:a="http://schemas.openxmlformats.org/drawingml/2006/main">
              <a:ext uri="{FF2B5EF4-FFF2-40B4-BE49-F238E27FC236}">
                <a16:creationId xmlns:a16="http://schemas.microsoft.com/office/drawing/2014/main" id="{F810A424-EFB8-49F8-A2AE-75E6FAE5FB5C}"/>
              </a:ext>
            </a:extLst>
          </p:cNvPr>
          <p:cNvSpPr>
            <a:spLocks xmlns:a="http://schemas.openxmlformats.org/drawingml/2006/main" noGrp="1"/>
          </p:cNvSpPr>
          <p:nvPr/>
        </p:nvSpPr>
        <p:spPr>
          <a:xfrm xmlns:a="http://schemas.openxmlformats.org/drawingml/2006/main">
            <a:off x="533400" y="2724150"/>
            <a:ext cx="3143250" cy="895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138">
                <a:solidFill>
                  <a:srgbClr val="5B6574"/>
                </a:solidFill>
                <a:latin typeface="Arial"/>
                <a:ea typeface="Arial"/>
                <a:cs typeface="Arial"/>
              </a:rPr>
              <a:t>256 MiB/query in group18-gold-build.</a:t>
            </a:r>
            <a:endParaRPr/>
          </a:p>
          <a:p xmlns:a="http://schemas.openxmlformats.org/drawingml/2006/main">
            <a:pPr marL="0" marR="0" lvl="0" indent="0" algn="l">
              <a:spcBef>
                <a:spcPts val="0"/>
              </a:spcBef>
              <a:spcAft>
                <a:spcPts val="0"/>
              </a:spcAft>
              <a:buNone/>
            </a:pPr>
            <a:r>
              <a:rPr sz="1138">
                <a:solidFill>
                  <a:srgbClr val="5B6574"/>
                </a:solidFill>
                <a:latin typeface="Arial"/>
                <a:ea typeface="Arial"/>
                <a:cs typeface="Arial"/>
              </a:rPr>
              <a:t>Checkpoint queries force results to project S3.</a:t>
            </a:r>
            <a:endParaRPr/>
          </a:p>
          <a:p xmlns:a="http://schemas.openxmlformats.org/drawingml/2006/main">
            <a:pPr marL="0" marR="0" lvl="0" indent="0" algn="l">
              <a:spcBef>
                <a:spcPts val="0"/>
              </a:spcBef>
              <a:spcAft>
                <a:spcPts val="0"/>
              </a:spcAft>
              <a:buNone/>
            </a:pPr>
            <a:r>
              <a:rPr sz="1138">
                <a:solidFill>
                  <a:srgbClr val="5B6574"/>
                </a:solidFill>
                <a:latin typeface="Arial"/>
                <a:ea typeface="Arial"/>
                <a:cs typeface="Arial"/>
              </a:rPr>
              <a:t>Parquet + Snappy reduce bytes before the cutoff.</a:t>
            </a:r>
            <a:endParaRPr/>
          </a:p>
        </p:txBody>
      </p:sp>
      <p:sp>
        <p:nvSpPr>
          <p:cNvPr id="213" name="Google Shape;213;p12">
            <a:extLst xmlns:a="http://schemas.openxmlformats.org/drawingml/2006/main">
              <a:ext uri="{FF2B5EF4-FFF2-40B4-BE49-F238E27FC236}">
                <a16:creationId xmlns:a16="http://schemas.microsoft.com/office/drawing/2014/main" id="{B44390D3-F1E2-4786-832E-34C19952F74D}"/>
              </a:ext>
            </a:extLst>
          </p:cNvPr>
          <p:cNvSpPr>
            <a:spLocks xmlns:a="http://schemas.openxmlformats.org/drawingml/2006/main" noGrp="1"/>
          </p:cNvSpPr>
          <p:nvPr/>
        </p:nvSpPr>
        <p:spPr>
          <a:xfrm xmlns:a="http://schemas.openxmlformats.org/drawingml/2006/main">
            <a:off x="4343400" y="1562100"/>
            <a:ext cx="31432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150" b="1">
                <a:solidFill>
                  <a:srgbClr val="147A4A"/>
                </a:solidFill>
                <a:latin typeface="Arial"/>
                <a:ea typeface="Arial"/>
                <a:cs typeface="Arial"/>
              </a:rPr>
              <a:t>SAGEMAKER JOB</a:t>
            </a:r>
            <a:endParaRPr/>
          </a:p>
        </p:txBody>
      </p:sp>
      <p:sp>
        <p:nvSpPr>
          <p:cNvPr id="214" name="Google Shape;214;p12">
            <a:extLst xmlns:a="http://schemas.openxmlformats.org/drawingml/2006/main">
              <a:ext uri="{FF2B5EF4-FFF2-40B4-BE49-F238E27FC236}">
                <a16:creationId xmlns:a16="http://schemas.microsoft.com/office/drawing/2014/main" id="{3033B0FF-58C1-4469-BE9D-CCDD2743B8F7}"/>
              </a:ext>
            </a:extLst>
          </p:cNvPr>
          <p:cNvSpPr>
            <a:spLocks xmlns:a="http://schemas.openxmlformats.org/drawingml/2006/main" noGrp="1"/>
          </p:cNvSpPr>
          <p:nvPr/>
        </p:nvSpPr>
        <p:spPr>
          <a:xfrm xmlns:a="http://schemas.openxmlformats.org/drawingml/2006/main">
            <a:off x="4343400" y="1981200"/>
            <a:ext cx="3238500" cy="628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3525" b="1">
                <a:solidFill>
                  <a:srgbClr val="111827"/>
                </a:solidFill>
                <a:latin typeface="Arial"/>
                <a:ea typeface="Arial"/>
                <a:cs typeface="Arial"/>
              </a:rPr>
              <a:t>89 sec</a:t>
            </a:r>
            <a:endParaRPr/>
          </a:p>
        </p:txBody>
      </p:sp>
      <p:sp>
        <p:nvSpPr>
          <p:cNvPr id="215" name="Google Shape;215;p12">
            <a:extLst xmlns:a="http://schemas.openxmlformats.org/drawingml/2006/main">
              <a:ext uri="{FF2B5EF4-FFF2-40B4-BE49-F238E27FC236}">
                <a16:creationId xmlns:a16="http://schemas.microsoft.com/office/drawing/2014/main" id="{D9D76511-2EDE-434C-AEA2-B6E9AC2DD642}"/>
              </a:ext>
            </a:extLst>
          </p:cNvPr>
          <p:cNvSpPr>
            <a:spLocks xmlns:a="http://schemas.openxmlformats.org/drawingml/2006/main" noGrp="1"/>
          </p:cNvSpPr>
          <p:nvPr/>
        </p:nvSpPr>
        <p:spPr>
          <a:xfrm xmlns:a="http://schemas.openxmlformats.org/drawingml/2006/main">
            <a:off x="4343400" y="2724150"/>
            <a:ext cx="3143250" cy="895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118">
                <a:solidFill>
                  <a:srgbClr val="5B6574"/>
                </a:solidFill>
                <a:latin typeface="Arial"/>
                <a:ea typeface="Arial"/>
                <a:cs typeface="Arial"/>
              </a:rPr>
              <a:t>One ml.m5.xlarge instance and 20 GB volume.</a:t>
            </a:r>
            <a:endParaRPr/>
          </a:p>
          <a:p xmlns:a="http://schemas.openxmlformats.org/drawingml/2006/main">
            <a:pPr marL="0" marR="0" lvl="0" indent="0" algn="l">
              <a:spcBef>
                <a:spcPts val="0"/>
              </a:spcBef>
              <a:spcAft>
                <a:spcPts val="0"/>
              </a:spcAft>
              <a:buNone/>
            </a:pPr>
            <a:r>
              <a:t/>
            </a:r>
            <a:endParaRPr sz="1118">
              <a:solidFill>
                <a:srgbClr val="5B6574"/>
              </a:solidFill>
              <a:latin typeface="Arial"/>
              <a:ea typeface="Arial"/>
              <a:cs typeface="Arial"/>
            </a:endParaRPr>
          </a:p>
          <a:p xmlns:a="http://schemas.openxmlformats.org/drawingml/2006/main">
            <a:pPr marL="0" marR="0" lvl="0" indent="0" algn="l">
              <a:spcBef>
                <a:spcPts val="0"/>
              </a:spcBef>
              <a:spcAft>
                <a:spcPts val="0"/>
              </a:spcAft>
              <a:buNone/>
            </a:pPr>
            <a:r>
              <a:rPr sz="1118">
                <a:solidFill>
                  <a:srgbClr val="5B6574"/>
                </a:solidFill>
                <a:latin typeface="Arial"/>
                <a:ea typeface="Arial"/>
                <a:cs typeface="Arial"/>
              </a:rPr>
              <a:t>MaxRuntimeInSeconds = 1,800 automatically stops the job at 30 minutes.</a:t>
            </a:r>
            <a:endParaRPr/>
          </a:p>
        </p:txBody>
      </p:sp>
      <p:sp>
        <p:nvSpPr>
          <p:cNvPr id="216" name="Google Shape;216;p12">
            <a:extLst xmlns:a="http://schemas.openxmlformats.org/drawingml/2006/main">
              <a:ext uri="{FF2B5EF4-FFF2-40B4-BE49-F238E27FC236}">
                <a16:creationId xmlns:a16="http://schemas.microsoft.com/office/drawing/2014/main" id="{6063ADB0-0F94-4DEA-AC44-DF17B6ABAC71}"/>
              </a:ext>
            </a:extLst>
          </p:cNvPr>
          <p:cNvSpPr>
            <a:spLocks xmlns:a="http://schemas.openxmlformats.org/drawingml/2006/main" noGrp="1"/>
          </p:cNvSpPr>
          <p:nvPr/>
        </p:nvSpPr>
        <p:spPr>
          <a:xfrm xmlns:a="http://schemas.openxmlformats.org/drawingml/2006/main">
            <a:off x="8153400" y="1562100"/>
            <a:ext cx="31432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150" b="1">
                <a:solidFill>
                  <a:srgbClr val="B42318"/>
                </a:solidFill>
                <a:latin typeface="Arial"/>
                <a:ea typeface="Arial"/>
                <a:cs typeface="Arial"/>
              </a:rPr>
              <a:t>IDLE COMPUTE</a:t>
            </a:r>
            <a:endParaRPr/>
          </a:p>
        </p:txBody>
      </p:sp>
      <p:sp>
        <p:nvSpPr>
          <p:cNvPr id="217" name="Google Shape;217;p12">
            <a:extLst xmlns:a="http://schemas.openxmlformats.org/drawingml/2006/main">
              <a:ext uri="{FF2B5EF4-FFF2-40B4-BE49-F238E27FC236}">
                <a16:creationId xmlns:a16="http://schemas.microsoft.com/office/drawing/2014/main" id="{D735F065-E3DC-432A-A7AC-BDE286DD674C}"/>
              </a:ext>
            </a:extLst>
          </p:cNvPr>
          <p:cNvSpPr>
            <a:spLocks xmlns:a="http://schemas.openxmlformats.org/drawingml/2006/main" noGrp="1"/>
          </p:cNvSpPr>
          <p:nvPr/>
        </p:nvSpPr>
        <p:spPr>
          <a:xfrm xmlns:a="http://schemas.openxmlformats.org/drawingml/2006/main">
            <a:off x="8153400" y="1981200"/>
            <a:ext cx="3238500" cy="628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3525" b="1">
                <a:solidFill>
                  <a:srgbClr val="111827"/>
                </a:solidFill>
                <a:latin typeface="Arial"/>
                <a:ea typeface="Arial"/>
                <a:cs typeface="Arial"/>
              </a:rPr>
              <a:t>0 endpoints</a:t>
            </a:r>
            <a:endParaRPr/>
          </a:p>
        </p:txBody>
      </p:sp>
      <p:sp>
        <p:nvSpPr>
          <p:cNvPr id="218" name="Google Shape;218;p12">
            <a:extLst xmlns:a="http://schemas.openxmlformats.org/drawingml/2006/main">
              <a:ext uri="{FF2B5EF4-FFF2-40B4-BE49-F238E27FC236}">
                <a16:creationId xmlns:a16="http://schemas.microsoft.com/office/drawing/2014/main" id="{2A54D4C1-C086-4FA5-AEC7-05E85A2D6B8F}"/>
              </a:ext>
            </a:extLst>
          </p:cNvPr>
          <p:cNvSpPr>
            <a:spLocks xmlns:a="http://schemas.openxmlformats.org/drawingml/2006/main" noGrp="1"/>
          </p:cNvSpPr>
          <p:nvPr/>
        </p:nvSpPr>
        <p:spPr>
          <a:xfrm xmlns:a="http://schemas.openxmlformats.org/drawingml/2006/main">
            <a:off x="8153400" y="2724150"/>
            <a:ext cx="3143250" cy="895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103">
                <a:solidFill>
                  <a:srgbClr val="5B6574"/>
                </a:solidFill>
                <a:latin typeface="Arial"/>
                <a:ea typeface="Arial"/>
                <a:cs typeface="Arial"/>
              </a:rPr>
              <a:t>Predictions and model.tar.gz were written to S3.</a:t>
            </a:r>
            <a:endParaRPr/>
          </a:p>
          <a:p xmlns:a="http://schemas.openxmlformats.org/drawingml/2006/main">
            <a:pPr marL="0" marR="0" lvl="0" indent="0" algn="l">
              <a:spcBef>
                <a:spcPts val="0"/>
              </a:spcBef>
              <a:spcAft>
                <a:spcPts val="0"/>
              </a:spcAft>
              <a:buNone/>
            </a:pPr>
            <a:r>
              <a:t/>
            </a:r>
            <a:endParaRPr sz="1103">
              <a:solidFill>
                <a:srgbClr val="5B6574"/>
              </a:solidFill>
              <a:latin typeface="Arial"/>
              <a:ea typeface="Arial"/>
              <a:cs typeface="Arial"/>
            </a:endParaRPr>
          </a:p>
          <a:p xmlns:a="http://schemas.openxmlformats.org/drawingml/2006/main">
            <a:pPr marL="0" marR="0" lvl="0" indent="0" algn="l">
              <a:spcBef>
                <a:spcPts val="0"/>
              </a:spcBef>
              <a:spcAft>
                <a:spcPts val="0"/>
              </a:spcAft>
              <a:buNone/>
            </a:pPr>
            <a:r>
              <a:rPr sz="1103">
                <a:solidFill>
                  <a:srgbClr val="5B6574"/>
                </a:solidFill>
                <a:latin typeface="Arial"/>
                <a:ea typeface="Arial"/>
                <a:cs typeface="Arial"/>
              </a:rPr>
              <a:t>Three QuickSight SPICE datasets avoid repeated dashboard scans.</a:t>
            </a:r>
            <a:endParaRPr/>
          </a:p>
        </p:txBody>
      </p:sp>
      <p:sp>
        <p:nvSpPr>
          <p:cNvPr id="219" name="Google Shape;219;p12">
            <a:extLst xmlns:a="http://schemas.openxmlformats.org/drawingml/2006/main">
              <a:ext uri="{FF2B5EF4-FFF2-40B4-BE49-F238E27FC236}">
                <a16:creationId xmlns:a16="http://schemas.microsoft.com/office/drawing/2014/main" id="{CEF0CB9B-3FC9-4213-B635-7B2AA49F15F5}"/>
              </a:ext>
            </a:extLst>
          </p:cNvPr>
          <p:cNvSpPr>
            <a:spLocks xmlns:a="http://schemas.openxmlformats.org/drawingml/2006/main" noGrp="1"/>
          </p:cNvSpPr>
          <p:nvPr/>
        </p:nvSpPr>
        <p:spPr>
          <a:xfrm xmlns:a="http://schemas.openxmlformats.org/drawingml/2006/main">
            <a:off x="533400" y="3905250"/>
            <a:ext cx="11125200" cy="19050"/>
          </a:xfrm>
          <a:prstGeom xmlns:a="http://schemas.openxmlformats.org/drawingml/2006/main" prst="rect">
            <a:avLst/>
          </a:prstGeom>
          <a:solidFill xmlns:a="http://schemas.openxmlformats.org/drawingml/2006/main">
            <a:srgbClr val="C7CCD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20" name="Google Shape;220;p12">
            <a:extLst xmlns:a="http://schemas.openxmlformats.org/drawingml/2006/main">
              <a:ext uri="{FF2B5EF4-FFF2-40B4-BE49-F238E27FC236}">
                <a16:creationId xmlns:a16="http://schemas.microsoft.com/office/drawing/2014/main" id="{188E3EED-9902-4C6A-BC79-8F81104D4F51}"/>
              </a:ext>
            </a:extLst>
          </p:cNvPr>
          <p:cNvSpPr>
            <a:spLocks xmlns:a="http://schemas.openxmlformats.org/drawingml/2006/main" noGrp="1"/>
          </p:cNvSpPr>
          <p:nvPr/>
        </p:nvSpPr>
        <p:spPr>
          <a:xfrm xmlns:a="http://schemas.openxmlformats.org/drawingml/2006/main">
            <a:off x="533400" y="4171950"/>
            <a:ext cx="40005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900" b="1">
                <a:solidFill>
                  <a:srgbClr val="111827"/>
                </a:solidFill>
                <a:latin typeface="Arial"/>
                <a:ea typeface="Arial"/>
                <a:cs typeface="Arial"/>
              </a:rPr>
              <a:t>Why AWS fit this build</a:t>
            </a:r>
            <a:endParaRPr/>
          </a:p>
        </p:txBody>
      </p:sp>
      <p:sp>
        <p:nvSpPr>
          <p:cNvPr id="221" name="Google Shape;221;p12">
            <a:extLst xmlns:a="http://schemas.openxmlformats.org/drawingml/2006/main">
              <a:ext uri="{FF2B5EF4-FFF2-40B4-BE49-F238E27FC236}">
                <a16:creationId xmlns:a16="http://schemas.microsoft.com/office/drawing/2014/main" id="{2B098F6D-8906-4B3A-8F06-FE45710B1617}"/>
              </a:ext>
            </a:extLst>
          </p:cNvPr>
          <p:cNvSpPr>
            <a:spLocks xmlns:a="http://schemas.openxmlformats.org/drawingml/2006/main" noGrp="1"/>
          </p:cNvSpPr>
          <p:nvPr/>
        </p:nvSpPr>
        <p:spPr>
          <a:xfrm xmlns:a="http://schemas.openxmlformats.org/drawingml/2006/main">
            <a:off x="533400" y="4762500"/>
            <a:ext cx="3143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525" b="1">
                <a:solidFill>
                  <a:srgbClr val="3D8DFF"/>
                </a:solidFill>
                <a:latin typeface="Arial"/>
                <a:ea typeface="Arial"/>
                <a:cs typeface="Arial"/>
              </a:rPr>
              <a:t>One evidence plane</a:t>
            </a:r>
            <a:endParaRPr/>
          </a:p>
        </p:txBody>
      </p:sp>
      <p:sp>
        <p:nvSpPr>
          <p:cNvPr id="222" name="Google Shape;222;p12">
            <a:extLst xmlns:a="http://schemas.openxmlformats.org/drawingml/2006/main">
              <a:ext uri="{FF2B5EF4-FFF2-40B4-BE49-F238E27FC236}">
                <a16:creationId xmlns:a16="http://schemas.microsoft.com/office/drawing/2014/main" id="{AC8FFB37-348E-425A-9BC8-5EEC861CD028}"/>
              </a:ext>
            </a:extLst>
          </p:cNvPr>
          <p:cNvSpPr>
            <a:spLocks xmlns:a="http://schemas.openxmlformats.org/drawingml/2006/main" noGrp="1"/>
          </p:cNvSpPr>
          <p:nvPr/>
        </p:nvSpPr>
        <p:spPr>
          <a:xfrm xmlns:a="http://schemas.openxmlformats.org/drawingml/2006/main">
            <a:off x="533400" y="5219700"/>
            <a:ext cx="314325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425">
                <a:solidFill>
                  <a:srgbClr val="5B6574"/>
                </a:solidFill>
                <a:latin typeface="Arial"/>
                <a:ea typeface="Arial"/>
                <a:cs typeface="Arial"/>
              </a:rPr>
              <a:t>S3 holds Bronze, Silver, Gold, model artifacts, and predictions without moving data between platforms.</a:t>
            </a:r>
            <a:endParaRPr/>
          </a:p>
        </p:txBody>
      </p:sp>
      <p:sp>
        <p:nvSpPr>
          <p:cNvPr id="223" name="Google Shape;223;p12">
            <a:extLst xmlns:a="http://schemas.openxmlformats.org/drawingml/2006/main">
              <a:ext uri="{FF2B5EF4-FFF2-40B4-BE49-F238E27FC236}">
                <a16:creationId xmlns:a16="http://schemas.microsoft.com/office/drawing/2014/main" id="{A9CD8486-C374-47B9-B32B-412CF4691077}"/>
              </a:ext>
            </a:extLst>
          </p:cNvPr>
          <p:cNvSpPr>
            <a:spLocks xmlns:a="http://schemas.openxmlformats.org/drawingml/2006/main" noGrp="1"/>
          </p:cNvSpPr>
          <p:nvPr/>
        </p:nvSpPr>
        <p:spPr>
          <a:xfrm xmlns:a="http://schemas.openxmlformats.org/drawingml/2006/main">
            <a:off x="4343400" y="4762500"/>
            <a:ext cx="3143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525" b="1">
                <a:solidFill>
                  <a:srgbClr val="147A4A"/>
                </a:solidFill>
                <a:latin typeface="Arial"/>
                <a:ea typeface="Arial"/>
                <a:cs typeface="Arial"/>
              </a:rPr>
              <a:t>One control plane</a:t>
            </a:r>
            <a:endParaRPr/>
          </a:p>
        </p:txBody>
      </p:sp>
      <p:sp>
        <p:nvSpPr>
          <p:cNvPr id="224" name="Google Shape;224;p12">
            <a:extLst xmlns:a="http://schemas.openxmlformats.org/drawingml/2006/main">
              <a:ext uri="{FF2B5EF4-FFF2-40B4-BE49-F238E27FC236}">
                <a16:creationId xmlns:a16="http://schemas.microsoft.com/office/drawing/2014/main" id="{6713532F-DD0B-48BC-B2D6-BBA0BBCDFD99}"/>
              </a:ext>
            </a:extLst>
          </p:cNvPr>
          <p:cNvSpPr>
            <a:spLocks xmlns:a="http://schemas.openxmlformats.org/drawingml/2006/main" noGrp="1"/>
          </p:cNvSpPr>
          <p:nvPr/>
        </p:nvSpPr>
        <p:spPr>
          <a:xfrm xmlns:a="http://schemas.openxmlformats.org/drawingml/2006/main">
            <a:off x="4343400" y="5219700"/>
            <a:ext cx="314325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360">
                <a:solidFill>
                  <a:srgbClr val="5B6574"/>
                </a:solidFill>
                <a:latin typeface="Arial"/>
                <a:ea typeface="Arial"/>
                <a:cs typeface="Arial"/>
              </a:rPr>
              <a:t>Glue Catalog schemas, IAM roles, and Athena workgroups govern the same tables used throughout the pipeline.</a:t>
            </a:r>
            <a:endParaRPr/>
          </a:p>
        </p:txBody>
      </p:sp>
      <p:sp>
        <p:nvSpPr>
          <p:cNvPr id="225" name="Google Shape;225;p12">
            <a:extLst xmlns:a="http://schemas.openxmlformats.org/drawingml/2006/main">
              <a:ext uri="{FF2B5EF4-FFF2-40B4-BE49-F238E27FC236}">
                <a16:creationId xmlns:a16="http://schemas.microsoft.com/office/drawing/2014/main" id="{587DB1BE-FB7E-4462-998C-0FA8339847FD}"/>
              </a:ext>
            </a:extLst>
          </p:cNvPr>
          <p:cNvSpPr>
            <a:spLocks xmlns:a="http://schemas.openxmlformats.org/drawingml/2006/main" noGrp="1"/>
          </p:cNvSpPr>
          <p:nvPr/>
        </p:nvSpPr>
        <p:spPr>
          <a:xfrm xmlns:a="http://schemas.openxmlformats.org/drawingml/2006/main">
            <a:off x="8153400" y="4762500"/>
            <a:ext cx="3143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525" b="1">
                <a:solidFill>
                  <a:srgbClr val="3D8DFF"/>
                </a:solidFill>
                <a:latin typeface="Arial"/>
                <a:ea typeface="Arial"/>
                <a:cs typeface="Arial"/>
              </a:rPr>
              <a:t>One delivery path</a:t>
            </a:r>
            <a:endParaRPr/>
          </a:p>
        </p:txBody>
      </p:sp>
      <p:sp>
        <p:nvSpPr>
          <p:cNvPr id="226" name="Google Shape;226;p12">
            <a:extLst xmlns:a="http://schemas.openxmlformats.org/drawingml/2006/main">
              <a:ext uri="{FF2B5EF4-FFF2-40B4-BE49-F238E27FC236}">
                <a16:creationId xmlns:a16="http://schemas.microsoft.com/office/drawing/2014/main" id="{029DCB2B-014E-419D-9D16-ECB7A6B7D694}"/>
              </a:ext>
            </a:extLst>
          </p:cNvPr>
          <p:cNvSpPr>
            <a:spLocks xmlns:a="http://schemas.openxmlformats.org/drawingml/2006/main" noGrp="1"/>
          </p:cNvSpPr>
          <p:nvPr/>
        </p:nvSpPr>
        <p:spPr>
          <a:xfrm xmlns:a="http://schemas.openxmlformats.org/drawingml/2006/main">
            <a:off x="8153400" y="5219700"/>
            <a:ext cx="314325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292">
                <a:solidFill>
                  <a:srgbClr val="5B6574"/>
                </a:solidFill>
                <a:latin typeface="Arial"/>
                <a:ea typeface="Arial"/>
                <a:cs typeface="Arial"/>
              </a:rPr>
              <a:t>SageMaker returns results to S3; Athena catalogs them; QuickSight imports them into responsive SPICE datasets.</a:t>
            </a:r>
            <a:endParaRPr/>
          </a:p>
        </p:txBody>
      </p:sp>
    </p:spTree>
    <p:extLst>
      <p:ext uri="{BB962C8B-B14F-4D97-AF65-F5344CB8AC3E}">
        <p14:creationId xmlns:p14="http://schemas.microsoft.com/office/powerpoint/2010/main" val="110231264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2" name="Google Shape;232;p13">
            <a:extLst xmlns:a="http://schemas.openxmlformats.org/drawingml/2006/main">
              <a:ext uri="{FF2B5EF4-FFF2-40B4-BE49-F238E27FC236}">
                <a16:creationId xmlns:a16="http://schemas.microsoft.com/office/drawing/2014/main" id="{7E409097-C125-4EF0-8D43-BD06AA0130D1}"/>
              </a:ext>
            </a:extLst>
          </p:cNvPr>
          <p:cNvSpPr>
            <a:spLocks xmlns:a="http://schemas.openxmlformats.org/drawingml/2006/main" noGrp="1"/>
          </p:cNvSpPr>
          <p:nvPr/>
        </p:nvSpPr>
        <p:spPr>
          <a:xfrm xmlns:a="http://schemas.openxmlformats.org/drawingml/2006/main">
            <a:off x="533400" y="323850"/>
            <a:ext cx="4381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150" b="1">
                <a:solidFill>
                  <a:srgbClr val="3D8DFF"/>
                </a:solidFill>
                <a:latin typeface="Arial"/>
                <a:ea typeface="Arial"/>
                <a:cs typeface="Arial"/>
              </a:rPr>
              <a:t>MGMT 59990 · GROUP 18</a:t>
            </a:r>
            <a:endParaRPr/>
          </a:p>
        </p:txBody>
      </p:sp>
      <p:sp>
        <p:nvSpPr>
          <p:cNvPr id="233" name="Google Shape;233;p13">
            <a:extLst xmlns:a="http://schemas.openxmlformats.org/drawingml/2006/main">
              <a:ext uri="{FF2B5EF4-FFF2-40B4-BE49-F238E27FC236}">
                <a16:creationId xmlns:a16="http://schemas.microsoft.com/office/drawing/2014/main" id="{48BED4DC-C411-46FE-A276-DDBF80333786}"/>
              </a:ext>
            </a:extLst>
          </p:cNvPr>
          <p:cNvSpPr>
            <a:spLocks xmlns:a="http://schemas.openxmlformats.org/drawingml/2006/main" noGrp="1"/>
          </p:cNvSpPr>
          <p:nvPr/>
        </p:nvSpPr>
        <p:spPr>
          <a:xfrm xmlns:a="http://schemas.openxmlformats.org/drawingml/2006/main">
            <a:off x="533400" y="647700"/>
            <a:ext cx="1112520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3750" b="1">
                <a:solidFill>
                  <a:srgbClr val="111827"/>
                </a:solidFill>
                <a:latin typeface="Arial"/>
                <a:ea typeface="Arial"/>
                <a:cs typeface="Arial"/>
              </a:rPr>
              <a:t>Production readiness requires governed scale</a:t>
            </a:r>
            <a:endParaRPr/>
          </a:p>
        </p:txBody>
      </p:sp>
      <p:sp>
        <p:nvSpPr>
          <p:cNvPr id="234" name="Google Shape;234;p13">
            <a:extLst xmlns:a="http://schemas.openxmlformats.org/drawingml/2006/main">
              <a:ext uri="{FF2B5EF4-FFF2-40B4-BE49-F238E27FC236}">
                <a16:creationId xmlns:a16="http://schemas.microsoft.com/office/drawing/2014/main" id="{1ECF0895-CBFD-444F-973E-20D5459344E8}"/>
              </a:ext>
            </a:extLst>
          </p:cNvPr>
          <p:cNvSpPr>
            <a:spLocks xmlns:a="http://schemas.openxmlformats.org/drawingml/2006/main" noGrp="1"/>
          </p:cNvSpPr>
          <p:nvPr/>
        </p:nvSpPr>
        <p:spPr>
          <a:xfrm xmlns:a="http://schemas.openxmlformats.org/drawingml/2006/main">
            <a:off x="11144250" y="6381750"/>
            <a:ext cx="5143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r">
              <a:spcBef>
                <a:spcPts val="0"/>
              </a:spcBef>
              <a:spcAft>
                <a:spcPts val="0"/>
              </a:spcAft>
              <a:buNone/>
            </a:pPr>
            <a:r>
              <a:rPr sz="775">
                <a:solidFill>
                  <a:srgbClr val="5B6574"/>
                </a:solidFill>
                <a:latin typeface="Arial"/>
                <a:ea typeface="Arial"/>
                <a:cs typeface="Arial"/>
              </a:rPr>
              <a:t>12</a:t>
            </a:r>
            <a:endParaRPr/>
          </a:p>
        </p:txBody>
      </p:sp>
      <p:sp>
        <p:nvSpPr>
          <p:cNvPr id="235" name="Google Shape;235;p13">
            <a:extLst xmlns:a="http://schemas.openxmlformats.org/drawingml/2006/main">
              <a:ext uri="{FF2B5EF4-FFF2-40B4-BE49-F238E27FC236}">
                <a16:creationId xmlns:a16="http://schemas.microsoft.com/office/drawing/2014/main" id="{5D859C57-74E4-4834-B476-F45AF4E9F9FA}"/>
              </a:ext>
            </a:extLst>
          </p:cNvPr>
          <p:cNvSpPr>
            <a:spLocks xmlns:a="http://schemas.openxmlformats.org/drawingml/2006/main" noGrp="1"/>
          </p:cNvSpPr>
          <p:nvPr/>
        </p:nvSpPr>
        <p:spPr>
          <a:xfrm xmlns:a="http://schemas.openxmlformats.org/drawingml/2006/main">
            <a:off x="533400" y="1562100"/>
            <a:ext cx="6667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575" b="1">
                <a:solidFill>
                  <a:srgbClr val="3D8DFF"/>
                </a:solidFill>
                <a:latin typeface="Arial"/>
                <a:ea typeface="Arial"/>
                <a:cs typeface="Arial"/>
              </a:rPr>
              <a:t>01</a:t>
            </a:r>
            <a:endParaRPr/>
          </a:p>
        </p:txBody>
      </p:sp>
      <p:sp>
        <p:nvSpPr>
          <p:cNvPr id="236" name="Google Shape;236;p13">
            <a:extLst xmlns:a="http://schemas.openxmlformats.org/drawingml/2006/main">
              <a:ext uri="{FF2B5EF4-FFF2-40B4-BE49-F238E27FC236}">
                <a16:creationId xmlns:a16="http://schemas.microsoft.com/office/drawing/2014/main" id="{2526BD17-A23D-4404-87AC-34D1E9445E13}"/>
              </a:ext>
            </a:extLst>
          </p:cNvPr>
          <p:cNvSpPr>
            <a:spLocks xmlns:a="http://schemas.openxmlformats.org/drawingml/2006/main" noGrp="1"/>
          </p:cNvSpPr>
          <p:nvPr/>
        </p:nvSpPr>
        <p:spPr>
          <a:xfrm xmlns:a="http://schemas.openxmlformats.org/drawingml/2006/main">
            <a:off x="1371600" y="1543050"/>
            <a:ext cx="23812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2025" b="1">
                <a:solidFill>
                  <a:srgbClr val="111827"/>
                </a:solidFill>
                <a:latin typeface="Arial"/>
                <a:ea typeface="Arial"/>
                <a:cs typeface="Arial"/>
              </a:rPr>
              <a:t>Expand data</a:t>
            </a:r>
            <a:endParaRPr/>
          </a:p>
        </p:txBody>
      </p:sp>
      <p:sp>
        <p:nvSpPr>
          <p:cNvPr id="237" name="Google Shape;237;p13">
            <a:extLst xmlns:a="http://schemas.openxmlformats.org/drawingml/2006/main">
              <a:ext uri="{FF2B5EF4-FFF2-40B4-BE49-F238E27FC236}">
                <a16:creationId xmlns:a16="http://schemas.microsoft.com/office/drawing/2014/main" id="{40320CA5-6F70-47EE-9D91-65EBF706C72E}"/>
              </a:ext>
            </a:extLst>
          </p:cNvPr>
          <p:cNvSpPr>
            <a:spLocks xmlns:a="http://schemas.openxmlformats.org/drawingml/2006/main" noGrp="1"/>
          </p:cNvSpPr>
          <p:nvPr/>
        </p:nvSpPr>
        <p:spPr>
          <a:xfrm xmlns:a="http://schemas.openxmlformats.org/drawingml/2006/main">
            <a:off x="3943350" y="1562100"/>
            <a:ext cx="72390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513">
                <a:solidFill>
                  <a:srgbClr val="5B6574"/>
                </a:solidFill>
                <a:latin typeface="Arial"/>
                <a:ea typeface="Arial"/>
                <a:cs typeface="Arial"/>
              </a:rPr>
              <a:t>Move from the sample to incremental full-category ingestion; partition by date and category, compact files, and apply S3 lifecycle policies.</a:t>
            </a:r>
            <a:endParaRPr/>
          </a:p>
        </p:txBody>
      </p:sp>
      <p:sp>
        <p:nvSpPr>
          <p:cNvPr id="238" name="Google Shape;238;p13">
            <a:extLst xmlns:a="http://schemas.openxmlformats.org/drawingml/2006/main">
              <a:ext uri="{FF2B5EF4-FFF2-40B4-BE49-F238E27FC236}">
                <a16:creationId xmlns:a16="http://schemas.microsoft.com/office/drawing/2014/main" id="{E3473758-E8DA-4C7C-989D-3AC50EBB1BA3}"/>
              </a:ext>
            </a:extLst>
          </p:cNvPr>
          <p:cNvSpPr>
            <a:spLocks xmlns:a="http://schemas.openxmlformats.org/drawingml/2006/main" noGrp="1"/>
          </p:cNvSpPr>
          <p:nvPr/>
        </p:nvSpPr>
        <p:spPr>
          <a:xfrm xmlns:a="http://schemas.openxmlformats.org/drawingml/2006/main">
            <a:off x="533400" y="2247900"/>
            <a:ext cx="10572750" cy="9525"/>
          </a:xfrm>
          <a:prstGeom xmlns:a="http://schemas.openxmlformats.org/drawingml/2006/main" prst="rect">
            <a:avLst/>
          </a:prstGeom>
          <a:solidFill xmlns:a="http://schemas.openxmlformats.org/drawingml/2006/main">
            <a:srgbClr val="E4E7EB"/>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39" name="Google Shape;239;p13">
            <a:extLst xmlns:a="http://schemas.openxmlformats.org/drawingml/2006/main">
              <a:ext uri="{FF2B5EF4-FFF2-40B4-BE49-F238E27FC236}">
                <a16:creationId xmlns:a16="http://schemas.microsoft.com/office/drawing/2014/main" id="{61658DE8-6AF7-459F-87C4-47DA0ADA9E40}"/>
              </a:ext>
            </a:extLst>
          </p:cNvPr>
          <p:cNvSpPr>
            <a:spLocks xmlns:a="http://schemas.openxmlformats.org/drawingml/2006/main" noGrp="1"/>
          </p:cNvSpPr>
          <p:nvPr/>
        </p:nvSpPr>
        <p:spPr>
          <a:xfrm xmlns:a="http://schemas.openxmlformats.org/drawingml/2006/main">
            <a:off x="533400" y="2476500"/>
            <a:ext cx="6667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575" b="1">
                <a:solidFill>
                  <a:srgbClr val="3D8DFF"/>
                </a:solidFill>
                <a:latin typeface="Arial"/>
                <a:ea typeface="Arial"/>
                <a:cs typeface="Arial"/>
              </a:rPr>
              <a:t>02</a:t>
            </a:r>
            <a:endParaRPr/>
          </a:p>
        </p:txBody>
      </p:sp>
      <p:sp>
        <p:nvSpPr>
          <p:cNvPr id="240" name="Google Shape;240;p13">
            <a:extLst xmlns:a="http://schemas.openxmlformats.org/drawingml/2006/main">
              <a:ext uri="{FF2B5EF4-FFF2-40B4-BE49-F238E27FC236}">
                <a16:creationId xmlns:a16="http://schemas.microsoft.com/office/drawing/2014/main" id="{B3D44AB1-34DA-4242-BAD6-03B5BE8C0D96}"/>
              </a:ext>
            </a:extLst>
          </p:cNvPr>
          <p:cNvSpPr>
            <a:spLocks xmlns:a="http://schemas.openxmlformats.org/drawingml/2006/main" noGrp="1"/>
          </p:cNvSpPr>
          <p:nvPr/>
        </p:nvSpPr>
        <p:spPr>
          <a:xfrm xmlns:a="http://schemas.openxmlformats.org/drawingml/2006/main">
            <a:off x="1371600" y="2457450"/>
            <a:ext cx="23812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876" b="1">
                <a:solidFill>
                  <a:srgbClr val="111827"/>
                </a:solidFill>
                <a:latin typeface="Arial"/>
                <a:ea typeface="Arial"/>
                <a:cs typeface="Arial"/>
              </a:rPr>
              <a:t>Automate pipelines</a:t>
            </a:r>
            <a:endParaRPr/>
          </a:p>
        </p:txBody>
      </p:sp>
      <p:sp>
        <p:nvSpPr>
          <p:cNvPr id="241" name="Google Shape;241;p13">
            <a:extLst xmlns:a="http://schemas.openxmlformats.org/drawingml/2006/main">
              <a:ext uri="{FF2B5EF4-FFF2-40B4-BE49-F238E27FC236}">
                <a16:creationId xmlns:a16="http://schemas.microsoft.com/office/drawing/2014/main" id="{0C61E161-4C1E-49ED-80EE-BC6B323F01B9}"/>
              </a:ext>
            </a:extLst>
          </p:cNvPr>
          <p:cNvSpPr>
            <a:spLocks xmlns:a="http://schemas.openxmlformats.org/drawingml/2006/main" noGrp="1"/>
          </p:cNvSpPr>
          <p:nvPr/>
        </p:nvSpPr>
        <p:spPr>
          <a:xfrm xmlns:a="http://schemas.openxmlformats.org/drawingml/2006/main">
            <a:off x="3943350" y="2476500"/>
            <a:ext cx="72390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513">
                <a:solidFill>
                  <a:srgbClr val="5B6574"/>
                </a:solidFill>
                <a:latin typeface="Arial"/>
                <a:ea typeface="Arial"/>
                <a:cs typeface="Arial"/>
              </a:rPr>
              <a:t>Orchestrate Glue, Athena checks, retraining, model approval, and batch scoring with recoverable workflow steps and versioned releases.</a:t>
            </a:r>
            <a:endParaRPr/>
          </a:p>
        </p:txBody>
      </p:sp>
      <p:sp>
        <p:nvSpPr>
          <p:cNvPr id="242" name="Google Shape;242;p13">
            <a:extLst xmlns:a="http://schemas.openxmlformats.org/drawingml/2006/main">
              <a:ext uri="{FF2B5EF4-FFF2-40B4-BE49-F238E27FC236}">
                <a16:creationId xmlns:a16="http://schemas.microsoft.com/office/drawing/2014/main" id="{03D979FB-B3FE-4FF7-BAFD-FA967EED888B}"/>
              </a:ext>
            </a:extLst>
          </p:cNvPr>
          <p:cNvSpPr>
            <a:spLocks xmlns:a="http://schemas.openxmlformats.org/drawingml/2006/main" noGrp="1"/>
          </p:cNvSpPr>
          <p:nvPr/>
        </p:nvSpPr>
        <p:spPr>
          <a:xfrm xmlns:a="http://schemas.openxmlformats.org/drawingml/2006/main">
            <a:off x="533400" y="3162300"/>
            <a:ext cx="10572750" cy="9525"/>
          </a:xfrm>
          <a:prstGeom xmlns:a="http://schemas.openxmlformats.org/drawingml/2006/main" prst="rect">
            <a:avLst/>
          </a:prstGeom>
          <a:solidFill xmlns:a="http://schemas.openxmlformats.org/drawingml/2006/main">
            <a:srgbClr val="E4E7EB"/>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3" name="Google Shape;243;p13">
            <a:extLst xmlns:a="http://schemas.openxmlformats.org/drawingml/2006/main">
              <a:ext uri="{FF2B5EF4-FFF2-40B4-BE49-F238E27FC236}">
                <a16:creationId xmlns:a16="http://schemas.microsoft.com/office/drawing/2014/main" id="{6D4FCAE2-C7F9-454E-928E-6731C66BD0DD}"/>
              </a:ext>
            </a:extLst>
          </p:cNvPr>
          <p:cNvSpPr>
            <a:spLocks xmlns:a="http://schemas.openxmlformats.org/drawingml/2006/main" noGrp="1"/>
          </p:cNvSpPr>
          <p:nvPr/>
        </p:nvSpPr>
        <p:spPr>
          <a:xfrm xmlns:a="http://schemas.openxmlformats.org/drawingml/2006/main">
            <a:off x="533400" y="3390900"/>
            <a:ext cx="6667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575" b="1">
                <a:solidFill>
                  <a:srgbClr val="3D8DFF"/>
                </a:solidFill>
                <a:latin typeface="Arial"/>
                <a:ea typeface="Arial"/>
                <a:cs typeface="Arial"/>
              </a:rPr>
              <a:t>03</a:t>
            </a:r>
            <a:endParaRPr/>
          </a:p>
        </p:txBody>
      </p:sp>
      <p:sp>
        <p:nvSpPr>
          <p:cNvPr id="244" name="Google Shape;244;p13">
            <a:extLst xmlns:a="http://schemas.openxmlformats.org/drawingml/2006/main">
              <a:ext uri="{FF2B5EF4-FFF2-40B4-BE49-F238E27FC236}">
                <a16:creationId xmlns:a16="http://schemas.microsoft.com/office/drawing/2014/main" id="{B6B21409-83E5-43BE-AAE4-212E8FA38D95}"/>
              </a:ext>
            </a:extLst>
          </p:cNvPr>
          <p:cNvSpPr>
            <a:spLocks xmlns:a="http://schemas.openxmlformats.org/drawingml/2006/main" noGrp="1"/>
          </p:cNvSpPr>
          <p:nvPr/>
        </p:nvSpPr>
        <p:spPr>
          <a:xfrm xmlns:a="http://schemas.openxmlformats.org/drawingml/2006/main">
            <a:off x="1371600" y="3371850"/>
            <a:ext cx="23812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2025" b="1">
                <a:solidFill>
                  <a:srgbClr val="111827"/>
                </a:solidFill>
                <a:latin typeface="Arial"/>
                <a:ea typeface="Arial"/>
                <a:cs typeface="Arial"/>
              </a:rPr>
              <a:t>Monitor behavior</a:t>
            </a:r>
            <a:endParaRPr/>
          </a:p>
        </p:txBody>
      </p:sp>
      <p:sp>
        <p:nvSpPr>
          <p:cNvPr id="245" name="Google Shape;245;p13">
            <a:extLst xmlns:a="http://schemas.openxmlformats.org/drawingml/2006/main">
              <a:ext uri="{FF2B5EF4-FFF2-40B4-BE49-F238E27FC236}">
                <a16:creationId xmlns:a16="http://schemas.microsoft.com/office/drawing/2014/main" id="{D4125AB5-D111-4599-A9B6-FA93CCA972BA}"/>
              </a:ext>
            </a:extLst>
          </p:cNvPr>
          <p:cNvSpPr>
            <a:spLocks xmlns:a="http://schemas.openxmlformats.org/drawingml/2006/main" noGrp="1"/>
          </p:cNvSpPr>
          <p:nvPr/>
        </p:nvSpPr>
        <p:spPr>
          <a:xfrm xmlns:a="http://schemas.openxmlformats.org/drawingml/2006/main">
            <a:off x="3943350" y="3390900"/>
            <a:ext cx="72390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513">
                <a:solidFill>
                  <a:srgbClr val="5B6574"/>
                </a:solidFill>
                <a:latin typeface="Arial"/>
                <a:ea typeface="Arial"/>
                <a:cs typeface="Arial"/>
              </a:rPr>
              <a:t>Track data quality, drift, calibration, latency, and cost; use temporal holdouts and alarms before promoting a new model.</a:t>
            </a:r>
            <a:endParaRPr/>
          </a:p>
        </p:txBody>
      </p:sp>
      <p:sp>
        <p:nvSpPr>
          <p:cNvPr id="246" name="Google Shape;246;p13">
            <a:extLst xmlns:a="http://schemas.openxmlformats.org/drawingml/2006/main">
              <a:ext uri="{FF2B5EF4-FFF2-40B4-BE49-F238E27FC236}">
                <a16:creationId xmlns:a16="http://schemas.microsoft.com/office/drawing/2014/main" id="{A59AAB86-B2CE-4858-A72F-69E828E01762}"/>
              </a:ext>
            </a:extLst>
          </p:cNvPr>
          <p:cNvSpPr>
            <a:spLocks xmlns:a="http://schemas.openxmlformats.org/drawingml/2006/main" noGrp="1"/>
          </p:cNvSpPr>
          <p:nvPr/>
        </p:nvSpPr>
        <p:spPr>
          <a:xfrm xmlns:a="http://schemas.openxmlformats.org/drawingml/2006/main">
            <a:off x="533400" y="4076700"/>
            <a:ext cx="10572750" cy="9525"/>
          </a:xfrm>
          <a:prstGeom xmlns:a="http://schemas.openxmlformats.org/drawingml/2006/main" prst="rect">
            <a:avLst/>
          </a:prstGeom>
          <a:solidFill xmlns:a="http://schemas.openxmlformats.org/drawingml/2006/main">
            <a:srgbClr val="E4E7EB"/>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7" name="Google Shape;247;p13">
            <a:extLst xmlns:a="http://schemas.openxmlformats.org/drawingml/2006/main">
              <a:ext uri="{FF2B5EF4-FFF2-40B4-BE49-F238E27FC236}">
                <a16:creationId xmlns:a16="http://schemas.microsoft.com/office/drawing/2014/main" id="{FF4C9046-ADF5-4671-8197-0B6E258623E4}"/>
              </a:ext>
            </a:extLst>
          </p:cNvPr>
          <p:cNvSpPr>
            <a:spLocks xmlns:a="http://schemas.openxmlformats.org/drawingml/2006/main" noGrp="1"/>
          </p:cNvSpPr>
          <p:nvPr/>
        </p:nvSpPr>
        <p:spPr>
          <a:xfrm xmlns:a="http://schemas.openxmlformats.org/drawingml/2006/main">
            <a:off x="533400" y="4305300"/>
            <a:ext cx="6667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575" b="1">
                <a:solidFill>
                  <a:srgbClr val="3D8DFF"/>
                </a:solidFill>
                <a:latin typeface="Arial"/>
                <a:ea typeface="Arial"/>
                <a:cs typeface="Arial"/>
              </a:rPr>
              <a:t>04</a:t>
            </a:r>
            <a:endParaRPr/>
          </a:p>
        </p:txBody>
      </p:sp>
      <p:sp>
        <p:nvSpPr>
          <p:cNvPr id="248" name="Google Shape;248;p13">
            <a:extLst xmlns:a="http://schemas.openxmlformats.org/drawingml/2006/main">
              <a:ext uri="{FF2B5EF4-FFF2-40B4-BE49-F238E27FC236}">
                <a16:creationId xmlns:a16="http://schemas.microsoft.com/office/drawing/2014/main" id="{29C9D9FF-1A4D-4F5C-A7B1-C21193E6ACDF}"/>
              </a:ext>
            </a:extLst>
          </p:cNvPr>
          <p:cNvSpPr>
            <a:spLocks xmlns:a="http://schemas.openxmlformats.org/drawingml/2006/main" noGrp="1"/>
          </p:cNvSpPr>
          <p:nvPr/>
        </p:nvSpPr>
        <p:spPr>
          <a:xfrm xmlns:a="http://schemas.openxmlformats.org/drawingml/2006/main">
            <a:off x="1371600" y="4286250"/>
            <a:ext cx="23812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2025" b="1">
                <a:solidFill>
                  <a:srgbClr val="111827"/>
                </a:solidFill>
                <a:latin typeface="Arial"/>
                <a:ea typeface="Arial"/>
                <a:cs typeface="Arial"/>
              </a:rPr>
              <a:t>Operate safely</a:t>
            </a:r>
            <a:endParaRPr/>
          </a:p>
        </p:txBody>
      </p:sp>
      <p:sp>
        <p:nvSpPr>
          <p:cNvPr id="249" name="Google Shape;249;p13">
            <a:extLst xmlns:a="http://schemas.openxmlformats.org/drawingml/2006/main">
              <a:ext uri="{FF2B5EF4-FFF2-40B4-BE49-F238E27FC236}">
                <a16:creationId xmlns:a16="http://schemas.microsoft.com/office/drawing/2014/main" id="{58F272D2-9057-46CB-8446-3C20278D2783}"/>
              </a:ext>
            </a:extLst>
          </p:cNvPr>
          <p:cNvSpPr>
            <a:spLocks xmlns:a="http://schemas.openxmlformats.org/drawingml/2006/main" noGrp="1"/>
          </p:cNvSpPr>
          <p:nvPr/>
        </p:nvSpPr>
        <p:spPr>
          <a:xfrm xmlns:a="http://schemas.openxmlformats.org/drawingml/2006/main">
            <a:off x="3943350" y="4305300"/>
            <a:ext cx="72390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513">
                <a:solidFill>
                  <a:srgbClr val="5B6574"/>
                </a:solidFill>
                <a:latin typeface="Arial"/>
                <a:ea typeface="Arial"/>
                <a:cs typeface="Arial"/>
              </a:rPr>
              <a:t>Start with scheduled batch scoring; add a real-time endpoint only when latency justifies it, while preserving human review and rollback.</a:t>
            </a:r>
            <a:endParaRPr/>
          </a:p>
        </p:txBody>
      </p:sp>
      <p:sp>
        <p:nvSpPr>
          <p:cNvPr id="250" name="Google Shape;250;p13">
            <a:extLst xmlns:a="http://schemas.openxmlformats.org/drawingml/2006/main">
              <a:ext uri="{FF2B5EF4-FFF2-40B4-BE49-F238E27FC236}">
                <a16:creationId xmlns:a16="http://schemas.microsoft.com/office/drawing/2014/main" id="{B76B1A3C-9CEA-4A2E-9063-56C83496BFF7}"/>
              </a:ext>
            </a:extLst>
          </p:cNvPr>
          <p:cNvSpPr>
            <a:spLocks xmlns:a="http://schemas.openxmlformats.org/drawingml/2006/main" noGrp="1"/>
          </p:cNvSpPr>
          <p:nvPr/>
        </p:nvSpPr>
        <p:spPr>
          <a:xfrm xmlns:a="http://schemas.openxmlformats.org/drawingml/2006/main">
            <a:off x="533400" y="5391150"/>
            <a:ext cx="11125200" cy="819150"/>
          </a:xfrm>
          <a:prstGeom xmlns:a="http://schemas.openxmlformats.org/drawingml/2006/main" prst="roundRect">
            <a:avLst>
              <a:gd name="adj" fmla="val 13953"/>
            </a:avLst>
          </a:prstGeom>
          <a:solidFill xmlns:a="http://schemas.openxmlformats.org/drawingml/2006/main">
            <a:srgbClr val="11182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51" name="Google Shape;251;p13">
            <a:extLst xmlns:a="http://schemas.openxmlformats.org/drawingml/2006/main">
              <a:ext uri="{FF2B5EF4-FFF2-40B4-BE49-F238E27FC236}">
                <a16:creationId xmlns:a16="http://schemas.microsoft.com/office/drawing/2014/main" id="{53253D0B-C0DC-4003-97E9-FF612F415ECC}"/>
              </a:ext>
            </a:extLst>
          </p:cNvPr>
          <p:cNvSpPr>
            <a:spLocks xmlns:a="http://schemas.openxmlformats.org/drawingml/2006/main" noGrp="1"/>
          </p:cNvSpPr>
          <p:nvPr/>
        </p:nvSpPr>
        <p:spPr>
          <a:xfrm xmlns:a="http://schemas.openxmlformats.org/drawingml/2006/main">
            <a:off x="800100" y="5638800"/>
            <a:ext cx="1428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275" b="1">
                <a:solidFill>
                  <a:srgbClr val="6DCBF4"/>
                </a:solidFill>
                <a:latin typeface="Arial"/>
                <a:ea typeface="Arial"/>
                <a:cs typeface="Arial"/>
              </a:rPr>
              <a:t>Scale rule</a:t>
            </a:r>
            <a:endParaRPr/>
          </a:p>
        </p:txBody>
      </p:sp>
      <p:sp>
        <p:nvSpPr>
          <p:cNvPr id="252" name="Google Shape;252;p13">
            <a:extLst xmlns:a="http://schemas.openxmlformats.org/drawingml/2006/main">
              <a:ext uri="{FF2B5EF4-FFF2-40B4-BE49-F238E27FC236}">
                <a16:creationId xmlns:a16="http://schemas.microsoft.com/office/drawing/2014/main" id="{62E4C161-698B-4075-8818-81EF36C2A2D1}"/>
              </a:ext>
            </a:extLst>
          </p:cNvPr>
          <p:cNvSpPr>
            <a:spLocks xmlns:a="http://schemas.openxmlformats.org/drawingml/2006/main" noGrp="1"/>
          </p:cNvSpPr>
          <p:nvPr/>
        </p:nvSpPr>
        <p:spPr>
          <a:xfrm xmlns:a="http://schemas.openxmlformats.org/drawingml/2006/main">
            <a:off x="2343150" y="5600700"/>
            <a:ext cx="88582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765" b="1">
                <a:solidFill>
                  <a:srgbClr val="FFFFFF"/>
                </a:solidFill>
                <a:latin typeface="Arial"/>
                <a:ea typeface="Arial"/>
                <a:cs typeface="Arial"/>
              </a:rPr>
              <a:t>Scale automation and controls before scaling the decisions the model influences.</a:t>
            </a:r>
            <a:endParaRPr/>
          </a:p>
        </p:txBody>
      </p:sp>
    </p:spTree>
    <p:extLst>
      <p:ext uri="{BB962C8B-B14F-4D97-AF65-F5344CB8AC3E}">
        <p14:creationId xmlns:p14="http://schemas.microsoft.com/office/powerpoint/2010/main" val="11532233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2026-08-14T01:24:14.0900000Z</dcterms:created>
  <dcterms:modified xsi:type="dcterms:W3CDTF">2026-08-14T01:24:14.0900000Z</dcterms:modified>
</coreProperties>
</file>