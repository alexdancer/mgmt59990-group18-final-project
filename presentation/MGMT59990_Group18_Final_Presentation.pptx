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Hello, and thank you for watching. I’m presenting on behalf of Group 18. Our project asks a practical question: can a cloud analytics pipeline turn a large stream of product reviews into an early-warning system for quality and customer-experience risk? We built the complete workflow in AWS, from raw reviews and product metadata through transformation, SQL analytics, machine learning, and a published business dashboard. The result is not an automated decision system. It is a prioritization tool that helps analysts and product teams focus attention where low-rating risk is highest.</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Project repository and implementation evidence in this workspace.</a:t>
            </a:r>
            <a:endParaRPr/>
          </a:p>
          <a:p>
            <a:pPr indent="0" lvl="0" marL="0" rtl="0" algn="l">
              <a:lnSpc>
                <a:spcPct val="100000"/>
              </a:lnSpc>
              <a:spcBef>
                <a:spcPts val="0"/>
              </a:spcBef>
              <a:spcAft>
                <a:spcPts val="0"/>
              </a:spcAft>
              <a:buSzPts val="1400"/>
              <a:buNone/>
            </a:pPr>
            <a:r>
              <a:rPr lang="en-US" sz="1200"/>
              <a:t>- Course presentation requirements in FINAL_PROJECT_SUBMISSION_REQUIREMENTS.md.</a:t>
            </a:r>
            <a:endParaRPr/>
          </a:p>
        </p:txBody>
      </p:sp>
      <p:sp>
        <p:nvSpPr>
          <p:cNvPr id="14" name="Google Shape;1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 name="Google Shape;23;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The business problem is not simply sentiment classification. The deeper problem is prioritization. Product and customer-experience teams receive more feedback than they can manually review, while isolated complaints can be noisy. We therefore defined low-rating risk as one- or two-star feedback and designed the system to answer three questions: where is low-rating volume concentrated, which new reviews are most likely to be low-rated, and can those findings be delivered through a governed, repeatable cloud workflow? The intended users are product managers, quality analysts, and support leaders. They remain responsible for interpreting the evidence and deciding what action, if any, is appropriate.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Project scope and target definition in README.md and sql/athena/03_analysis.sql.</a:t>
            </a:r>
            <a:endParaRPr/>
          </a:p>
        </p:txBody>
      </p:sp>
      <p:sp>
        <p:nvSpPr>
          <p:cNvPr id="24" name="Google Shape;24;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 name="Google Shape;40;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The source is the McAuley Lab Amazon Reviews 2023 dataset. Instead of processing the entire 22.6-gigabyte Electronics review file, we used 32 seeded byte ranges distributed across the file. After removing incomplete and duplicate records, the saved sample contains 66,004 unique reviews from 27,359 users and 39,476 products. We then filtered the official Electronics metadata to exactly those product identifiers. Every review joined successfully to metadata, so product titles and attributes are available downstream. The sample spans review years 2000 through 2023, and 92.94 percent of records are verified purchases. The key sampling limitation is that byte-range sampling is reproducible and broad, but not perfectly uniform by row because JSON records have different lengths.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data/bronze/reviews/category=Electronics/electronics_random_sample.manifest.json</a:t>
            </a:r>
            <a:endParaRPr/>
          </a:p>
          <a:p>
            <a:pPr indent="0" lvl="0" marL="0" rtl="0" algn="l">
              <a:lnSpc>
                <a:spcPct val="100000"/>
              </a:lnSpc>
              <a:spcBef>
                <a:spcPts val="0"/>
              </a:spcBef>
              <a:spcAft>
                <a:spcPts val="0"/>
              </a:spcAft>
              <a:buSzPts val="1400"/>
              <a:buNone/>
            </a:pPr>
            <a:r>
              <a:rPr lang="en-US" sz="1200"/>
              <a:t>- data/bronze/metadata/category=Electronics/electronics_metadata_sample.manifest.json</a:t>
            </a:r>
            <a:endParaRPr/>
          </a:p>
          <a:p>
            <a:pPr indent="0" lvl="0" marL="0" rtl="0" algn="l">
              <a:lnSpc>
                <a:spcPct val="100000"/>
              </a:lnSpc>
              <a:spcBef>
                <a:spcPts val="0"/>
              </a:spcBef>
              <a:spcAft>
                <a:spcPts val="0"/>
              </a:spcAft>
              <a:buSzPts val="1400"/>
              <a:buNone/>
            </a:pPr>
            <a:r>
              <a:rPr lang="en-US" sz="1200"/>
              <a:t>- Amazon Reviews 2023 introduction: https://amazon-reviews-2023.github.io/main.html</a:t>
            </a:r>
            <a:endParaRPr/>
          </a:p>
          <a:p>
            <a:pPr indent="0" lvl="0" marL="0" rtl="0" algn="l">
              <a:lnSpc>
                <a:spcPct val="100000"/>
              </a:lnSpc>
              <a:spcBef>
                <a:spcPts val="0"/>
              </a:spcBef>
              <a:spcAft>
                <a:spcPts val="0"/>
              </a:spcAft>
              <a:buSzPts val="1400"/>
              <a:buNone/>
            </a:pPr>
            <a:r>
              <a:rPr lang="en-US" sz="1200"/>
              <a:t>- Hou et al. (2024), Bridging Language and Items for Retrieval and Recommendation: https://arxiv.org/abs/2403.03952</a:t>
            </a:r>
            <a:endParaRPr/>
          </a:p>
        </p:txBody>
      </p:sp>
      <p:sp>
        <p:nvSpPr>
          <p:cNvPr id="41" name="Google Shape;41;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 name="Google Shape;61;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The architecture follows a medallion pattern. Bronze keeps the original reviews and metadata immutable, together with source manifests. Glue transforms that data into two Silver Parquet tables: a review fact and a product dimension. The Glue Data Catalog gives Athena and QuickSight consistent schemas. Athena then performs quality checks and creates Gold products for monthly ratings, product-level analysis, and model training. SageMaker trains the binary classifier and writes predictions back to S3, where Athena catalogs them. QuickSight imports three SPICE datasets: monthly ratings, product-month aggregates, and held-out model risk. This separation lets us preserve raw evidence, optimize trusted data for query cost, and keep analytics and machine-learning consumers decoupled.</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Implemented resources and paths documented in README.md, aws/glue_etl.py, and sql/athena/*.sql.</a:t>
            </a:r>
            <a:endParaRPr/>
          </a:p>
          <a:p>
            <a:pPr indent="0" lvl="0" marL="0" rtl="0" algn="l">
              <a:lnSpc>
                <a:spcPct val="100000"/>
              </a:lnSpc>
              <a:spcBef>
                <a:spcPts val="0"/>
              </a:spcBef>
              <a:spcAft>
                <a:spcPts val="0"/>
              </a:spcAft>
              <a:buSzPts val="1400"/>
              <a:buNone/>
            </a:pPr>
            <a:r>
              <a:rPr lang="en-US" sz="1200"/>
              <a:t>- Published QuickSight resource evidence in artifacts/evidence/quicksight_evidence.json.</a:t>
            </a:r>
            <a:endParaRPr/>
          </a:p>
        </p:txBody>
      </p:sp>
      <p:sp>
        <p:nvSpPr>
          <p:cNvPr id="62" name="Google Shape;62;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8" name="Google Shape;98;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Each layer has an explicit promotion gate. At ingestion, we verified exact S3 paths, object sizes, checksums, account, and Region. Glue validated required fields, rating bounds, timestamps, duplicate review identifiers, and metadata joins before writing Silver. Athena reconciled the fact and dimension counts, confirmed partition discovery, and validated Gold outputs against the original 66,004 reviews. For machine learning, users—not individual rows—were hashed into train, validation, and test partitions. That prevents the same reviewer’s language patterns from leaking across evaluation boundaries. The important governance principle is simple: if a check fails, the wizard stops, and the project does not claim the downstream layer as implemented.</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Quality contracts in aws/glue_etl.py, sql/athena/02_quality_checks.sql, and sql/athena/05_gold_quality_checks.sql.</a:t>
            </a:r>
            <a:endParaRPr/>
          </a:p>
          <a:p>
            <a:pPr indent="0" lvl="0" marL="0" rtl="0" algn="l">
              <a:lnSpc>
                <a:spcPct val="100000"/>
              </a:lnSpc>
              <a:spcBef>
                <a:spcPts val="0"/>
              </a:spcBef>
              <a:spcAft>
                <a:spcPts val="0"/>
              </a:spcAft>
              <a:buSzPts val="1400"/>
              <a:buNone/>
            </a:pPr>
            <a:r>
              <a:rPr lang="en-US" sz="1200"/>
              <a:t>- Wizard validation controls in scripts/aws_glue_silver_wizard.sh, scripts/aws_athena_wizard.sh, and scripts/aws_gold_wizard.sh.</a:t>
            </a:r>
            <a:endParaRPr/>
          </a:p>
        </p:txBody>
      </p:sp>
      <p:sp>
        <p:nvSpPr>
          <p:cNvPr id="99" name="Google Shape;99;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4" name="Google Shape;12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The descriptive distribution is highly imbalanced. Nearly 64 percent of the sample is five-star feedback, while one- and two-star reviews together represent 17.28 percent, or 11,408 records. That imbalance changes how we evaluate the model. A trivial classifier that predicts the majority class can achieve about 82.2 percent accuracy without identifying any low-rating review. Therefore, our primary business metric is recall on the low-rating class, supported by precision, F1, and ROC AUC. Descriptively, the dashboard also applies minimum-review thresholds before ranking products, which reduces the chance that a single negative review makes a low-volume product look like the highest priority.</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Counts computed from data/bronze/reviews/category=Electronics/electronics_random_sample.jsonl and reconciled to 66,004 rows.</a:t>
            </a:r>
            <a:endParaRPr/>
          </a:p>
          <a:p>
            <a:pPr indent="0" lvl="0" marL="0" rtl="0" algn="l">
              <a:lnSpc>
                <a:spcPct val="100000"/>
              </a:lnSpc>
              <a:spcBef>
                <a:spcPts val="0"/>
              </a:spcBef>
              <a:spcAft>
                <a:spcPts val="0"/>
              </a:spcAft>
              <a:buSzPts val="1400"/>
              <a:buNone/>
            </a:pPr>
            <a:r>
              <a:rPr lang="en-US" sz="1200"/>
              <a:t>- Baseline accuracy and held-out metrics in artifacts/evidence/sagemaker_metrics.json.</a:t>
            </a:r>
            <a:endParaRPr/>
          </a:p>
        </p:txBody>
      </p:sp>
      <p:sp>
        <p:nvSpPr>
          <p:cNvPr id="125" name="Google Shape;125;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The machine-learning goal is straightforward: read the written review and estimate the probability that its rating is one or two stars. First, those low ratings become the positive label. Next, TF-IDF converts each review into weighted individual words and two-word phrases, allowing the model to learn which language patterns are associated with low ratings. Logistic regression then combines those signals into a probability. Because low ratings represent only 17.28 percent of the sample, class balancing prevents the model from simply favoring the majority class. For fair evaluation, every reviewer belongs to only one split. Validation chooses the 0.62 decision threshold, and the final model is evaluated once on 6,436 previously unseen reviews. The output prioritizes human follow-up rather than making an automatic product decision.</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Split construction in sql/athena/04_gold_tables.sql.</a:t>
            </a:r>
            <a:endParaRPr/>
          </a:p>
          <a:p>
            <a:pPr indent="0" lvl="0" marL="0" rtl="0" algn="l">
              <a:lnSpc>
                <a:spcPct val="100000"/>
              </a:lnSpc>
              <a:spcBef>
                <a:spcPts val="0"/>
              </a:spcBef>
              <a:spcAft>
                <a:spcPts val="0"/>
              </a:spcAft>
              <a:buSzPts val="1400"/>
              <a:buNone/>
            </a:pPr>
            <a:r>
              <a:rPr lang="en-US" sz="1200"/>
              <a:t>- Training implementation in aws/sagemaker/train.py.</a:t>
            </a:r>
            <a:endParaRPr/>
          </a:p>
          <a:p>
            <a:pPr indent="0" lvl="0" marL="0" rtl="0" algn="l">
              <a:lnSpc>
                <a:spcPct val="100000"/>
              </a:lnSpc>
              <a:spcBef>
                <a:spcPts val="0"/>
              </a:spcBef>
              <a:spcAft>
                <a:spcPts val="0"/>
              </a:spcAft>
              <a:buSzPts val="1400"/>
              <a:buNone/>
            </a:pPr>
            <a:r>
              <a:rPr lang="en-US" sz="1200"/>
              <a:t>- Training job request in aws/sagemaker/build_training_job.py.</a:t>
            </a:r>
            <a:endParaRPr/>
          </a:p>
          <a:p>
            <a:pPr indent="0" lvl="0" marL="0" rtl="0" algn="l">
              <a:lnSpc>
                <a:spcPct val="100000"/>
              </a:lnSpc>
              <a:spcBef>
                <a:spcPts val="0"/>
              </a:spcBef>
              <a:spcAft>
                <a:spcPts val="0"/>
              </a:spcAft>
              <a:buSzPts val="1400"/>
              <a:buNone/>
            </a:pPr>
            <a:r>
              <a:rPr lang="en-US" sz="1200"/>
              <a:t>- Runtime evidence in artifacts/evidence/sagemaker_cost_evidence.json.</a:t>
            </a:r>
            <a:endParaRPr/>
          </a:p>
        </p:txBody>
      </p:sp>
      <p:sp>
        <p:nvSpPr>
          <p:cNvPr id="139" name="Google Shape;139;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9" name="Google Shape;1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The final SageMaker model uses TF-IDF text features with class-balanced logistic regression. Users were isolated across train, validation, and test partitions. We selected a probability threshold of 0.62 using validation F1, then evaluated once on 6,436 held-out reviews. The model achieved 93.49 percent accuracy, 78.60 percent precision, 87.17 percent recall, an F1 score of 82.66 percent, and a ROC AUC of 97.57 percent. Most importantly, it identified 999 true low-rating reviews while missing 147. Compared with the 82.19 percent majority baseline, this is a meaningful improvement, but the false positives and false negatives reinforce that the model should prioritize human review rather than trigger automatic customer or product actions.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Final SageMaker metrics in artifacts/evidence/sagemaker_metrics.json.</a:t>
            </a:r>
            <a:endParaRPr/>
          </a:p>
          <a:p>
            <a:pPr indent="0" lvl="0" marL="0" rtl="0" algn="l">
              <a:lnSpc>
                <a:spcPct val="100000"/>
              </a:lnSpc>
              <a:spcBef>
                <a:spcPts val="0"/>
              </a:spcBef>
              <a:spcAft>
                <a:spcPts val="0"/>
              </a:spcAft>
              <a:buSzPts val="1400"/>
              <a:buNone/>
            </a:pPr>
            <a:r>
              <a:rPr lang="en-US" sz="1200"/>
              <a:t>- Confusion reconciliation in artifacts/evidence/sagemaker_athena_validation.json.</a:t>
            </a:r>
            <a:endParaRPr/>
          </a:p>
          <a:p>
            <a:pPr indent="0" lvl="0" marL="0" rtl="0" algn="l">
              <a:lnSpc>
                <a:spcPct val="100000"/>
              </a:lnSpc>
              <a:spcBef>
                <a:spcPts val="0"/>
              </a:spcBef>
              <a:spcAft>
                <a:spcPts val="0"/>
              </a:spcAft>
              <a:buSzPts val="1400"/>
              <a:buNone/>
            </a:pPr>
            <a:r>
              <a:rPr lang="en-US" sz="1200"/>
              <a:t>- Training implementation in aws/sagemaker/train.py.</a:t>
            </a:r>
            <a:endParaRPr/>
          </a:p>
        </p:txBody>
      </p:sp>
      <p:sp>
        <p:nvSpPr>
          <p:cNvPr id="170" name="Google Shape;1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The final output is a published QuickSight dashboard rather than a static model report. The Portfolio Overview sheet summarizes all 66,004 reviews and the 11,408 low-rating records, with controls that support time-based exploration. The Product Risk sheet combines two perspectives: descriptive risk from observed ratings and predicted risk from the held-out model output. Three SPICE datasets make the dashboard responsive while reducing repeated Athena scans. This design lets a business user start with portfolio-level context, move to product rankings, and then inspect the model’s probability-based prioritization. The dashboard and its PDF export also provide implementation evidence that the analytics layer is connected to the actual Gold and prediction tables.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Published dashboard evidence in artifacts/evidence/quicksight_evidence.json.</a:t>
            </a:r>
            <a:endParaRPr/>
          </a:p>
          <a:p>
            <a:pPr indent="0" lvl="0" marL="0" rtl="0" algn="l">
              <a:lnSpc>
                <a:spcPct val="100000"/>
              </a:lnSpc>
              <a:spcBef>
                <a:spcPts val="0"/>
              </a:spcBef>
              <a:spcAft>
                <a:spcPts val="0"/>
              </a:spcAft>
              <a:buSzPts val="1400"/>
              <a:buNone/>
            </a:pPr>
            <a:r>
              <a:rPr lang="en-US" sz="1200"/>
              <a:t>- Dashboard PDF in artifacts/evidence/quicksight_dashboard.pdf.</a:t>
            </a:r>
            <a:endParaRPr/>
          </a:p>
          <a:p>
            <a:pPr indent="0" lvl="0" marL="0" rtl="0" algn="l">
              <a:lnSpc>
                <a:spcPct val="100000"/>
              </a:lnSpc>
              <a:spcBef>
                <a:spcPts val="0"/>
              </a:spcBef>
              <a:spcAft>
                <a:spcPts val="0"/>
              </a:spcAft>
              <a:buSzPts val="1400"/>
              <a:buNone/>
            </a:pPr>
            <a:r>
              <a:rPr lang="en-US" sz="1200"/>
              <a:t>- Product Risk screenshot in artifacts/evidence/quicksight_product_risk.png.</a:t>
            </a:r>
            <a:endParaRPr/>
          </a:p>
        </p:txBody>
      </p:sp>
      <p:sp>
        <p:nvSpPr>
          <p:cNvPr id="187" name="Google Shape;187;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AWS fit this build because storage, governance, machine learning, and business intelligence all operate around the same S3 data lake. The dedicated group18-gold-build Athena workgroup limits each query to 256 mebibytes scanned. Parquet, Snappy compression, and partitions reduce the bytes read before that ceiling is reached, while the checkpoint workgroup enforces the project results location. The SageMaker job used one ml.m5.xlarge instance with a 20-gigabyte volume and completed in 89 billable seconds. Its 1,800-second MaxRuntimeInSeconds setting would stop a stalled job after 30 minutes, and we created no persistent endpoint. SageMaker returned artifacts and predictions to S3, Athena cataloged those outputs, and QuickSight imported three SPICE datasets. That shared path reduces duplicate storage and integration work. The remaining recurring-cost risk is the QuickSight subscription after its trial.</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Athena Gold workgroup cutoff in scripts/aws_gold_wizard.sh.</a:t>
            </a:r>
            <a:endParaRPr/>
          </a:p>
          <a:p>
            <a:pPr indent="0" lvl="0" marL="0" rtl="0" algn="l">
              <a:lnSpc>
                <a:spcPct val="100000"/>
              </a:lnSpc>
              <a:spcBef>
                <a:spcPts val="0"/>
              </a:spcBef>
              <a:spcAft>
                <a:spcPts val="0"/>
              </a:spcAft>
              <a:buSzPts val="1400"/>
              <a:buNone/>
            </a:pPr>
            <a:r>
              <a:rPr lang="en-US" sz="1200"/>
              <a:t>- Training duration and endpoint evidence in artifacts/evidence/sagemaker_cost_evidence.json.</a:t>
            </a:r>
            <a:endParaRPr/>
          </a:p>
          <a:p>
            <a:pPr indent="0" lvl="0" marL="0" rtl="0" algn="l">
              <a:lnSpc>
                <a:spcPct val="100000"/>
              </a:lnSpc>
              <a:spcBef>
                <a:spcPts val="0"/>
              </a:spcBef>
              <a:spcAft>
                <a:spcPts val="0"/>
              </a:spcAft>
              <a:buSzPts val="1400"/>
              <a:buNone/>
            </a:pPr>
            <a:r>
              <a:rPr lang="en-US" sz="1200"/>
              <a:t>- Training resource request in aws/sagemaker/build_training_job.py.</a:t>
            </a:r>
            <a:endParaRPr/>
          </a:p>
          <a:p>
            <a:pPr indent="0" lvl="0" marL="0" rtl="0" algn="l">
              <a:lnSpc>
                <a:spcPct val="100000"/>
              </a:lnSpc>
              <a:spcBef>
                <a:spcPts val="0"/>
              </a:spcBef>
              <a:spcAft>
                <a:spcPts val="0"/>
              </a:spcAft>
              <a:buSzPts val="1400"/>
              <a:buNone/>
            </a:pPr>
            <a:r>
              <a:rPr lang="en-US" sz="1200"/>
              <a:t>- QuickSight integration evidence in artifacts/evidence/quicksight_evidence.json.</a:t>
            </a:r>
            <a:endParaRPr/>
          </a:p>
          <a:p>
            <a:pPr indent="0" lvl="0" marL="0" rtl="0" algn="l">
              <a:lnSpc>
                <a:spcPct val="100000"/>
              </a:lnSpc>
              <a:spcBef>
                <a:spcPts val="0"/>
              </a:spcBef>
              <a:spcAft>
                <a:spcPts val="0"/>
              </a:spcAft>
              <a:buSzPts val="1400"/>
              <a:buNone/>
            </a:pPr>
            <a:r>
              <a:rPr lang="en-US" sz="1200"/>
              <a:t>- AWS Glue pricing: https://aws.amazon.com/glue/pricing/</a:t>
            </a:r>
            <a:endParaRPr/>
          </a:p>
          <a:p>
            <a:pPr indent="0" lvl="0" marL="0" rtl="0" algn="l">
              <a:lnSpc>
                <a:spcPct val="100000"/>
              </a:lnSpc>
              <a:spcBef>
                <a:spcPts val="0"/>
              </a:spcBef>
              <a:spcAft>
                <a:spcPts val="0"/>
              </a:spcAft>
              <a:buSzPts val="1400"/>
              <a:buNone/>
            </a:pPr>
            <a:r>
              <a:rPr lang="en-US" sz="1200"/>
              <a:t>- Amazon Athena pricing reference: https://aws.amazon.com/athena/pricing/</a:t>
            </a:r>
            <a:endParaRPr/>
          </a:p>
          <a:p>
            <a:pPr indent="0" lvl="0" marL="0" rtl="0" algn="l">
              <a:lnSpc>
                <a:spcPct val="100000"/>
              </a:lnSpc>
              <a:spcBef>
                <a:spcPts val="0"/>
              </a:spcBef>
              <a:spcAft>
                <a:spcPts val="0"/>
              </a:spcAft>
              <a:buSzPts val="1400"/>
              <a:buNone/>
            </a:pPr>
            <a:r>
              <a:rPr lang="en-US" sz="1200"/>
              <a:t>- Amazon SageMaker AI pricing: https://aws.amazon.com/sagemaker/ai/pricing/</a:t>
            </a:r>
            <a:endParaRPr/>
          </a:p>
          <a:p>
            <a:pPr indent="0" lvl="0" marL="0" rtl="0" algn="l">
              <a:lnSpc>
                <a:spcPct val="100000"/>
              </a:lnSpc>
              <a:spcBef>
                <a:spcPts val="0"/>
              </a:spcBef>
              <a:spcAft>
                <a:spcPts val="0"/>
              </a:spcAft>
              <a:buSzPts val="1400"/>
              <a:buNone/>
            </a:pPr>
            <a:r>
              <a:rPr lang="en-US" sz="1200"/>
              <a:t>- Amazon QuickSight pricing: https://aws.amazon.com/quick/quicksight/pricing/</a:t>
            </a:r>
            <a:endParaRPr/>
          </a:p>
        </p:txBody>
      </p:sp>
      <p:sp>
        <p:nvSpPr>
          <p:cNvPr id="203" name="Google Shape;203;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Making this production ready means scaling the controls before scaling the model’s influence. First, replace the fixed sample with incremental ingestion for the full Electronics category and eventually additional categories. Partition by date and category, compact small files, and manage retention. Second, automate Glue transformations, Athena quality gates, retraining, approval, and batch scoring through recoverable workflows and versioned model releases. Third, monitor data quality, feature drift, calibration, latency, and cost, using temporal evaluation before promotion. Finally, keep batch scoring as the default because it matches the current business workflow. Create a real-time endpoint only if an operational latency requirement justifies its recurring cost. Human review, feedback capture, and rollback remain required throughout.</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Current implemented baseline in README.md and aws/sagemaker/train.py.</a:t>
            </a:r>
            <a:endParaRPr/>
          </a:p>
          <a:p>
            <a:pPr indent="0" lvl="0" marL="0" rtl="0" algn="l">
              <a:lnSpc>
                <a:spcPct val="100000"/>
              </a:lnSpc>
              <a:spcBef>
                <a:spcPts val="0"/>
              </a:spcBef>
              <a:spcAft>
                <a:spcPts val="0"/>
              </a:spcAft>
              <a:buSzPts val="1400"/>
              <a:buNone/>
            </a:pPr>
            <a:r>
              <a:rPr lang="en-US" sz="1200"/>
              <a:t>- AWS Glue workflows: https://docs.aws.amazon.com/glue/latest/dg/workflows_overview.html</a:t>
            </a:r>
            <a:endParaRPr/>
          </a:p>
          <a:p>
            <a:pPr indent="0" lvl="0" marL="0" rtl="0" algn="l">
              <a:lnSpc>
                <a:spcPct val="100000"/>
              </a:lnSpc>
              <a:spcBef>
                <a:spcPts val="0"/>
              </a:spcBef>
              <a:spcAft>
                <a:spcPts val="0"/>
              </a:spcAft>
              <a:buSzPts val="1400"/>
              <a:buNone/>
            </a:pPr>
            <a:r>
              <a:rPr lang="en-US" sz="1200"/>
              <a:t>- Amazon SageMaker Pipelines: https://docs.aws.amazon.com/sagemaker/latest/dg/build-and-manage-steps.html</a:t>
            </a:r>
            <a:endParaRPr/>
          </a:p>
          <a:p>
            <a:pPr indent="0" lvl="0" marL="0" rtl="0" algn="l">
              <a:lnSpc>
                <a:spcPct val="100000"/>
              </a:lnSpc>
              <a:spcBef>
                <a:spcPts val="0"/>
              </a:spcBef>
              <a:spcAft>
                <a:spcPts val="0"/>
              </a:spcAft>
              <a:buSzPts val="1400"/>
              <a:buNone/>
            </a:pPr>
            <a:r>
              <a:rPr lang="en-US" sz="1200"/>
              <a:t>- Amazon SageMaker Model Monitor: https://docs.aws.amazon.com/sagemaker/latest/dg/model-monitor.html</a:t>
            </a:r>
            <a:endParaRPr/>
          </a:p>
        </p:txBody>
      </p:sp>
      <p:sp>
        <p:nvSpPr>
          <p:cNvPr id="230" name="Google Shape;230;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3"/>
          <p:cNvSpPr/>
          <p:nvPr/>
        </p:nvSpPr>
        <p:spPr>
          <a:xfrm>
            <a:off x="533400" y="457200"/>
            <a:ext cx="4762500"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3D8DFF"/>
                </a:solidFill>
                <a:latin typeface="Arial"/>
                <a:ea typeface="Arial"/>
                <a:cs typeface="Arial"/>
                <a:sym typeface="Arial"/>
              </a:rPr>
              <a:t>MGMT 59990 · GROUP 18</a:t>
            </a:r>
            <a:endParaRPr b="0" i="0" sz="1400" u="none" cap="none" strike="noStrike">
              <a:solidFill>
                <a:srgbClr val="000000"/>
              </a:solidFill>
              <a:latin typeface="Arial"/>
              <a:ea typeface="Arial"/>
              <a:cs typeface="Arial"/>
              <a:sym typeface="Arial"/>
            </a:endParaRPr>
          </a:p>
        </p:txBody>
      </p:sp>
      <p:sp>
        <p:nvSpPr>
          <p:cNvPr id="17" name="Google Shape;17;p3"/>
          <p:cNvSpPr/>
          <p:nvPr/>
        </p:nvSpPr>
        <p:spPr>
          <a:xfrm>
            <a:off x="533400" y="1225225"/>
            <a:ext cx="11094000" cy="2679900"/>
          </a:xfrm>
          <a:prstGeom prst="rect">
            <a:avLst/>
          </a:prstGeom>
          <a:noFill/>
          <a:ln>
            <a:noFill/>
          </a:ln>
        </p:spPr>
        <p:txBody>
          <a:bodyPr anchorCtr="0" anchor="b" bIns="45700" lIns="91425" spcFirstLastPara="1" rIns="91425" wrap="square" tIns="45700">
            <a:noAutofit/>
          </a:bodyPr>
          <a:lstStyle/>
          <a:p>
            <a:pPr indent="0" lvl="0" marL="0" marR="0" rtl="0" algn="l">
              <a:lnSpc>
                <a:spcPct val="100000"/>
              </a:lnSpc>
              <a:spcBef>
                <a:spcPts val="0"/>
              </a:spcBef>
              <a:spcAft>
                <a:spcPts val="0"/>
              </a:spcAft>
              <a:buClr>
                <a:srgbClr val="000000"/>
              </a:buClr>
              <a:buSzPts val="4800"/>
              <a:buFont typeface="Arial"/>
              <a:buNone/>
            </a:pPr>
            <a:r>
              <a:rPr b="1" i="0" lang="en-US" sz="4800" u="none" cap="none" strike="noStrike">
                <a:solidFill>
                  <a:srgbClr val="111827"/>
                </a:solidFill>
                <a:latin typeface="Arial"/>
                <a:ea typeface="Arial"/>
                <a:cs typeface="Arial"/>
                <a:sym typeface="Arial"/>
              </a:rPr>
              <a:t>Turning Amazon electronics reviews</a:t>
            </a:r>
            <a:endParaRPr b="0" i="0" sz="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4800"/>
              <a:buFont typeface="Arial"/>
              <a:buNone/>
            </a:pPr>
            <a:r>
              <a:rPr b="1" i="0" lang="en-US" sz="4800" u="none" cap="none" strike="noStrike">
                <a:solidFill>
                  <a:srgbClr val="111827"/>
                </a:solidFill>
                <a:latin typeface="Arial"/>
                <a:ea typeface="Arial"/>
                <a:cs typeface="Arial"/>
                <a:sym typeface="Arial"/>
              </a:rPr>
              <a:t>into early risk signals</a:t>
            </a:r>
            <a:endParaRPr b="0" i="0" sz="600" u="none" cap="none" strike="noStrike">
              <a:solidFill>
                <a:srgbClr val="000000"/>
              </a:solidFill>
              <a:latin typeface="Arial"/>
              <a:ea typeface="Arial"/>
              <a:cs typeface="Arial"/>
              <a:sym typeface="Arial"/>
            </a:endParaRPr>
          </a:p>
        </p:txBody>
      </p:sp>
      <p:sp>
        <p:nvSpPr>
          <p:cNvPr id="18" name="Google Shape;18;p3"/>
          <p:cNvSpPr/>
          <p:nvPr/>
        </p:nvSpPr>
        <p:spPr>
          <a:xfrm>
            <a:off x="533400" y="4343400"/>
            <a:ext cx="2247900" cy="57150"/>
          </a:xfrm>
          <a:prstGeom prst="rect">
            <a:avLst/>
          </a:prstGeom>
          <a:solidFill>
            <a:srgbClr val="3D8D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3"/>
          <p:cNvSpPr/>
          <p:nvPr/>
        </p:nvSpPr>
        <p:spPr>
          <a:xfrm>
            <a:off x="533400" y="4762500"/>
            <a:ext cx="8477250" cy="876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250"/>
              <a:buFont typeface="Arial"/>
              <a:buNone/>
            </a:pPr>
            <a:r>
              <a:rPr b="0" i="0" lang="en-US" sz="2250" u="none" cap="none" strike="noStrike">
                <a:solidFill>
                  <a:srgbClr val="5B6574"/>
                </a:solidFill>
                <a:latin typeface="Arial"/>
                <a:ea typeface="Arial"/>
                <a:cs typeface="Arial"/>
                <a:sym typeface="Arial"/>
              </a:rPr>
              <a:t>An implemented AWS data lake, Classification ML model, and QuickSight dashboard</a:t>
            </a:r>
            <a:endParaRPr b="0" i="0" sz="1400" u="none" cap="none" strike="noStrike">
              <a:solidFill>
                <a:srgbClr val="000000"/>
              </a:solidFill>
              <a:latin typeface="Arial"/>
              <a:ea typeface="Arial"/>
              <a:cs typeface="Arial"/>
              <a:sym typeface="Arial"/>
            </a:endParaRPr>
          </a:p>
        </p:txBody>
      </p:sp>
      <p:sp>
        <p:nvSpPr>
          <p:cNvPr id="20" name="Google Shape;20;p3"/>
          <p:cNvSpPr/>
          <p:nvPr/>
        </p:nvSpPr>
        <p:spPr>
          <a:xfrm>
            <a:off x="533400" y="6191250"/>
            <a:ext cx="5715000" cy="247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025"/>
              <a:buFont typeface="Arial"/>
              <a:buNone/>
            </a:pPr>
            <a:r>
              <a:rPr b="0" i="0" lang="en-US" sz="1025" u="none" cap="none" strike="noStrike">
                <a:solidFill>
                  <a:srgbClr val="5B6574"/>
                </a:solidFill>
                <a:latin typeface="Arial"/>
                <a:ea typeface="Arial"/>
                <a:cs typeface="Arial"/>
                <a:sym typeface="Arial"/>
              </a:rPr>
              <a:t>Final project presentation · August 2026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4"/>
          <p:cNvSpPr/>
          <p:nvPr/>
        </p:nvSpPr>
        <p:spPr>
          <a:xfrm>
            <a:off x="533400" y="323850"/>
            <a:ext cx="438150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3D8DFF"/>
                </a:solidFill>
                <a:latin typeface="Arial"/>
                <a:ea typeface="Arial"/>
                <a:cs typeface="Arial"/>
                <a:sym typeface="Arial"/>
              </a:rPr>
              <a:t>MGMT 59990 · GROUP 18</a:t>
            </a:r>
            <a:endParaRPr b="0" i="0" sz="1400" u="none" cap="none" strike="noStrike">
              <a:solidFill>
                <a:srgbClr val="000000"/>
              </a:solidFill>
              <a:latin typeface="Arial"/>
              <a:ea typeface="Arial"/>
              <a:cs typeface="Arial"/>
              <a:sym typeface="Arial"/>
            </a:endParaRPr>
          </a:p>
        </p:txBody>
      </p:sp>
      <p:sp>
        <p:nvSpPr>
          <p:cNvPr id="27" name="Google Shape;27;p4"/>
          <p:cNvSpPr/>
          <p:nvPr/>
        </p:nvSpPr>
        <p:spPr>
          <a:xfrm>
            <a:off x="487100" y="897650"/>
            <a:ext cx="11125200" cy="723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150"/>
              <a:buFont typeface="Arial"/>
              <a:buNone/>
            </a:pPr>
            <a:r>
              <a:rPr b="1" i="0" lang="en-US" sz="3150" u="none" cap="none" strike="noStrike">
                <a:solidFill>
                  <a:srgbClr val="111827"/>
                </a:solidFill>
                <a:latin typeface="Arial"/>
                <a:ea typeface="Arial"/>
                <a:cs typeface="Arial"/>
                <a:sym typeface="Arial"/>
              </a:rPr>
              <a:t>Manual research on reviews is information that is too late</a:t>
            </a:r>
            <a:endParaRPr b="0" i="0" sz="800" u="none" cap="none" strike="noStrike">
              <a:solidFill>
                <a:srgbClr val="000000"/>
              </a:solidFill>
              <a:latin typeface="Arial"/>
              <a:ea typeface="Arial"/>
              <a:cs typeface="Arial"/>
              <a:sym typeface="Arial"/>
            </a:endParaRPr>
          </a:p>
        </p:txBody>
      </p:sp>
      <p:sp>
        <p:nvSpPr>
          <p:cNvPr id="28" name="Google Shape;28;p4"/>
          <p:cNvSpPr/>
          <p:nvPr/>
        </p:nvSpPr>
        <p:spPr>
          <a:xfrm>
            <a:off x="11144250" y="6381750"/>
            <a:ext cx="514350" cy="20955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75"/>
              <a:buFont typeface="Arial"/>
              <a:buNone/>
            </a:pPr>
            <a:r>
              <a:rPr b="0" i="0" lang="en-US" sz="775" u="none" cap="none" strike="noStrike">
                <a:solidFill>
                  <a:srgbClr val="5B6574"/>
                </a:solidFill>
                <a:latin typeface="Arial"/>
                <a:ea typeface="Arial"/>
                <a:cs typeface="Arial"/>
                <a:sym typeface="Arial"/>
              </a:rPr>
              <a:t>02</a:t>
            </a:r>
            <a:endParaRPr b="0" i="0" sz="1400" u="none" cap="none" strike="noStrike">
              <a:solidFill>
                <a:srgbClr val="000000"/>
              </a:solidFill>
              <a:latin typeface="Arial"/>
              <a:ea typeface="Arial"/>
              <a:cs typeface="Arial"/>
              <a:sym typeface="Arial"/>
            </a:endParaRPr>
          </a:p>
        </p:txBody>
      </p:sp>
      <p:sp>
        <p:nvSpPr>
          <p:cNvPr id="29" name="Google Shape;29;p4"/>
          <p:cNvSpPr/>
          <p:nvPr/>
        </p:nvSpPr>
        <p:spPr>
          <a:xfrm>
            <a:off x="533400" y="1695450"/>
            <a:ext cx="10191750" cy="819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387"/>
              <a:buFont typeface="Arial"/>
              <a:buNone/>
            </a:pPr>
            <a:r>
              <a:rPr b="1" i="0" lang="en-US" sz="2387" u="none" cap="none" strike="noStrike">
                <a:solidFill>
                  <a:srgbClr val="111827"/>
                </a:solidFill>
                <a:latin typeface="Arial"/>
                <a:ea typeface="Arial"/>
                <a:cs typeface="Arial"/>
                <a:sym typeface="Arial"/>
              </a:rPr>
              <a:t>Thousands of reviews contain quality signals, but teams cannot read and prioritize them consistently at scale.</a:t>
            </a:r>
            <a:endParaRPr b="0" i="0" sz="1400" u="none" cap="none" strike="noStrike">
              <a:solidFill>
                <a:srgbClr val="000000"/>
              </a:solidFill>
              <a:latin typeface="Arial"/>
              <a:ea typeface="Arial"/>
              <a:cs typeface="Arial"/>
              <a:sym typeface="Arial"/>
            </a:endParaRPr>
          </a:p>
        </p:txBody>
      </p:sp>
      <p:sp>
        <p:nvSpPr>
          <p:cNvPr id="30" name="Google Shape;30;p4"/>
          <p:cNvSpPr/>
          <p:nvPr/>
        </p:nvSpPr>
        <p:spPr>
          <a:xfrm>
            <a:off x="533400" y="2857500"/>
            <a:ext cx="11125200" cy="19050"/>
          </a:xfrm>
          <a:prstGeom prst="rect">
            <a:avLst/>
          </a:prstGeom>
          <a:solidFill>
            <a:srgbClr val="C7CC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 name="Google Shape;31;p4"/>
          <p:cNvSpPr/>
          <p:nvPr/>
        </p:nvSpPr>
        <p:spPr>
          <a:xfrm>
            <a:off x="533400" y="3276600"/>
            <a:ext cx="314325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3D8DFF"/>
                </a:solidFill>
                <a:latin typeface="Arial"/>
                <a:ea typeface="Arial"/>
                <a:cs typeface="Arial"/>
                <a:sym typeface="Arial"/>
              </a:rPr>
              <a:t>Product teams</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a:off x="533400" y="3886200"/>
            <a:ext cx="3143250" cy="1200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5B6574"/>
                </a:solidFill>
                <a:latin typeface="Arial"/>
                <a:ea typeface="Arial"/>
                <a:cs typeface="Arial"/>
                <a:sym typeface="Arial"/>
              </a:rPr>
              <a:t>Which products show a concentrated pattern of low ratings?</a:t>
            </a:r>
            <a:endParaRPr b="0" i="0" sz="1400" u="none" cap="none" strike="noStrike">
              <a:solidFill>
                <a:srgbClr val="000000"/>
              </a:solidFill>
              <a:latin typeface="Arial"/>
              <a:ea typeface="Arial"/>
              <a:cs typeface="Arial"/>
              <a:sym typeface="Arial"/>
            </a:endParaRPr>
          </a:p>
        </p:txBody>
      </p:sp>
      <p:sp>
        <p:nvSpPr>
          <p:cNvPr id="33" name="Google Shape;33;p4"/>
          <p:cNvSpPr/>
          <p:nvPr/>
        </p:nvSpPr>
        <p:spPr>
          <a:xfrm>
            <a:off x="4286250" y="3276600"/>
            <a:ext cx="314325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147A4A"/>
                </a:solidFill>
                <a:latin typeface="Arial"/>
                <a:ea typeface="Arial"/>
                <a:cs typeface="Arial"/>
                <a:sym typeface="Arial"/>
              </a:rPr>
              <a:t>Customer experience</a:t>
            </a:r>
            <a:endParaRPr b="0" i="0" sz="1400" u="none" cap="none" strike="noStrike">
              <a:solidFill>
                <a:srgbClr val="000000"/>
              </a:solidFill>
              <a:latin typeface="Arial"/>
              <a:ea typeface="Arial"/>
              <a:cs typeface="Arial"/>
              <a:sym typeface="Arial"/>
            </a:endParaRPr>
          </a:p>
        </p:txBody>
      </p:sp>
      <p:sp>
        <p:nvSpPr>
          <p:cNvPr id="34" name="Google Shape;34;p4"/>
          <p:cNvSpPr/>
          <p:nvPr/>
        </p:nvSpPr>
        <p:spPr>
          <a:xfrm>
            <a:off x="4286250" y="3886200"/>
            <a:ext cx="3143250" cy="1200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5B6574"/>
                </a:solidFill>
                <a:latin typeface="Arial"/>
                <a:ea typeface="Arial"/>
                <a:cs typeface="Arial"/>
                <a:sym typeface="Arial"/>
              </a:rPr>
              <a:t>Which reviews should be examined first for recurring issues?</a:t>
            </a:r>
            <a:endParaRPr b="0" i="0" sz="1400" u="none" cap="none" strike="noStrike">
              <a:solidFill>
                <a:srgbClr val="000000"/>
              </a:solidFill>
              <a:latin typeface="Arial"/>
              <a:ea typeface="Arial"/>
              <a:cs typeface="Arial"/>
              <a:sym typeface="Arial"/>
            </a:endParaRPr>
          </a:p>
        </p:txBody>
      </p:sp>
      <p:sp>
        <p:nvSpPr>
          <p:cNvPr id="35" name="Google Shape;35;p4"/>
          <p:cNvSpPr/>
          <p:nvPr/>
        </p:nvSpPr>
        <p:spPr>
          <a:xfrm>
            <a:off x="8039100" y="3276600"/>
            <a:ext cx="314325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3D8DFF"/>
                </a:solidFill>
                <a:latin typeface="Arial"/>
                <a:ea typeface="Arial"/>
                <a:cs typeface="Arial"/>
                <a:sym typeface="Arial"/>
              </a:rPr>
              <a:t>Analytics leaders</a:t>
            </a:r>
            <a:endParaRPr b="0" i="0" sz="1400" u="none" cap="none" strike="noStrike">
              <a:solidFill>
                <a:srgbClr val="000000"/>
              </a:solidFill>
              <a:latin typeface="Arial"/>
              <a:ea typeface="Arial"/>
              <a:cs typeface="Arial"/>
              <a:sym typeface="Arial"/>
            </a:endParaRPr>
          </a:p>
        </p:txBody>
      </p:sp>
      <p:sp>
        <p:nvSpPr>
          <p:cNvPr id="36" name="Google Shape;36;p4"/>
          <p:cNvSpPr/>
          <p:nvPr/>
        </p:nvSpPr>
        <p:spPr>
          <a:xfrm>
            <a:off x="8039100" y="3886200"/>
            <a:ext cx="3143250" cy="1200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5B6574"/>
                </a:solidFill>
                <a:latin typeface="Arial"/>
                <a:ea typeface="Arial"/>
                <a:cs typeface="Arial"/>
                <a:sym typeface="Arial"/>
              </a:rPr>
              <a:t>Can the evidence be reproduced, governed, and delivered affordably?</a:t>
            </a:r>
            <a:endParaRPr b="0" i="0" sz="1400" u="none" cap="none" strike="noStrike">
              <a:solidFill>
                <a:srgbClr val="000000"/>
              </a:solidFill>
              <a:latin typeface="Arial"/>
              <a:ea typeface="Arial"/>
              <a:cs typeface="Arial"/>
              <a:sym typeface="Arial"/>
            </a:endParaRPr>
          </a:p>
        </p:txBody>
      </p:sp>
      <p:sp>
        <p:nvSpPr>
          <p:cNvPr id="37" name="Google Shape;37;p4"/>
          <p:cNvSpPr/>
          <p:nvPr/>
        </p:nvSpPr>
        <p:spPr>
          <a:xfrm>
            <a:off x="533400" y="5619750"/>
            <a:ext cx="10572750" cy="495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52"/>
              <a:buFont typeface="Arial"/>
              <a:buNone/>
            </a:pPr>
            <a:r>
              <a:rPr b="1" i="0" lang="en-US" sz="1852" u="none" cap="none" strike="noStrike">
                <a:solidFill>
                  <a:srgbClr val="111827"/>
                </a:solidFill>
                <a:latin typeface="Arial"/>
                <a:ea typeface="Arial"/>
                <a:cs typeface="Arial"/>
                <a:sym typeface="Arial"/>
              </a:rPr>
              <a:t>Our target: predict likely 1–2 star reviews and surface product-level risk for human follow-up.</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 name="Shape 42"/>
        <p:cNvGrpSpPr/>
        <p:nvPr/>
      </p:nvGrpSpPr>
      <p:grpSpPr>
        <a:xfrm>
          <a:off x="0" y="0"/>
          <a:ext cx="0" cy="0"/>
          <a:chOff x="0" y="0"/>
          <a:chExt cx="0" cy="0"/>
        </a:xfrm>
      </p:grpSpPr>
      <p:sp>
        <p:nvSpPr>
          <p:cNvPr id="43" name="Google Shape;43;p5"/>
          <p:cNvSpPr/>
          <p:nvPr/>
        </p:nvSpPr>
        <p:spPr>
          <a:xfrm>
            <a:off x="533400" y="323850"/>
            <a:ext cx="438150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3D8DFF"/>
                </a:solidFill>
                <a:latin typeface="Arial"/>
                <a:ea typeface="Arial"/>
                <a:cs typeface="Arial"/>
                <a:sym typeface="Arial"/>
              </a:rPr>
              <a:t>MGMT 59990 · GROUP 18</a:t>
            </a:r>
            <a:endParaRPr b="0" i="0" sz="1400" u="none" cap="none" strike="noStrike">
              <a:solidFill>
                <a:srgbClr val="000000"/>
              </a:solidFill>
              <a:latin typeface="Arial"/>
              <a:ea typeface="Arial"/>
              <a:cs typeface="Arial"/>
              <a:sym typeface="Arial"/>
            </a:endParaRPr>
          </a:p>
        </p:txBody>
      </p:sp>
      <p:sp>
        <p:nvSpPr>
          <p:cNvPr id="44" name="Google Shape;44;p5"/>
          <p:cNvSpPr/>
          <p:nvPr/>
        </p:nvSpPr>
        <p:spPr>
          <a:xfrm>
            <a:off x="533400" y="647700"/>
            <a:ext cx="11125200" cy="723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539"/>
              <a:buFont typeface="Arial"/>
              <a:buNone/>
            </a:pPr>
            <a:r>
              <a:rPr b="1" i="0" lang="en-US" sz="3539" u="none" cap="none" strike="noStrike">
                <a:solidFill>
                  <a:srgbClr val="111827"/>
                </a:solidFill>
                <a:latin typeface="Arial"/>
                <a:ea typeface="Arial"/>
                <a:cs typeface="Arial"/>
                <a:sym typeface="Arial"/>
              </a:rPr>
              <a:t>A distributed sample avoids processing all 22.6 GB</a:t>
            </a:r>
            <a:endParaRPr b="0" i="0" sz="1400" u="none" cap="none" strike="noStrike">
              <a:solidFill>
                <a:srgbClr val="000000"/>
              </a:solidFill>
              <a:latin typeface="Arial"/>
              <a:ea typeface="Arial"/>
              <a:cs typeface="Arial"/>
              <a:sym typeface="Arial"/>
            </a:endParaRPr>
          </a:p>
        </p:txBody>
      </p:sp>
      <p:sp>
        <p:nvSpPr>
          <p:cNvPr id="45" name="Google Shape;45;p5"/>
          <p:cNvSpPr/>
          <p:nvPr/>
        </p:nvSpPr>
        <p:spPr>
          <a:xfrm>
            <a:off x="11144250" y="6381750"/>
            <a:ext cx="514350" cy="20955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75"/>
              <a:buFont typeface="Arial"/>
              <a:buNone/>
            </a:pPr>
            <a:r>
              <a:rPr b="0" i="0" lang="en-US" sz="775" u="none" cap="none" strike="noStrike">
                <a:solidFill>
                  <a:srgbClr val="5B6574"/>
                </a:solidFill>
                <a:latin typeface="Arial"/>
                <a:ea typeface="Arial"/>
                <a:cs typeface="Arial"/>
                <a:sym typeface="Arial"/>
              </a:rPr>
              <a:t>03</a:t>
            </a:r>
            <a:endParaRPr b="0" i="0" sz="1400" u="none" cap="none" strike="noStrike">
              <a:solidFill>
                <a:srgbClr val="000000"/>
              </a:solidFill>
              <a:latin typeface="Arial"/>
              <a:ea typeface="Arial"/>
              <a:cs typeface="Arial"/>
              <a:sym typeface="Arial"/>
            </a:endParaRPr>
          </a:p>
        </p:txBody>
      </p:sp>
      <p:sp>
        <p:nvSpPr>
          <p:cNvPr id="46" name="Google Shape;46;p5"/>
          <p:cNvSpPr/>
          <p:nvPr/>
        </p:nvSpPr>
        <p:spPr>
          <a:xfrm>
            <a:off x="533400" y="1447800"/>
            <a:ext cx="10572750" cy="5905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37"/>
              <a:buFont typeface="Arial"/>
              <a:buNone/>
            </a:pPr>
            <a:r>
              <a:rPr b="0" i="0" lang="en-US" sz="1637" u="none" cap="none" strike="noStrike">
                <a:solidFill>
                  <a:srgbClr val="5B6574"/>
                </a:solidFill>
                <a:latin typeface="Arial"/>
                <a:ea typeface="Arial"/>
                <a:cs typeface="Arial"/>
                <a:sym typeface="Arial"/>
              </a:rPr>
              <a:t>A seeded, distributed byte-range sample from Amazon Reviews 2023 Electronics was joined to matched product metadata.</a:t>
            </a:r>
            <a:endParaRPr b="0" i="0" sz="1400" u="none" cap="none" strike="noStrike">
              <a:solidFill>
                <a:srgbClr val="000000"/>
              </a:solidFill>
              <a:latin typeface="Arial"/>
              <a:ea typeface="Arial"/>
              <a:cs typeface="Arial"/>
              <a:sym typeface="Arial"/>
            </a:endParaRPr>
          </a:p>
        </p:txBody>
      </p:sp>
      <p:sp>
        <p:nvSpPr>
          <p:cNvPr id="47" name="Google Shape;47;p5"/>
          <p:cNvSpPr/>
          <p:nvPr/>
        </p:nvSpPr>
        <p:spPr>
          <a:xfrm>
            <a:off x="533400" y="2438400"/>
            <a:ext cx="3429000" cy="2171700"/>
          </a:xfrm>
          <a:prstGeom prst="roundRect">
            <a:avLst>
              <a:gd fmla="val 5263" name="adj"/>
            </a:avLst>
          </a:prstGeom>
          <a:solidFill>
            <a:srgbClr val="E9F5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 name="Google Shape;48;p5"/>
          <p:cNvSpPr/>
          <p:nvPr/>
        </p:nvSpPr>
        <p:spPr>
          <a:xfrm>
            <a:off x="781050" y="2838450"/>
            <a:ext cx="2933700" cy="838200"/>
          </a:xfrm>
          <a:prstGeom prst="rect">
            <a:avLst/>
          </a:prstGeom>
          <a:noFill/>
          <a:ln>
            <a:noFill/>
          </a:ln>
        </p:spPr>
        <p:txBody>
          <a:bodyPr anchorCtr="0" anchor="b" bIns="45700" lIns="91425" spcFirstLastPara="1" rIns="91425" wrap="square" tIns="45700">
            <a:noAutofit/>
          </a:bodyPr>
          <a:lstStyle/>
          <a:p>
            <a:pPr indent="0" lvl="0" marL="0" marR="0" rtl="0" algn="l">
              <a:lnSpc>
                <a:spcPct val="100000"/>
              </a:lnSpc>
              <a:spcBef>
                <a:spcPts val="0"/>
              </a:spcBef>
              <a:spcAft>
                <a:spcPts val="0"/>
              </a:spcAft>
              <a:buClr>
                <a:srgbClr val="000000"/>
              </a:buClr>
              <a:buSzPts val="4350"/>
              <a:buFont typeface="Arial"/>
              <a:buNone/>
            </a:pPr>
            <a:r>
              <a:rPr b="1" i="0" lang="en-US" sz="4350" u="none" cap="none" strike="noStrike">
                <a:solidFill>
                  <a:srgbClr val="3D8DFF"/>
                </a:solidFill>
                <a:latin typeface="Arial"/>
                <a:ea typeface="Arial"/>
                <a:cs typeface="Arial"/>
                <a:sym typeface="Arial"/>
              </a:rPr>
              <a:t>66,004</a:t>
            </a:r>
            <a:endParaRPr b="0" i="0" sz="1400" u="none" cap="none" strike="noStrike">
              <a:solidFill>
                <a:srgbClr val="000000"/>
              </a:solidFill>
              <a:latin typeface="Arial"/>
              <a:ea typeface="Arial"/>
              <a:cs typeface="Arial"/>
              <a:sym typeface="Arial"/>
            </a:endParaRPr>
          </a:p>
        </p:txBody>
      </p:sp>
      <p:sp>
        <p:nvSpPr>
          <p:cNvPr id="49" name="Google Shape;49;p5"/>
          <p:cNvSpPr/>
          <p:nvPr/>
        </p:nvSpPr>
        <p:spPr>
          <a:xfrm>
            <a:off x="781050" y="3848100"/>
            <a:ext cx="2933700" cy="514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50"/>
              <a:buFont typeface="Arial"/>
              <a:buNone/>
            </a:pPr>
            <a:r>
              <a:rPr b="0" i="0" lang="en-US" sz="1650" u="none" cap="none" strike="noStrike">
                <a:solidFill>
                  <a:srgbClr val="5B6574"/>
                </a:solidFill>
                <a:latin typeface="Arial"/>
                <a:ea typeface="Arial"/>
                <a:cs typeface="Arial"/>
                <a:sym typeface="Arial"/>
              </a:rPr>
              <a:t>unique review records</a:t>
            </a:r>
            <a:endParaRPr b="0" i="0" sz="1400" u="none" cap="none" strike="noStrike">
              <a:solidFill>
                <a:srgbClr val="000000"/>
              </a:solidFill>
              <a:latin typeface="Arial"/>
              <a:ea typeface="Arial"/>
              <a:cs typeface="Arial"/>
              <a:sym typeface="Arial"/>
            </a:endParaRPr>
          </a:p>
        </p:txBody>
      </p:sp>
      <p:sp>
        <p:nvSpPr>
          <p:cNvPr id="50" name="Google Shape;50;p5"/>
          <p:cNvSpPr/>
          <p:nvPr/>
        </p:nvSpPr>
        <p:spPr>
          <a:xfrm>
            <a:off x="4381500" y="2438400"/>
            <a:ext cx="3429000" cy="2171700"/>
          </a:xfrm>
          <a:prstGeom prst="roundRect">
            <a:avLst>
              <a:gd fmla="val 5263" name="adj"/>
            </a:avLst>
          </a:prstGeom>
          <a:solidFill>
            <a:srgbClr val="E8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5"/>
          <p:cNvSpPr/>
          <p:nvPr/>
        </p:nvSpPr>
        <p:spPr>
          <a:xfrm>
            <a:off x="4629150" y="2838450"/>
            <a:ext cx="2933700" cy="838200"/>
          </a:xfrm>
          <a:prstGeom prst="rect">
            <a:avLst/>
          </a:prstGeom>
          <a:noFill/>
          <a:ln>
            <a:noFill/>
          </a:ln>
        </p:spPr>
        <p:txBody>
          <a:bodyPr anchorCtr="0" anchor="b" bIns="45700" lIns="91425" spcFirstLastPara="1" rIns="91425" wrap="square" tIns="45700">
            <a:noAutofit/>
          </a:bodyPr>
          <a:lstStyle/>
          <a:p>
            <a:pPr indent="0" lvl="0" marL="0" marR="0" rtl="0" algn="l">
              <a:lnSpc>
                <a:spcPct val="100000"/>
              </a:lnSpc>
              <a:spcBef>
                <a:spcPts val="0"/>
              </a:spcBef>
              <a:spcAft>
                <a:spcPts val="0"/>
              </a:spcAft>
              <a:buClr>
                <a:srgbClr val="000000"/>
              </a:buClr>
              <a:buSzPts val="4350"/>
              <a:buFont typeface="Arial"/>
              <a:buNone/>
            </a:pPr>
            <a:r>
              <a:rPr b="1" i="0" lang="en-US" sz="4350" u="none" cap="none" strike="noStrike">
                <a:solidFill>
                  <a:srgbClr val="147A4A"/>
                </a:solidFill>
                <a:latin typeface="Arial"/>
                <a:ea typeface="Arial"/>
                <a:cs typeface="Arial"/>
                <a:sym typeface="Arial"/>
              </a:rPr>
              <a:t>39,476</a:t>
            </a:r>
            <a:endParaRPr b="0" i="0" sz="1400" u="none" cap="none" strike="noStrike">
              <a:solidFill>
                <a:srgbClr val="000000"/>
              </a:solidFill>
              <a:latin typeface="Arial"/>
              <a:ea typeface="Arial"/>
              <a:cs typeface="Arial"/>
              <a:sym typeface="Arial"/>
            </a:endParaRPr>
          </a:p>
        </p:txBody>
      </p:sp>
      <p:sp>
        <p:nvSpPr>
          <p:cNvPr id="52" name="Google Shape;52;p5"/>
          <p:cNvSpPr/>
          <p:nvPr/>
        </p:nvSpPr>
        <p:spPr>
          <a:xfrm>
            <a:off x="4629150" y="3848100"/>
            <a:ext cx="2933700" cy="514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37"/>
              <a:buFont typeface="Arial"/>
              <a:buNone/>
            </a:pPr>
            <a:r>
              <a:rPr b="0" i="0" lang="en-US" sz="1637" u="none" cap="none" strike="noStrike">
                <a:solidFill>
                  <a:srgbClr val="5B6574"/>
                </a:solidFill>
                <a:latin typeface="Arial"/>
                <a:ea typeface="Arial"/>
                <a:cs typeface="Arial"/>
                <a:sym typeface="Arial"/>
              </a:rPr>
              <a:t>matched products · 100% join</a:t>
            </a:r>
            <a:endParaRPr b="0" i="0" sz="1400" u="none" cap="none" strike="noStrike">
              <a:solidFill>
                <a:srgbClr val="000000"/>
              </a:solidFill>
              <a:latin typeface="Arial"/>
              <a:ea typeface="Arial"/>
              <a:cs typeface="Arial"/>
              <a:sym typeface="Arial"/>
            </a:endParaRPr>
          </a:p>
        </p:txBody>
      </p:sp>
      <p:sp>
        <p:nvSpPr>
          <p:cNvPr id="53" name="Google Shape;53;p5"/>
          <p:cNvSpPr/>
          <p:nvPr/>
        </p:nvSpPr>
        <p:spPr>
          <a:xfrm>
            <a:off x="8229600" y="2438400"/>
            <a:ext cx="3429000" cy="2171700"/>
          </a:xfrm>
          <a:prstGeom prst="roundRect">
            <a:avLst>
              <a:gd fmla="val 5263" name="adj"/>
            </a:avLst>
          </a:prstGeom>
          <a:solidFill>
            <a:srgbClr val="F1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5"/>
          <p:cNvSpPr/>
          <p:nvPr/>
        </p:nvSpPr>
        <p:spPr>
          <a:xfrm>
            <a:off x="8477250" y="2838450"/>
            <a:ext cx="2933700" cy="838200"/>
          </a:xfrm>
          <a:prstGeom prst="rect">
            <a:avLst/>
          </a:prstGeom>
          <a:noFill/>
          <a:ln>
            <a:noFill/>
          </a:ln>
        </p:spPr>
        <p:txBody>
          <a:bodyPr anchorCtr="0" anchor="b" bIns="45700" lIns="91425" spcFirstLastPara="1" rIns="91425" wrap="square" tIns="45700">
            <a:noAutofit/>
          </a:bodyPr>
          <a:lstStyle/>
          <a:p>
            <a:pPr indent="0" lvl="0" marL="0" marR="0" rtl="0" algn="l">
              <a:lnSpc>
                <a:spcPct val="100000"/>
              </a:lnSpc>
              <a:spcBef>
                <a:spcPts val="0"/>
              </a:spcBef>
              <a:spcAft>
                <a:spcPts val="0"/>
              </a:spcAft>
              <a:buClr>
                <a:srgbClr val="000000"/>
              </a:buClr>
              <a:buSzPts val="4350"/>
              <a:buFont typeface="Arial"/>
              <a:buNone/>
            </a:pPr>
            <a:r>
              <a:rPr b="1" i="0" lang="en-US" sz="4350" u="none" cap="none" strike="noStrike">
                <a:solidFill>
                  <a:srgbClr val="111827"/>
                </a:solidFill>
                <a:latin typeface="Arial"/>
                <a:ea typeface="Arial"/>
                <a:cs typeface="Arial"/>
                <a:sym typeface="Arial"/>
              </a:rPr>
              <a:t>27,359</a:t>
            </a:r>
            <a:endParaRPr b="0" i="0" sz="1400" u="none" cap="none" strike="noStrike">
              <a:solidFill>
                <a:srgbClr val="000000"/>
              </a:solidFill>
              <a:latin typeface="Arial"/>
              <a:ea typeface="Arial"/>
              <a:cs typeface="Arial"/>
              <a:sym typeface="Arial"/>
            </a:endParaRPr>
          </a:p>
        </p:txBody>
      </p:sp>
      <p:sp>
        <p:nvSpPr>
          <p:cNvPr id="55" name="Google Shape;55;p5"/>
          <p:cNvSpPr/>
          <p:nvPr/>
        </p:nvSpPr>
        <p:spPr>
          <a:xfrm>
            <a:off x="8477250" y="3848100"/>
            <a:ext cx="2933700" cy="514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50"/>
              <a:buFont typeface="Arial"/>
              <a:buNone/>
            </a:pPr>
            <a:r>
              <a:rPr b="0" i="0" lang="en-US" sz="1650" u="none" cap="none" strike="noStrike">
                <a:solidFill>
                  <a:srgbClr val="5B6574"/>
                </a:solidFill>
                <a:latin typeface="Arial"/>
                <a:ea typeface="Arial"/>
                <a:cs typeface="Arial"/>
                <a:sym typeface="Arial"/>
              </a:rPr>
              <a:t>distinct reviewers</a:t>
            </a:r>
            <a:endParaRPr b="0" i="0" sz="1400" u="none" cap="none" strike="noStrike">
              <a:solidFill>
                <a:srgbClr val="000000"/>
              </a:solidFill>
              <a:latin typeface="Arial"/>
              <a:ea typeface="Arial"/>
              <a:cs typeface="Arial"/>
              <a:sym typeface="Arial"/>
            </a:endParaRPr>
          </a:p>
        </p:txBody>
      </p:sp>
      <p:sp>
        <p:nvSpPr>
          <p:cNvPr id="56" name="Google Shape;56;p5"/>
          <p:cNvSpPr/>
          <p:nvPr/>
        </p:nvSpPr>
        <p:spPr>
          <a:xfrm>
            <a:off x="533400" y="5219700"/>
            <a:ext cx="3333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50"/>
              <a:buFont typeface="Arial"/>
              <a:buNone/>
            </a:pPr>
            <a:r>
              <a:rPr b="1" i="0" lang="en-US" sz="1650" u="none" cap="none" strike="noStrike">
                <a:solidFill>
                  <a:srgbClr val="111827"/>
                </a:solidFill>
                <a:latin typeface="Arial"/>
                <a:ea typeface="Arial"/>
                <a:cs typeface="Arial"/>
                <a:sym typeface="Arial"/>
              </a:rPr>
              <a:t>2000–2023 review years</a:t>
            </a:r>
            <a:endParaRPr b="0" i="0" sz="1400" u="none" cap="none" strike="noStrike">
              <a:solidFill>
                <a:srgbClr val="000000"/>
              </a:solidFill>
              <a:latin typeface="Arial"/>
              <a:ea typeface="Arial"/>
              <a:cs typeface="Arial"/>
              <a:sym typeface="Arial"/>
            </a:endParaRPr>
          </a:p>
        </p:txBody>
      </p:sp>
      <p:sp>
        <p:nvSpPr>
          <p:cNvPr id="57" name="Google Shape;57;p5"/>
          <p:cNvSpPr/>
          <p:nvPr/>
        </p:nvSpPr>
        <p:spPr>
          <a:xfrm>
            <a:off x="4381500" y="5219700"/>
            <a:ext cx="3333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43"/>
              <a:buFont typeface="Arial"/>
              <a:buNone/>
            </a:pPr>
            <a:r>
              <a:rPr b="1" i="0" lang="en-US" sz="1643" u="none" cap="none" strike="noStrike">
                <a:solidFill>
                  <a:srgbClr val="111827"/>
                </a:solidFill>
                <a:latin typeface="Arial"/>
                <a:ea typeface="Arial"/>
                <a:cs typeface="Arial"/>
                <a:sym typeface="Arial"/>
              </a:rPr>
              <a:t>32 seeded source-file segments</a:t>
            </a:r>
            <a:endParaRPr b="0" i="0" sz="1400" u="none" cap="none" strike="noStrike">
              <a:solidFill>
                <a:srgbClr val="000000"/>
              </a:solidFill>
              <a:latin typeface="Arial"/>
              <a:ea typeface="Arial"/>
              <a:cs typeface="Arial"/>
              <a:sym typeface="Arial"/>
            </a:endParaRPr>
          </a:p>
        </p:txBody>
      </p:sp>
      <p:sp>
        <p:nvSpPr>
          <p:cNvPr id="58" name="Google Shape;58;p5"/>
          <p:cNvSpPr/>
          <p:nvPr/>
        </p:nvSpPr>
        <p:spPr>
          <a:xfrm>
            <a:off x="8229600" y="5219700"/>
            <a:ext cx="342900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50"/>
              <a:buFont typeface="Arial"/>
              <a:buNone/>
            </a:pPr>
            <a:r>
              <a:rPr b="1" i="0" lang="en-US" sz="1650" u="none" cap="none" strike="noStrike">
                <a:solidFill>
                  <a:srgbClr val="111827"/>
                </a:solidFill>
                <a:latin typeface="Arial"/>
                <a:ea typeface="Arial"/>
                <a:cs typeface="Arial"/>
                <a:sym typeface="Arial"/>
              </a:rPr>
              <a:t>92.94% verified purchases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 name="Shape 63"/>
        <p:cNvGrpSpPr/>
        <p:nvPr/>
      </p:nvGrpSpPr>
      <p:grpSpPr>
        <a:xfrm>
          <a:off x="0" y="0"/>
          <a:ext cx="0" cy="0"/>
          <a:chOff x="0" y="0"/>
          <a:chExt cx="0" cy="0"/>
        </a:xfrm>
      </p:grpSpPr>
      <p:sp>
        <p:nvSpPr>
          <p:cNvPr id="64" name="Google Shape;64;p6"/>
          <p:cNvSpPr/>
          <p:nvPr/>
        </p:nvSpPr>
        <p:spPr>
          <a:xfrm>
            <a:off x="533400" y="323850"/>
            <a:ext cx="438150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3D8DFF"/>
                </a:solidFill>
                <a:latin typeface="Arial"/>
                <a:ea typeface="Arial"/>
                <a:cs typeface="Arial"/>
                <a:sym typeface="Arial"/>
              </a:rPr>
              <a:t>MGMT 59990 · GROUP 18</a:t>
            </a:r>
            <a:endParaRPr b="0" i="0" sz="1400" u="none" cap="none" strike="noStrike">
              <a:solidFill>
                <a:srgbClr val="000000"/>
              </a:solidFill>
              <a:latin typeface="Arial"/>
              <a:ea typeface="Arial"/>
              <a:cs typeface="Arial"/>
              <a:sym typeface="Arial"/>
            </a:endParaRPr>
          </a:p>
        </p:txBody>
      </p:sp>
      <p:sp>
        <p:nvSpPr>
          <p:cNvPr id="65" name="Google Shape;65;p6"/>
          <p:cNvSpPr/>
          <p:nvPr/>
        </p:nvSpPr>
        <p:spPr>
          <a:xfrm>
            <a:off x="533400" y="647700"/>
            <a:ext cx="11125200" cy="723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750"/>
              <a:buFont typeface="Arial"/>
              <a:buNone/>
            </a:pPr>
            <a:r>
              <a:rPr b="1" i="0" lang="en-US" sz="3750" u="none" cap="none" strike="noStrike">
                <a:solidFill>
                  <a:srgbClr val="111827"/>
                </a:solidFill>
                <a:latin typeface="Arial"/>
                <a:ea typeface="Arial"/>
                <a:cs typeface="Arial"/>
                <a:sym typeface="Arial"/>
              </a:rPr>
              <a:t>AWS turns raw reviews into decision-ready data</a:t>
            </a:r>
            <a:endParaRPr b="0" i="0" sz="1400" u="none" cap="none" strike="noStrike">
              <a:solidFill>
                <a:srgbClr val="000000"/>
              </a:solidFill>
              <a:latin typeface="Arial"/>
              <a:ea typeface="Arial"/>
              <a:cs typeface="Arial"/>
              <a:sym typeface="Arial"/>
            </a:endParaRPr>
          </a:p>
        </p:txBody>
      </p:sp>
      <p:sp>
        <p:nvSpPr>
          <p:cNvPr id="66" name="Google Shape;66;p6"/>
          <p:cNvSpPr/>
          <p:nvPr/>
        </p:nvSpPr>
        <p:spPr>
          <a:xfrm>
            <a:off x="11144250" y="6381750"/>
            <a:ext cx="514350" cy="20955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75"/>
              <a:buFont typeface="Arial"/>
              <a:buNone/>
            </a:pPr>
            <a:r>
              <a:rPr b="0" i="0" lang="en-US" sz="775" u="none" cap="none" strike="noStrike">
                <a:solidFill>
                  <a:srgbClr val="5B6574"/>
                </a:solidFill>
                <a:latin typeface="Arial"/>
                <a:ea typeface="Arial"/>
                <a:cs typeface="Arial"/>
                <a:sym typeface="Arial"/>
              </a:rPr>
              <a:t>04</a:t>
            </a:r>
            <a:endParaRPr b="0" i="0" sz="1400" u="none" cap="none" strike="noStrike">
              <a:solidFill>
                <a:srgbClr val="000000"/>
              </a:solidFill>
              <a:latin typeface="Arial"/>
              <a:ea typeface="Arial"/>
              <a:cs typeface="Arial"/>
              <a:sym typeface="Arial"/>
            </a:endParaRPr>
          </a:p>
        </p:txBody>
      </p:sp>
      <p:sp>
        <p:nvSpPr>
          <p:cNvPr id="67" name="Google Shape;67;p6"/>
          <p:cNvSpPr/>
          <p:nvPr/>
        </p:nvSpPr>
        <p:spPr>
          <a:xfrm>
            <a:off x="533400" y="1390650"/>
            <a:ext cx="4953000"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25"/>
              <a:buFont typeface="Arial"/>
              <a:buNone/>
            </a:pPr>
            <a:r>
              <a:rPr b="1" i="0" lang="en-US" sz="1525" u="none" cap="none" strike="noStrike">
                <a:solidFill>
                  <a:srgbClr val="147A4A"/>
                </a:solidFill>
                <a:latin typeface="Arial"/>
                <a:ea typeface="Arial"/>
                <a:cs typeface="Arial"/>
                <a:sym typeface="Arial"/>
              </a:rPr>
              <a:t>Implemented end to end in us-east-2</a:t>
            </a:r>
            <a:endParaRPr b="0" i="0" sz="1400" u="none" cap="none" strike="noStrike">
              <a:solidFill>
                <a:srgbClr val="000000"/>
              </a:solidFill>
              <a:latin typeface="Arial"/>
              <a:ea typeface="Arial"/>
              <a:cs typeface="Arial"/>
              <a:sym typeface="Arial"/>
            </a:endParaRPr>
          </a:p>
        </p:txBody>
      </p:sp>
      <p:sp>
        <p:nvSpPr>
          <p:cNvPr id="68" name="Google Shape;68;p6"/>
          <p:cNvSpPr/>
          <p:nvPr/>
        </p:nvSpPr>
        <p:spPr>
          <a:xfrm>
            <a:off x="2343150" y="2352675"/>
            <a:ext cx="381000" cy="47625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556"/>
              <a:buFont typeface="Arial"/>
              <a:buNone/>
            </a:pPr>
            <a:r>
              <a:rPr b="1" i="0" lang="en-US" sz="1556" u="none" cap="none" strike="noStrike">
                <a:solidFill>
                  <a:srgbClr val="5B6574"/>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sp>
        <p:nvSpPr>
          <p:cNvPr id="69" name="Google Shape;69;p6"/>
          <p:cNvSpPr/>
          <p:nvPr/>
        </p:nvSpPr>
        <p:spPr>
          <a:xfrm>
            <a:off x="4533900" y="2352675"/>
            <a:ext cx="381000" cy="47625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556"/>
              <a:buFont typeface="Arial"/>
              <a:buNone/>
            </a:pPr>
            <a:r>
              <a:rPr b="1" i="0" lang="en-US" sz="1556" u="none" cap="none" strike="noStrike">
                <a:solidFill>
                  <a:srgbClr val="5B6574"/>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sp>
        <p:nvSpPr>
          <p:cNvPr id="70" name="Google Shape;70;p6"/>
          <p:cNvSpPr/>
          <p:nvPr/>
        </p:nvSpPr>
        <p:spPr>
          <a:xfrm>
            <a:off x="6724650" y="2352675"/>
            <a:ext cx="381000" cy="47625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556"/>
              <a:buFont typeface="Arial"/>
              <a:buNone/>
            </a:pPr>
            <a:r>
              <a:rPr b="1" i="0" lang="en-US" sz="1556" u="none" cap="none" strike="noStrike">
                <a:solidFill>
                  <a:srgbClr val="5B6574"/>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sp>
        <p:nvSpPr>
          <p:cNvPr id="71" name="Google Shape;71;p6"/>
          <p:cNvSpPr/>
          <p:nvPr/>
        </p:nvSpPr>
        <p:spPr>
          <a:xfrm>
            <a:off x="8915400" y="2352675"/>
            <a:ext cx="381000" cy="47625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556"/>
              <a:buFont typeface="Arial"/>
              <a:buNone/>
            </a:pPr>
            <a:r>
              <a:rPr b="1" i="0" lang="en-US" sz="1556" u="none" cap="none" strike="noStrike">
                <a:solidFill>
                  <a:srgbClr val="5B6574"/>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sp>
        <p:nvSpPr>
          <p:cNvPr id="72" name="Google Shape;72;p6"/>
          <p:cNvSpPr/>
          <p:nvPr/>
        </p:nvSpPr>
        <p:spPr>
          <a:xfrm>
            <a:off x="10010775" y="3333750"/>
            <a:ext cx="381000" cy="55245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550"/>
              <a:buFont typeface="Arial"/>
              <a:buNone/>
            </a:pPr>
            <a:r>
              <a:rPr b="1" i="0" lang="en-US" sz="2550" u="none" cap="none" strike="noStrike">
                <a:solidFill>
                  <a:srgbClr val="5B6574"/>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sp>
        <p:nvSpPr>
          <p:cNvPr id="73" name="Google Shape;73;p6"/>
          <p:cNvSpPr/>
          <p:nvPr/>
        </p:nvSpPr>
        <p:spPr>
          <a:xfrm>
            <a:off x="8724900" y="4533900"/>
            <a:ext cx="476250" cy="47625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306"/>
              <a:buFont typeface="Arial"/>
              <a:buNone/>
            </a:pPr>
            <a:r>
              <a:rPr b="1" i="0" lang="en-US" sz="2306" u="none" cap="none" strike="noStrike">
                <a:solidFill>
                  <a:srgbClr val="5B6574"/>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sp>
        <p:nvSpPr>
          <p:cNvPr id="74" name="Google Shape;74;p6"/>
          <p:cNvSpPr/>
          <p:nvPr/>
        </p:nvSpPr>
        <p:spPr>
          <a:xfrm>
            <a:off x="533400" y="2076450"/>
            <a:ext cx="1809750" cy="1104900"/>
          </a:xfrm>
          <a:prstGeom prst="roundRect">
            <a:avLst>
              <a:gd fmla="val 10345" name="adj"/>
            </a:avLst>
          </a:prstGeom>
          <a:solidFill>
            <a:srgbClr val="E9F5FC"/>
          </a:solidFill>
          <a:ln cap="flat" cmpd="sng" w="9525">
            <a:solidFill>
              <a:srgbClr val="C7CCD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 name="Google Shape;75;p6"/>
          <p:cNvSpPr/>
          <p:nvPr/>
        </p:nvSpPr>
        <p:spPr>
          <a:xfrm>
            <a:off x="2724150" y="2076450"/>
            <a:ext cx="1809750" cy="1104900"/>
          </a:xfrm>
          <a:prstGeom prst="roundRect">
            <a:avLst>
              <a:gd fmla="val 10345" name="adj"/>
            </a:avLst>
          </a:prstGeom>
          <a:solidFill>
            <a:srgbClr val="E9F5FC"/>
          </a:solidFill>
          <a:ln cap="flat" cmpd="sng" w="9525">
            <a:solidFill>
              <a:srgbClr val="C7CCD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6"/>
          <p:cNvSpPr/>
          <p:nvPr/>
        </p:nvSpPr>
        <p:spPr>
          <a:xfrm>
            <a:off x="4914900" y="2076450"/>
            <a:ext cx="1809750" cy="1104900"/>
          </a:xfrm>
          <a:prstGeom prst="roundRect">
            <a:avLst>
              <a:gd fmla="val 10345" name="adj"/>
            </a:avLst>
          </a:prstGeom>
          <a:solidFill>
            <a:srgbClr val="E8F5EE"/>
          </a:solidFill>
          <a:ln cap="flat" cmpd="sng" w="9525">
            <a:solidFill>
              <a:srgbClr val="C7CCD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6"/>
          <p:cNvSpPr/>
          <p:nvPr/>
        </p:nvSpPr>
        <p:spPr>
          <a:xfrm>
            <a:off x="7105650" y="2076450"/>
            <a:ext cx="1809750" cy="1104900"/>
          </a:xfrm>
          <a:prstGeom prst="roundRect">
            <a:avLst>
              <a:gd fmla="val 10345" name="adj"/>
            </a:avLst>
          </a:prstGeom>
          <a:solidFill>
            <a:srgbClr val="E8F5EE"/>
          </a:solidFill>
          <a:ln cap="flat" cmpd="sng" w="9525">
            <a:solidFill>
              <a:srgbClr val="C7CCD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 name="Google Shape;78;p6"/>
          <p:cNvSpPr/>
          <p:nvPr/>
        </p:nvSpPr>
        <p:spPr>
          <a:xfrm>
            <a:off x="9296400" y="2076450"/>
            <a:ext cx="1809750" cy="1104900"/>
          </a:xfrm>
          <a:prstGeom prst="roundRect">
            <a:avLst>
              <a:gd fmla="val 10345" name="adj"/>
            </a:avLst>
          </a:prstGeom>
          <a:solidFill>
            <a:srgbClr val="FFF4DE"/>
          </a:solidFill>
          <a:ln cap="flat" cmpd="sng" w="9525">
            <a:solidFill>
              <a:srgbClr val="C7CCD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p6"/>
          <p:cNvSpPr/>
          <p:nvPr/>
        </p:nvSpPr>
        <p:spPr>
          <a:xfrm>
            <a:off x="5772150" y="4248150"/>
            <a:ext cx="2857500" cy="1162050"/>
          </a:xfrm>
          <a:prstGeom prst="roundRect">
            <a:avLst>
              <a:gd fmla="val 9836" name="adj"/>
            </a:avLst>
          </a:prstGeom>
          <a:solidFill>
            <a:srgbClr val="E9F5FC"/>
          </a:solidFill>
          <a:ln cap="flat" cmpd="sng" w="9525">
            <a:solidFill>
              <a:srgbClr val="C7CCD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6"/>
          <p:cNvSpPr/>
          <p:nvPr/>
        </p:nvSpPr>
        <p:spPr>
          <a:xfrm>
            <a:off x="9296400" y="4248150"/>
            <a:ext cx="1809750" cy="1162050"/>
          </a:xfrm>
          <a:prstGeom prst="roundRect">
            <a:avLst>
              <a:gd fmla="val 9836" name="adj"/>
            </a:avLst>
          </a:prstGeom>
          <a:solidFill>
            <a:srgbClr val="FDECEA"/>
          </a:solidFill>
          <a:ln cap="flat" cmpd="sng" w="9525">
            <a:solidFill>
              <a:srgbClr val="C7CCD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6"/>
          <p:cNvSpPr/>
          <p:nvPr/>
        </p:nvSpPr>
        <p:spPr>
          <a:xfrm>
            <a:off x="704850" y="2266950"/>
            <a:ext cx="1466850" cy="32385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525"/>
              <a:buFont typeface="Arial"/>
              <a:buNone/>
            </a:pPr>
            <a:r>
              <a:rPr b="1" i="0" lang="en-US" sz="1525" u="none" cap="none" strike="noStrike">
                <a:solidFill>
                  <a:srgbClr val="111827"/>
                </a:solidFill>
                <a:latin typeface="Arial"/>
                <a:ea typeface="Arial"/>
                <a:cs typeface="Arial"/>
                <a:sym typeface="Arial"/>
              </a:rPr>
              <a:t>S3 Bronze</a:t>
            </a:r>
            <a:endParaRPr b="0" i="0" sz="1400" u="none" cap="none" strike="noStrike">
              <a:solidFill>
                <a:srgbClr val="000000"/>
              </a:solidFill>
              <a:latin typeface="Arial"/>
              <a:ea typeface="Arial"/>
              <a:cs typeface="Arial"/>
              <a:sym typeface="Arial"/>
            </a:endParaRPr>
          </a:p>
        </p:txBody>
      </p:sp>
      <p:sp>
        <p:nvSpPr>
          <p:cNvPr id="82" name="Google Shape;82;p6"/>
          <p:cNvSpPr/>
          <p:nvPr/>
        </p:nvSpPr>
        <p:spPr>
          <a:xfrm>
            <a:off x="685800" y="2667000"/>
            <a:ext cx="150495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5B6574"/>
                </a:solidFill>
                <a:latin typeface="Arial"/>
                <a:ea typeface="Arial"/>
                <a:cs typeface="Arial"/>
                <a:sym typeface="Arial"/>
              </a:rPr>
              <a:t>Immutable JSONL</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5B6574"/>
                </a:solidFill>
                <a:latin typeface="Arial"/>
                <a:ea typeface="Arial"/>
                <a:cs typeface="Arial"/>
                <a:sym typeface="Arial"/>
              </a:rPr>
              <a:t>+ metadata</a:t>
            </a:r>
            <a:endParaRPr b="0" i="0" sz="1400" u="none" cap="none" strike="noStrike">
              <a:solidFill>
                <a:srgbClr val="000000"/>
              </a:solidFill>
              <a:latin typeface="Arial"/>
              <a:ea typeface="Arial"/>
              <a:cs typeface="Arial"/>
              <a:sym typeface="Arial"/>
            </a:endParaRPr>
          </a:p>
        </p:txBody>
      </p:sp>
      <p:sp>
        <p:nvSpPr>
          <p:cNvPr id="83" name="Google Shape;83;p6"/>
          <p:cNvSpPr/>
          <p:nvPr/>
        </p:nvSpPr>
        <p:spPr>
          <a:xfrm>
            <a:off x="2895600" y="2266950"/>
            <a:ext cx="1466850" cy="32385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525"/>
              <a:buFont typeface="Arial"/>
              <a:buNone/>
            </a:pPr>
            <a:r>
              <a:rPr b="1" i="0" lang="en-US" sz="1525" u="none" cap="none" strike="noStrike">
                <a:solidFill>
                  <a:srgbClr val="111827"/>
                </a:solidFill>
                <a:latin typeface="Arial"/>
                <a:ea typeface="Arial"/>
                <a:cs typeface="Arial"/>
                <a:sym typeface="Arial"/>
              </a:rPr>
              <a:t>AWS Glue</a:t>
            </a:r>
            <a:endParaRPr b="0" i="0" sz="1400" u="none" cap="none" strike="noStrike">
              <a:solidFill>
                <a:srgbClr val="000000"/>
              </a:solidFill>
              <a:latin typeface="Arial"/>
              <a:ea typeface="Arial"/>
              <a:cs typeface="Arial"/>
              <a:sym typeface="Arial"/>
            </a:endParaRPr>
          </a:p>
        </p:txBody>
      </p:sp>
      <p:sp>
        <p:nvSpPr>
          <p:cNvPr id="84" name="Google Shape;84;p6"/>
          <p:cNvSpPr/>
          <p:nvPr/>
        </p:nvSpPr>
        <p:spPr>
          <a:xfrm>
            <a:off x="2876550" y="2667000"/>
            <a:ext cx="150495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5B6574"/>
                </a:solidFill>
                <a:latin typeface="Arial"/>
                <a:ea typeface="Arial"/>
                <a:cs typeface="Arial"/>
                <a:sym typeface="Arial"/>
              </a:rPr>
              <a:t>Clean, dedupe,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5B6574"/>
                </a:solidFill>
                <a:latin typeface="Arial"/>
                <a:ea typeface="Arial"/>
                <a:cs typeface="Arial"/>
                <a:sym typeface="Arial"/>
              </a:rPr>
              <a:t>join products</a:t>
            </a:r>
            <a:endParaRPr b="0" i="0" sz="1400" u="none" cap="none" strike="noStrike">
              <a:solidFill>
                <a:srgbClr val="000000"/>
              </a:solidFill>
              <a:latin typeface="Arial"/>
              <a:ea typeface="Arial"/>
              <a:cs typeface="Arial"/>
              <a:sym typeface="Arial"/>
            </a:endParaRPr>
          </a:p>
        </p:txBody>
      </p:sp>
      <p:sp>
        <p:nvSpPr>
          <p:cNvPr id="85" name="Google Shape;85;p6"/>
          <p:cNvSpPr/>
          <p:nvPr/>
        </p:nvSpPr>
        <p:spPr>
          <a:xfrm>
            <a:off x="5086350" y="2266950"/>
            <a:ext cx="1466850" cy="32385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525"/>
              <a:buFont typeface="Arial"/>
              <a:buNone/>
            </a:pPr>
            <a:r>
              <a:rPr b="1" i="0" lang="en-US" sz="1525" u="none" cap="none" strike="noStrike">
                <a:solidFill>
                  <a:srgbClr val="111827"/>
                </a:solidFill>
                <a:latin typeface="Arial"/>
                <a:ea typeface="Arial"/>
                <a:cs typeface="Arial"/>
                <a:sym typeface="Arial"/>
              </a:rPr>
              <a:t>S3 Silver</a:t>
            </a:r>
            <a:endParaRPr b="0" i="0" sz="1400" u="none" cap="none" strike="noStrike">
              <a:solidFill>
                <a:srgbClr val="000000"/>
              </a:solidFill>
              <a:latin typeface="Arial"/>
              <a:ea typeface="Arial"/>
              <a:cs typeface="Arial"/>
              <a:sym typeface="Arial"/>
            </a:endParaRPr>
          </a:p>
        </p:txBody>
      </p:sp>
      <p:sp>
        <p:nvSpPr>
          <p:cNvPr id="86" name="Google Shape;86;p6"/>
          <p:cNvSpPr/>
          <p:nvPr/>
        </p:nvSpPr>
        <p:spPr>
          <a:xfrm>
            <a:off x="5067300" y="2667000"/>
            <a:ext cx="150495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5B6574"/>
                </a:solidFill>
                <a:latin typeface="Arial"/>
                <a:ea typeface="Arial"/>
                <a:cs typeface="Arial"/>
                <a:sym typeface="Arial"/>
              </a:rPr>
              <a:t>Partitioned</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5B6574"/>
                </a:solidFill>
                <a:latin typeface="Arial"/>
                <a:ea typeface="Arial"/>
                <a:cs typeface="Arial"/>
                <a:sym typeface="Arial"/>
              </a:rPr>
              <a:t>Snappy Parquet</a:t>
            </a:r>
            <a:endParaRPr b="0" i="0" sz="1400" u="none" cap="none" strike="noStrike">
              <a:solidFill>
                <a:srgbClr val="000000"/>
              </a:solidFill>
              <a:latin typeface="Arial"/>
              <a:ea typeface="Arial"/>
              <a:cs typeface="Arial"/>
              <a:sym typeface="Arial"/>
            </a:endParaRPr>
          </a:p>
        </p:txBody>
      </p:sp>
      <p:sp>
        <p:nvSpPr>
          <p:cNvPr id="87" name="Google Shape;87;p6"/>
          <p:cNvSpPr/>
          <p:nvPr/>
        </p:nvSpPr>
        <p:spPr>
          <a:xfrm>
            <a:off x="7277100" y="2266950"/>
            <a:ext cx="1466850" cy="32385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525"/>
              <a:buFont typeface="Arial"/>
              <a:buNone/>
            </a:pPr>
            <a:r>
              <a:rPr b="1" i="0" lang="en-US" sz="1525" u="none" cap="none" strike="noStrike">
                <a:solidFill>
                  <a:srgbClr val="111827"/>
                </a:solidFill>
                <a:latin typeface="Arial"/>
                <a:ea typeface="Arial"/>
                <a:cs typeface="Arial"/>
                <a:sym typeface="Arial"/>
              </a:rPr>
              <a:t>Athena</a:t>
            </a:r>
            <a:endParaRPr b="0" i="0" sz="1400" u="none" cap="none" strike="noStrike">
              <a:solidFill>
                <a:srgbClr val="000000"/>
              </a:solidFill>
              <a:latin typeface="Arial"/>
              <a:ea typeface="Arial"/>
              <a:cs typeface="Arial"/>
              <a:sym typeface="Arial"/>
            </a:endParaRPr>
          </a:p>
        </p:txBody>
      </p:sp>
      <p:sp>
        <p:nvSpPr>
          <p:cNvPr id="88" name="Google Shape;88;p6"/>
          <p:cNvSpPr/>
          <p:nvPr/>
        </p:nvSpPr>
        <p:spPr>
          <a:xfrm>
            <a:off x="7258050" y="2667000"/>
            <a:ext cx="150495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5B6574"/>
                </a:solidFill>
                <a:latin typeface="Arial"/>
                <a:ea typeface="Arial"/>
                <a:cs typeface="Arial"/>
                <a:sym typeface="Arial"/>
              </a:rPr>
              <a:t>Validate + build</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5B6574"/>
                </a:solidFill>
                <a:latin typeface="Arial"/>
                <a:ea typeface="Arial"/>
                <a:cs typeface="Arial"/>
                <a:sym typeface="Arial"/>
              </a:rPr>
              <a:t>Gold tables</a:t>
            </a:r>
            <a:endParaRPr b="0" i="0" sz="1400" u="none" cap="none" strike="noStrike">
              <a:solidFill>
                <a:srgbClr val="000000"/>
              </a:solidFill>
              <a:latin typeface="Arial"/>
              <a:ea typeface="Arial"/>
              <a:cs typeface="Arial"/>
              <a:sym typeface="Arial"/>
            </a:endParaRPr>
          </a:p>
        </p:txBody>
      </p:sp>
      <p:sp>
        <p:nvSpPr>
          <p:cNvPr id="89" name="Google Shape;89;p6"/>
          <p:cNvSpPr/>
          <p:nvPr/>
        </p:nvSpPr>
        <p:spPr>
          <a:xfrm>
            <a:off x="9467850" y="2266950"/>
            <a:ext cx="1466850" cy="32385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525"/>
              <a:buFont typeface="Arial"/>
              <a:buNone/>
            </a:pPr>
            <a:r>
              <a:rPr b="1" i="0" lang="en-US" sz="1525" u="none" cap="none" strike="noStrike">
                <a:solidFill>
                  <a:srgbClr val="111827"/>
                </a:solidFill>
                <a:latin typeface="Arial"/>
                <a:ea typeface="Arial"/>
                <a:cs typeface="Arial"/>
                <a:sym typeface="Arial"/>
              </a:rPr>
              <a:t>S3 Gold</a:t>
            </a:r>
            <a:endParaRPr b="0" i="0" sz="1400" u="none" cap="none" strike="noStrike">
              <a:solidFill>
                <a:srgbClr val="000000"/>
              </a:solidFill>
              <a:latin typeface="Arial"/>
              <a:ea typeface="Arial"/>
              <a:cs typeface="Arial"/>
              <a:sym typeface="Arial"/>
            </a:endParaRPr>
          </a:p>
        </p:txBody>
      </p:sp>
      <p:sp>
        <p:nvSpPr>
          <p:cNvPr id="90" name="Google Shape;90;p6"/>
          <p:cNvSpPr/>
          <p:nvPr/>
        </p:nvSpPr>
        <p:spPr>
          <a:xfrm>
            <a:off x="9448800" y="2667000"/>
            <a:ext cx="150495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5B6574"/>
                </a:solidFill>
                <a:latin typeface="Arial"/>
                <a:ea typeface="Arial"/>
                <a:cs typeface="Arial"/>
                <a:sym typeface="Arial"/>
              </a:rPr>
              <a:t>Aggregates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5B6574"/>
                </a:solidFill>
                <a:latin typeface="Arial"/>
                <a:ea typeface="Arial"/>
                <a:cs typeface="Arial"/>
                <a:sym typeface="Arial"/>
              </a:rPr>
              <a:t>model features</a:t>
            </a:r>
            <a:endParaRPr b="0" i="0" sz="1400" u="none" cap="none" strike="noStrike">
              <a:solidFill>
                <a:srgbClr val="000000"/>
              </a:solidFill>
              <a:latin typeface="Arial"/>
              <a:ea typeface="Arial"/>
              <a:cs typeface="Arial"/>
              <a:sym typeface="Arial"/>
            </a:endParaRPr>
          </a:p>
        </p:txBody>
      </p:sp>
      <p:sp>
        <p:nvSpPr>
          <p:cNvPr id="91" name="Google Shape;91;p6"/>
          <p:cNvSpPr/>
          <p:nvPr/>
        </p:nvSpPr>
        <p:spPr>
          <a:xfrm>
            <a:off x="5943600" y="4438650"/>
            <a:ext cx="2514600" cy="32385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525"/>
              <a:buFont typeface="Arial"/>
              <a:buNone/>
            </a:pPr>
            <a:r>
              <a:rPr b="1" i="0" lang="en-US" sz="1525" u="none" cap="none" strike="noStrike">
                <a:solidFill>
                  <a:srgbClr val="111827"/>
                </a:solidFill>
                <a:latin typeface="Arial"/>
                <a:ea typeface="Arial"/>
                <a:cs typeface="Arial"/>
                <a:sym typeface="Arial"/>
              </a:rPr>
              <a:t>QuickSight</a:t>
            </a:r>
            <a:endParaRPr b="0" i="0" sz="1400" u="none" cap="none" strike="noStrike">
              <a:solidFill>
                <a:srgbClr val="000000"/>
              </a:solidFill>
              <a:latin typeface="Arial"/>
              <a:ea typeface="Arial"/>
              <a:cs typeface="Arial"/>
              <a:sym typeface="Arial"/>
            </a:endParaRPr>
          </a:p>
        </p:txBody>
      </p:sp>
      <p:sp>
        <p:nvSpPr>
          <p:cNvPr id="92" name="Google Shape;92;p6"/>
          <p:cNvSpPr/>
          <p:nvPr/>
        </p:nvSpPr>
        <p:spPr>
          <a:xfrm>
            <a:off x="5924550" y="4838700"/>
            <a:ext cx="2552700" cy="51435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350"/>
              <a:buFont typeface="Arial"/>
              <a:buNone/>
            </a:pPr>
            <a:r>
              <a:rPr b="0" i="0" lang="en-US" sz="1350" u="none" cap="none" strike="noStrike">
                <a:solidFill>
                  <a:srgbClr val="5B6574"/>
                </a:solidFill>
                <a:latin typeface="Arial"/>
                <a:ea typeface="Arial"/>
                <a:cs typeface="Arial"/>
                <a:sym typeface="Arial"/>
              </a:rPr>
              <a:t>Gold trends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350"/>
              <a:buFont typeface="Arial"/>
              <a:buNone/>
            </a:pPr>
            <a:r>
              <a:rPr b="0" i="0" lang="en-US" sz="1350" u="none" cap="none" strike="noStrike">
                <a:solidFill>
                  <a:srgbClr val="5B6574"/>
                </a:solidFill>
                <a:latin typeface="Arial"/>
                <a:ea typeface="Arial"/>
                <a:cs typeface="Arial"/>
                <a:sym typeface="Arial"/>
              </a:rPr>
              <a:t>model risk in SPICE</a:t>
            </a:r>
            <a:endParaRPr b="0" i="0" sz="1400" u="none" cap="none" strike="noStrike">
              <a:solidFill>
                <a:srgbClr val="000000"/>
              </a:solidFill>
              <a:latin typeface="Arial"/>
              <a:ea typeface="Arial"/>
              <a:cs typeface="Arial"/>
              <a:sym typeface="Arial"/>
            </a:endParaRPr>
          </a:p>
        </p:txBody>
      </p:sp>
      <p:sp>
        <p:nvSpPr>
          <p:cNvPr id="93" name="Google Shape;93;p6"/>
          <p:cNvSpPr/>
          <p:nvPr/>
        </p:nvSpPr>
        <p:spPr>
          <a:xfrm>
            <a:off x="9467850" y="4438650"/>
            <a:ext cx="1466850" cy="32385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525"/>
              <a:buFont typeface="Arial"/>
              <a:buNone/>
            </a:pPr>
            <a:r>
              <a:rPr b="1" i="0" lang="en-US" sz="1525" u="none" cap="none" strike="noStrike">
                <a:solidFill>
                  <a:srgbClr val="111827"/>
                </a:solidFill>
                <a:latin typeface="Arial"/>
                <a:ea typeface="Arial"/>
                <a:cs typeface="Arial"/>
                <a:sym typeface="Arial"/>
              </a:rPr>
              <a:t>SageMaker</a:t>
            </a:r>
            <a:endParaRPr b="0" i="0" sz="1400" u="none" cap="none" strike="noStrike">
              <a:solidFill>
                <a:srgbClr val="000000"/>
              </a:solidFill>
              <a:latin typeface="Arial"/>
              <a:ea typeface="Arial"/>
              <a:cs typeface="Arial"/>
              <a:sym typeface="Arial"/>
            </a:endParaRPr>
          </a:p>
        </p:txBody>
      </p:sp>
      <p:sp>
        <p:nvSpPr>
          <p:cNvPr id="94" name="Google Shape;94;p6"/>
          <p:cNvSpPr/>
          <p:nvPr/>
        </p:nvSpPr>
        <p:spPr>
          <a:xfrm>
            <a:off x="9448800" y="4838700"/>
            <a:ext cx="1504950" cy="51435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350"/>
              <a:buFont typeface="Arial"/>
              <a:buNone/>
            </a:pPr>
            <a:r>
              <a:rPr b="0" i="0" lang="en-US" sz="1350" u="none" cap="none" strike="noStrike">
                <a:solidFill>
                  <a:srgbClr val="5B6574"/>
                </a:solidFill>
                <a:latin typeface="Arial"/>
                <a:ea typeface="Arial"/>
                <a:cs typeface="Arial"/>
                <a:sym typeface="Arial"/>
              </a:rPr>
              <a:t>Train + score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350"/>
              <a:buFont typeface="Arial"/>
              <a:buNone/>
            </a:pPr>
            <a:r>
              <a:rPr b="0" i="0" lang="en-US" sz="1350" u="none" cap="none" strike="noStrike">
                <a:solidFill>
                  <a:srgbClr val="5B6574"/>
                </a:solidFill>
                <a:latin typeface="Arial"/>
                <a:ea typeface="Arial"/>
                <a:cs typeface="Arial"/>
                <a:sym typeface="Arial"/>
              </a:rPr>
              <a:t>low-rating risk</a:t>
            </a:r>
            <a:endParaRPr b="0" i="0" sz="1400" u="none" cap="none" strike="noStrike">
              <a:solidFill>
                <a:srgbClr val="000000"/>
              </a:solidFill>
              <a:latin typeface="Arial"/>
              <a:ea typeface="Arial"/>
              <a:cs typeface="Arial"/>
              <a:sym typeface="Arial"/>
            </a:endParaRPr>
          </a:p>
        </p:txBody>
      </p:sp>
      <p:sp>
        <p:nvSpPr>
          <p:cNvPr id="95" name="Google Shape;95;p6"/>
          <p:cNvSpPr/>
          <p:nvPr/>
        </p:nvSpPr>
        <p:spPr>
          <a:xfrm>
            <a:off x="533400" y="5962650"/>
            <a:ext cx="10572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574"/>
                </a:solidFill>
                <a:latin typeface="Arial"/>
                <a:ea typeface="Arial"/>
                <a:cs typeface="Arial"/>
                <a:sym typeface="Arial"/>
              </a:rPr>
              <a:t>SageMaker writes predictions back to cataloged Gold tables; QuickSight consumes both descriptive and predicted risk.</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 name="Shape 100"/>
        <p:cNvGrpSpPr/>
        <p:nvPr/>
      </p:nvGrpSpPr>
      <p:grpSpPr>
        <a:xfrm>
          <a:off x="0" y="0"/>
          <a:ext cx="0" cy="0"/>
          <a:chOff x="0" y="0"/>
          <a:chExt cx="0" cy="0"/>
        </a:xfrm>
      </p:grpSpPr>
      <p:sp>
        <p:nvSpPr>
          <p:cNvPr id="101" name="Google Shape;101;p7"/>
          <p:cNvSpPr/>
          <p:nvPr/>
        </p:nvSpPr>
        <p:spPr>
          <a:xfrm>
            <a:off x="533400" y="323850"/>
            <a:ext cx="438150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3D8DFF"/>
                </a:solidFill>
                <a:latin typeface="Arial"/>
                <a:ea typeface="Arial"/>
                <a:cs typeface="Arial"/>
                <a:sym typeface="Arial"/>
              </a:rPr>
              <a:t>MGMT 59990 · GROUP 18</a:t>
            </a:r>
            <a:endParaRPr b="0" i="0" sz="1400" u="none" cap="none" strike="noStrike">
              <a:solidFill>
                <a:srgbClr val="000000"/>
              </a:solidFill>
              <a:latin typeface="Arial"/>
              <a:ea typeface="Arial"/>
              <a:cs typeface="Arial"/>
              <a:sym typeface="Arial"/>
            </a:endParaRPr>
          </a:p>
        </p:txBody>
      </p:sp>
      <p:sp>
        <p:nvSpPr>
          <p:cNvPr id="102" name="Google Shape;102;p7"/>
          <p:cNvSpPr/>
          <p:nvPr/>
        </p:nvSpPr>
        <p:spPr>
          <a:xfrm>
            <a:off x="533400" y="647700"/>
            <a:ext cx="11125200" cy="723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750"/>
              <a:buFont typeface="Arial"/>
              <a:buNone/>
            </a:pPr>
            <a:r>
              <a:rPr b="1" i="0" lang="en-US" sz="3750" u="none" cap="none" strike="noStrike">
                <a:solidFill>
                  <a:srgbClr val="111827"/>
                </a:solidFill>
                <a:latin typeface="Arial"/>
                <a:ea typeface="Arial"/>
                <a:cs typeface="Arial"/>
                <a:sym typeface="Arial"/>
              </a:rPr>
              <a:t>Quality gates make each layer auditable</a:t>
            </a:r>
            <a:endParaRPr b="0" i="0" sz="1400" u="none" cap="none" strike="noStrike">
              <a:solidFill>
                <a:srgbClr val="000000"/>
              </a:solidFill>
              <a:latin typeface="Arial"/>
              <a:ea typeface="Arial"/>
              <a:cs typeface="Arial"/>
              <a:sym typeface="Arial"/>
            </a:endParaRPr>
          </a:p>
        </p:txBody>
      </p:sp>
      <p:sp>
        <p:nvSpPr>
          <p:cNvPr id="103" name="Google Shape;103;p7"/>
          <p:cNvSpPr/>
          <p:nvPr/>
        </p:nvSpPr>
        <p:spPr>
          <a:xfrm>
            <a:off x="11144250" y="6381750"/>
            <a:ext cx="514350" cy="20955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75"/>
              <a:buFont typeface="Arial"/>
              <a:buNone/>
            </a:pPr>
            <a:r>
              <a:rPr b="0" i="0" lang="en-US" sz="775" u="none" cap="none" strike="noStrike">
                <a:solidFill>
                  <a:srgbClr val="5B6574"/>
                </a:solidFill>
                <a:latin typeface="Arial"/>
                <a:ea typeface="Arial"/>
                <a:cs typeface="Arial"/>
                <a:sym typeface="Arial"/>
              </a:rPr>
              <a:t>05</a:t>
            </a:r>
            <a:endParaRPr b="0" i="0" sz="1400" u="none" cap="none" strike="noStrike">
              <a:solidFill>
                <a:srgbClr val="000000"/>
              </a:solidFill>
              <a:latin typeface="Arial"/>
              <a:ea typeface="Arial"/>
              <a:cs typeface="Arial"/>
              <a:sym typeface="Arial"/>
            </a:endParaRPr>
          </a:p>
        </p:txBody>
      </p:sp>
      <p:sp>
        <p:nvSpPr>
          <p:cNvPr id="104" name="Google Shape;104;p7"/>
          <p:cNvSpPr/>
          <p:nvPr/>
        </p:nvSpPr>
        <p:spPr>
          <a:xfrm>
            <a:off x="952500" y="3105150"/>
            <a:ext cx="9810750" cy="28575"/>
          </a:xfrm>
          <a:prstGeom prst="rect">
            <a:avLst/>
          </a:prstGeom>
          <a:solidFill>
            <a:srgbClr val="C7CC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 name="Google Shape;105;p7"/>
          <p:cNvSpPr/>
          <p:nvPr/>
        </p:nvSpPr>
        <p:spPr>
          <a:xfrm>
            <a:off x="533400" y="2152650"/>
            <a:ext cx="2209800" cy="2933700"/>
          </a:xfrm>
          <a:prstGeom prst="roundRect">
            <a:avLst>
              <a:gd fmla="val 5172" name="adj"/>
            </a:avLst>
          </a:prstGeom>
          <a:solidFill>
            <a:srgbClr val="F1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 name="Google Shape;106;p7"/>
          <p:cNvSpPr/>
          <p:nvPr/>
        </p:nvSpPr>
        <p:spPr>
          <a:xfrm>
            <a:off x="742950" y="2343150"/>
            <a:ext cx="666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3D8DFF"/>
                </a:solidFill>
                <a:latin typeface="Arial"/>
                <a:ea typeface="Arial"/>
                <a:cs typeface="Arial"/>
                <a:sym typeface="Arial"/>
              </a:rPr>
              <a:t>01</a:t>
            </a:r>
            <a:endParaRPr b="0" i="0" sz="1400" u="none" cap="none" strike="noStrike">
              <a:solidFill>
                <a:srgbClr val="000000"/>
              </a:solidFill>
              <a:latin typeface="Arial"/>
              <a:ea typeface="Arial"/>
              <a:cs typeface="Arial"/>
              <a:sym typeface="Arial"/>
            </a:endParaRPr>
          </a:p>
        </p:txBody>
      </p:sp>
      <p:sp>
        <p:nvSpPr>
          <p:cNvPr id="107" name="Google Shape;107;p7"/>
          <p:cNvSpPr/>
          <p:nvPr/>
        </p:nvSpPr>
        <p:spPr>
          <a:xfrm>
            <a:off x="742950" y="2838450"/>
            <a:ext cx="179070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111827"/>
                </a:solidFill>
                <a:latin typeface="Arial"/>
                <a:ea typeface="Arial"/>
                <a:cs typeface="Arial"/>
                <a:sym typeface="Arial"/>
              </a:rPr>
              <a:t>Land</a:t>
            </a:r>
            <a:endParaRPr b="0" i="0" sz="1400" u="none" cap="none" strike="noStrike">
              <a:solidFill>
                <a:srgbClr val="000000"/>
              </a:solidFill>
              <a:latin typeface="Arial"/>
              <a:ea typeface="Arial"/>
              <a:cs typeface="Arial"/>
              <a:sym typeface="Arial"/>
            </a:endParaRPr>
          </a:p>
        </p:txBody>
      </p:sp>
      <p:sp>
        <p:nvSpPr>
          <p:cNvPr id="108" name="Google Shape;108;p7"/>
          <p:cNvSpPr/>
          <p:nvPr/>
        </p:nvSpPr>
        <p:spPr>
          <a:xfrm>
            <a:off x="742950" y="3505200"/>
            <a:ext cx="1790700" cy="1257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30"/>
              <a:buFont typeface="Arial"/>
              <a:buNone/>
            </a:pPr>
            <a:r>
              <a:rPr b="0" i="0" lang="en-US" sz="1530" u="none" cap="none" strike="noStrike">
                <a:solidFill>
                  <a:srgbClr val="5B6574"/>
                </a:solidFill>
                <a:latin typeface="Arial"/>
                <a:ea typeface="Arial"/>
                <a:cs typeface="Arial"/>
                <a:sym typeface="Arial"/>
              </a:rPr>
              <a:t>Verify S3 keys, byte sizes, checksums, and expected account/Region.</a:t>
            </a:r>
            <a:endParaRPr b="0" i="0" sz="1400" u="none" cap="none" strike="noStrike">
              <a:solidFill>
                <a:srgbClr val="000000"/>
              </a:solidFill>
              <a:latin typeface="Arial"/>
              <a:ea typeface="Arial"/>
              <a:cs typeface="Arial"/>
              <a:sym typeface="Arial"/>
            </a:endParaRPr>
          </a:p>
        </p:txBody>
      </p:sp>
      <p:sp>
        <p:nvSpPr>
          <p:cNvPr id="109" name="Google Shape;109;p7"/>
          <p:cNvSpPr/>
          <p:nvPr/>
        </p:nvSpPr>
        <p:spPr>
          <a:xfrm>
            <a:off x="3371850" y="2152650"/>
            <a:ext cx="2209800" cy="2933700"/>
          </a:xfrm>
          <a:prstGeom prst="roundRect">
            <a:avLst>
              <a:gd fmla="val 5172" name="adj"/>
            </a:avLst>
          </a:prstGeom>
          <a:solidFill>
            <a:srgbClr val="F1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7"/>
          <p:cNvSpPr/>
          <p:nvPr/>
        </p:nvSpPr>
        <p:spPr>
          <a:xfrm>
            <a:off x="3581400" y="2343150"/>
            <a:ext cx="666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3D8DFF"/>
                </a:solidFill>
                <a:latin typeface="Arial"/>
                <a:ea typeface="Arial"/>
                <a:cs typeface="Arial"/>
                <a:sym typeface="Arial"/>
              </a:rPr>
              <a:t>02</a:t>
            </a:r>
            <a:endParaRPr b="0" i="0" sz="1400" u="none" cap="none" strike="noStrike">
              <a:solidFill>
                <a:srgbClr val="000000"/>
              </a:solidFill>
              <a:latin typeface="Arial"/>
              <a:ea typeface="Arial"/>
              <a:cs typeface="Arial"/>
              <a:sym typeface="Arial"/>
            </a:endParaRPr>
          </a:p>
        </p:txBody>
      </p:sp>
      <p:sp>
        <p:nvSpPr>
          <p:cNvPr id="111" name="Google Shape;111;p7"/>
          <p:cNvSpPr/>
          <p:nvPr/>
        </p:nvSpPr>
        <p:spPr>
          <a:xfrm>
            <a:off x="3581400" y="2838450"/>
            <a:ext cx="179070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111827"/>
                </a:solidFill>
                <a:latin typeface="Arial"/>
                <a:ea typeface="Arial"/>
                <a:cs typeface="Arial"/>
                <a:sym typeface="Arial"/>
              </a:rPr>
              <a:t>Transform</a:t>
            </a:r>
            <a:endParaRPr b="0" i="0" sz="1400" u="none" cap="none" strike="noStrike">
              <a:solidFill>
                <a:srgbClr val="000000"/>
              </a:solidFill>
              <a:latin typeface="Arial"/>
              <a:ea typeface="Arial"/>
              <a:cs typeface="Arial"/>
              <a:sym typeface="Arial"/>
            </a:endParaRPr>
          </a:p>
        </p:txBody>
      </p:sp>
      <p:sp>
        <p:nvSpPr>
          <p:cNvPr id="112" name="Google Shape;112;p7"/>
          <p:cNvSpPr/>
          <p:nvPr/>
        </p:nvSpPr>
        <p:spPr>
          <a:xfrm>
            <a:off x="3581400" y="3505200"/>
            <a:ext cx="1790700" cy="1257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30"/>
              <a:buFont typeface="Arial"/>
              <a:buNone/>
            </a:pPr>
            <a:r>
              <a:rPr b="0" i="0" lang="en-US" sz="1530" u="none" cap="none" strike="noStrike">
                <a:solidFill>
                  <a:srgbClr val="5B6574"/>
                </a:solidFill>
                <a:latin typeface="Arial"/>
                <a:ea typeface="Arial"/>
                <a:cs typeface="Arial"/>
                <a:sym typeface="Arial"/>
              </a:rPr>
              <a:t>Reject malformed rows, enforce rating bounds, deduplicate, and join metadata.</a:t>
            </a:r>
            <a:endParaRPr b="0" i="0" sz="1400" u="none" cap="none" strike="noStrike">
              <a:solidFill>
                <a:srgbClr val="000000"/>
              </a:solidFill>
              <a:latin typeface="Arial"/>
              <a:ea typeface="Arial"/>
              <a:cs typeface="Arial"/>
              <a:sym typeface="Arial"/>
            </a:endParaRPr>
          </a:p>
        </p:txBody>
      </p:sp>
      <p:sp>
        <p:nvSpPr>
          <p:cNvPr id="113" name="Google Shape;113;p7"/>
          <p:cNvSpPr/>
          <p:nvPr/>
        </p:nvSpPr>
        <p:spPr>
          <a:xfrm>
            <a:off x="6210300" y="2152650"/>
            <a:ext cx="2209800" cy="2933700"/>
          </a:xfrm>
          <a:prstGeom prst="roundRect">
            <a:avLst>
              <a:gd fmla="val 5172" name="adj"/>
            </a:avLst>
          </a:prstGeom>
          <a:solidFill>
            <a:srgbClr val="E8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p7"/>
          <p:cNvSpPr/>
          <p:nvPr/>
        </p:nvSpPr>
        <p:spPr>
          <a:xfrm>
            <a:off x="6419850" y="2343150"/>
            <a:ext cx="666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3D8DFF"/>
                </a:solidFill>
                <a:latin typeface="Arial"/>
                <a:ea typeface="Arial"/>
                <a:cs typeface="Arial"/>
                <a:sym typeface="Arial"/>
              </a:rPr>
              <a:t>03</a:t>
            </a:r>
            <a:endParaRPr b="0" i="0" sz="1400" u="none" cap="none" strike="noStrike">
              <a:solidFill>
                <a:srgbClr val="000000"/>
              </a:solidFill>
              <a:latin typeface="Arial"/>
              <a:ea typeface="Arial"/>
              <a:cs typeface="Arial"/>
              <a:sym typeface="Arial"/>
            </a:endParaRPr>
          </a:p>
        </p:txBody>
      </p:sp>
      <p:sp>
        <p:nvSpPr>
          <p:cNvPr id="115" name="Google Shape;115;p7"/>
          <p:cNvSpPr/>
          <p:nvPr/>
        </p:nvSpPr>
        <p:spPr>
          <a:xfrm>
            <a:off x="6419850" y="2838450"/>
            <a:ext cx="179070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111827"/>
                </a:solidFill>
                <a:latin typeface="Arial"/>
                <a:ea typeface="Arial"/>
                <a:cs typeface="Arial"/>
                <a:sym typeface="Arial"/>
              </a:rPr>
              <a:t>Reconcile</a:t>
            </a:r>
            <a:endParaRPr b="0" i="0" sz="1400" u="none" cap="none" strike="noStrike">
              <a:solidFill>
                <a:srgbClr val="000000"/>
              </a:solidFill>
              <a:latin typeface="Arial"/>
              <a:ea typeface="Arial"/>
              <a:cs typeface="Arial"/>
              <a:sym typeface="Arial"/>
            </a:endParaRPr>
          </a:p>
        </p:txBody>
      </p:sp>
      <p:sp>
        <p:nvSpPr>
          <p:cNvPr id="116" name="Google Shape;116;p7"/>
          <p:cNvSpPr/>
          <p:nvPr/>
        </p:nvSpPr>
        <p:spPr>
          <a:xfrm>
            <a:off x="6419850" y="3505200"/>
            <a:ext cx="1790700" cy="1257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30"/>
              <a:buFont typeface="Arial"/>
              <a:buNone/>
            </a:pPr>
            <a:r>
              <a:rPr b="0" i="0" lang="en-US" sz="1530" u="none" cap="none" strike="noStrike">
                <a:solidFill>
                  <a:srgbClr val="5B6574"/>
                </a:solidFill>
                <a:latin typeface="Arial"/>
                <a:ea typeface="Arial"/>
                <a:cs typeface="Arial"/>
                <a:sym typeface="Arial"/>
              </a:rPr>
              <a:t>Athena checks 66,004 fact rows, 39,476 products, partitions, and nulls.</a:t>
            </a:r>
            <a:endParaRPr b="0" i="0" sz="1400" u="none" cap="none" strike="noStrike">
              <a:solidFill>
                <a:srgbClr val="000000"/>
              </a:solidFill>
              <a:latin typeface="Arial"/>
              <a:ea typeface="Arial"/>
              <a:cs typeface="Arial"/>
              <a:sym typeface="Arial"/>
            </a:endParaRPr>
          </a:p>
        </p:txBody>
      </p:sp>
      <p:sp>
        <p:nvSpPr>
          <p:cNvPr id="117" name="Google Shape;117;p7"/>
          <p:cNvSpPr/>
          <p:nvPr/>
        </p:nvSpPr>
        <p:spPr>
          <a:xfrm>
            <a:off x="9048750" y="2152650"/>
            <a:ext cx="2209800" cy="2933700"/>
          </a:xfrm>
          <a:prstGeom prst="roundRect">
            <a:avLst>
              <a:gd fmla="val 5172" name="adj"/>
            </a:avLst>
          </a:prstGeom>
          <a:solidFill>
            <a:srgbClr val="F1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7"/>
          <p:cNvSpPr/>
          <p:nvPr/>
        </p:nvSpPr>
        <p:spPr>
          <a:xfrm>
            <a:off x="9258300" y="2343150"/>
            <a:ext cx="666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3D8DFF"/>
                </a:solidFill>
                <a:latin typeface="Arial"/>
                <a:ea typeface="Arial"/>
                <a:cs typeface="Arial"/>
                <a:sym typeface="Arial"/>
              </a:rPr>
              <a:t>04</a:t>
            </a:r>
            <a:endParaRPr b="0" i="0" sz="1400" u="none" cap="none" strike="noStrike">
              <a:solidFill>
                <a:srgbClr val="000000"/>
              </a:solidFill>
              <a:latin typeface="Arial"/>
              <a:ea typeface="Arial"/>
              <a:cs typeface="Arial"/>
              <a:sym typeface="Arial"/>
            </a:endParaRPr>
          </a:p>
        </p:txBody>
      </p:sp>
      <p:sp>
        <p:nvSpPr>
          <p:cNvPr id="119" name="Google Shape;119;p7"/>
          <p:cNvSpPr/>
          <p:nvPr/>
        </p:nvSpPr>
        <p:spPr>
          <a:xfrm>
            <a:off x="9258300" y="2838450"/>
            <a:ext cx="179070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111827"/>
                </a:solidFill>
                <a:latin typeface="Arial"/>
                <a:ea typeface="Arial"/>
                <a:cs typeface="Arial"/>
                <a:sym typeface="Arial"/>
              </a:rPr>
              <a:t>Isolate</a:t>
            </a:r>
            <a:endParaRPr b="0" i="0" sz="1400" u="none" cap="none" strike="noStrike">
              <a:solidFill>
                <a:srgbClr val="000000"/>
              </a:solidFill>
              <a:latin typeface="Arial"/>
              <a:ea typeface="Arial"/>
              <a:cs typeface="Arial"/>
              <a:sym typeface="Arial"/>
            </a:endParaRPr>
          </a:p>
        </p:txBody>
      </p:sp>
      <p:sp>
        <p:nvSpPr>
          <p:cNvPr id="120" name="Google Shape;120;p7"/>
          <p:cNvSpPr/>
          <p:nvPr/>
        </p:nvSpPr>
        <p:spPr>
          <a:xfrm>
            <a:off x="9258300" y="3505200"/>
            <a:ext cx="1790700" cy="1257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30"/>
              <a:buFont typeface="Arial"/>
              <a:buNone/>
            </a:pPr>
            <a:r>
              <a:rPr b="0" i="0" lang="en-US" sz="1530" u="none" cap="none" strike="noStrike">
                <a:solidFill>
                  <a:srgbClr val="5B6574"/>
                </a:solidFill>
                <a:latin typeface="Arial"/>
                <a:ea typeface="Arial"/>
                <a:cs typeface="Arial"/>
                <a:sym typeface="Arial"/>
              </a:rPr>
              <a:t>Hash users into train, validation, and test so one user never crosses splits.</a:t>
            </a:r>
            <a:endParaRPr b="0" i="0" sz="1400" u="none" cap="none" strike="noStrike">
              <a:solidFill>
                <a:srgbClr val="000000"/>
              </a:solidFill>
              <a:latin typeface="Arial"/>
              <a:ea typeface="Arial"/>
              <a:cs typeface="Arial"/>
              <a:sym typeface="Arial"/>
            </a:endParaRPr>
          </a:p>
        </p:txBody>
      </p:sp>
      <p:sp>
        <p:nvSpPr>
          <p:cNvPr id="121" name="Google Shape;121;p7"/>
          <p:cNvSpPr/>
          <p:nvPr/>
        </p:nvSpPr>
        <p:spPr>
          <a:xfrm>
            <a:off x="533400" y="5619750"/>
            <a:ext cx="10572750" cy="457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84"/>
              <a:buFont typeface="Arial"/>
              <a:buNone/>
            </a:pPr>
            <a:r>
              <a:rPr b="1" i="0" lang="en-US" sz="1584" u="none" cap="none" strike="noStrike">
                <a:solidFill>
                  <a:srgbClr val="111827"/>
                </a:solidFill>
                <a:latin typeface="Arial"/>
                <a:ea typeface="Arial"/>
                <a:cs typeface="Arial"/>
                <a:sym typeface="Arial"/>
              </a:rPr>
              <a:t>Promotion rule: a failed check stops the workflow; no downstream claim is made without matching evidence.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8"/>
          <p:cNvSpPr/>
          <p:nvPr/>
        </p:nvSpPr>
        <p:spPr>
          <a:xfrm>
            <a:off x="533400" y="323850"/>
            <a:ext cx="438150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3D8DFF"/>
                </a:solidFill>
                <a:latin typeface="Arial"/>
                <a:ea typeface="Arial"/>
                <a:cs typeface="Arial"/>
                <a:sym typeface="Arial"/>
              </a:rPr>
              <a:t>MGMT 59990 · GROUP 18</a:t>
            </a:r>
            <a:endParaRPr b="0" i="0" sz="1400" u="none" cap="none" strike="noStrike">
              <a:solidFill>
                <a:srgbClr val="000000"/>
              </a:solidFill>
              <a:latin typeface="Arial"/>
              <a:ea typeface="Arial"/>
              <a:cs typeface="Arial"/>
              <a:sym typeface="Arial"/>
            </a:endParaRPr>
          </a:p>
        </p:txBody>
      </p:sp>
      <p:sp>
        <p:nvSpPr>
          <p:cNvPr id="128" name="Google Shape;128;p8"/>
          <p:cNvSpPr/>
          <p:nvPr/>
        </p:nvSpPr>
        <p:spPr>
          <a:xfrm>
            <a:off x="533400" y="647700"/>
            <a:ext cx="11125200" cy="723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306"/>
              <a:buFont typeface="Arial"/>
              <a:buNone/>
            </a:pPr>
            <a:r>
              <a:rPr b="1" i="0" lang="en-US" sz="3306" u="none" cap="none" strike="noStrike">
                <a:solidFill>
                  <a:srgbClr val="111827"/>
                </a:solidFill>
                <a:latin typeface="Arial"/>
                <a:ea typeface="Arial"/>
                <a:cs typeface="Arial"/>
                <a:sym typeface="Arial"/>
              </a:rPr>
              <a:t>Positive reviews dominate, so low-rating recall matters</a:t>
            </a:r>
            <a:endParaRPr b="0" i="0" sz="1400" u="none" cap="none" strike="noStrike">
              <a:solidFill>
                <a:srgbClr val="000000"/>
              </a:solidFill>
              <a:latin typeface="Arial"/>
              <a:ea typeface="Arial"/>
              <a:cs typeface="Arial"/>
              <a:sym typeface="Arial"/>
            </a:endParaRPr>
          </a:p>
        </p:txBody>
      </p:sp>
      <p:sp>
        <p:nvSpPr>
          <p:cNvPr id="129" name="Google Shape;129;p8"/>
          <p:cNvSpPr/>
          <p:nvPr/>
        </p:nvSpPr>
        <p:spPr>
          <a:xfrm>
            <a:off x="11144250" y="6381750"/>
            <a:ext cx="514350" cy="20955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75"/>
              <a:buFont typeface="Arial"/>
              <a:buNone/>
            </a:pPr>
            <a:r>
              <a:rPr b="0" i="0" lang="en-US" sz="775" u="none" cap="none" strike="noStrike">
                <a:solidFill>
                  <a:srgbClr val="5B6574"/>
                </a:solidFill>
                <a:latin typeface="Arial"/>
                <a:ea typeface="Arial"/>
                <a:cs typeface="Arial"/>
                <a:sym typeface="Arial"/>
              </a:rPr>
              <a:t>06</a:t>
            </a:r>
            <a:endParaRPr b="0" i="0" sz="1400" u="none" cap="none" strike="noStrike">
              <a:solidFill>
                <a:srgbClr val="000000"/>
              </a:solidFill>
              <a:latin typeface="Arial"/>
              <a:ea typeface="Arial"/>
              <a:cs typeface="Arial"/>
              <a:sym typeface="Arial"/>
            </a:endParaRPr>
          </a:p>
        </p:txBody>
      </p:sp>
      <p:pic>
        <p:nvPicPr>
          <p:cNvPr id="130" name="Google Shape;130;p8"/>
          <p:cNvPicPr preferRelativeResize="0"/>
          <p:nvPr/>
        </p:nvPicPr>
        <p:blipFill rotWithShape="1">
          <a:blip r:embed="rId3">
            <a:alphaModFix/>
          </a:blip>
          <a:srcRect b="0" l="0" r="0" t="0"/>
          <a:stretch/>
        </p:blipFill>
        <p:spPr>
          <a:xfrm>
            <a:off x="533400" y="1752600"/>
            <a:ext cx="6762750" cy="4095750"/>
          </a:xfrm>
          <a:prstGeom prst="rect">
            <a:avLst/>
          </a:prstGeom>
          <a:noFill/>
          <a:ln>
            <a:noFill/>
          </a:ln>
        </p:spPr>
      </p:pic>
      <p:sp>
        <p:nvSpPr>
          <p:cNvPr id="131" name="Google Shape;131;p8"/>
          <p:cNvSpPr/>
          <p:nvPr/>
        </p:nvSpPr>
        <p:spPr>
          <a:xfrm>
            <a:off x="8001000" y="2038350"/>
            <a:ext cx="3048000" cy="876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4800"/>
              <a:buFont typeface="Arial"/>
              <a:buNone/>
            </a:pPr>
            <a:r>
              <a:rPr b="1" i="0" lang="en-US" sz="4800" u="none" cap="none" strike="noStrike">
                <a:solidFill>
                  <a:srgbClr val="B42318"/>
                </a:solidFill>
                <a:latin typeface="Arial"/>
                <a:ea typeface="Arial"/>
                <a:cs typeface="Arial"/>
                <a:sym typeface="Arial"/>
              </a:rPr>
              <a:t>17.28%</a:t>
            </a:r>
            <a:endParaRPr b="0" i="0" sz="1400" u="none" cap="none" strike="noStrike">
              <a:solidFill>
                <a:srgbClr val="000000"/>
              </a:solidFill>
              <a:latin typeface="Arial"/>
              <a:ea typeface="Arial"/>
              <a:cs typeface="Arial"/>
              <a:sym typeface="Arial"/>
            </a:endParaRPr>
          </a:p>
        </p:txBody>
      </p:sp>
      <p:sp>
        <p:nvSpPr>
          <p:cNvPr id="132" name="Google Shape;132;p8"/>
          <p:cNvSpPr/>
          <p:nvPr/>
        </p:nvSpPr>
        <p:spPr>
          <a:xfrm>
            <a:off x="8001000" y="3009900"/>
            <a:ext cx="3143250" cy="5905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37"/>
              <a:buFont typeface="Arial"/>
              <a:buNone/>
            </a:pPr>
            <a:r>
              <a:rPr b="0" i="0" lang="en-US" sz="1637" u="none" cap="none" strike="noStrike">
                <a:solidFill>
                  <a:srgbClr val="111827"/>
                </a:solidFill>
                <a:latin typeface="Arial"/>
                <a:ea typeface="Arial"/>
                <a:cs typeface="Arial"/>
                <a:sym typeface="Arial"/>
              </a:rPr>
              <a:t>of sampled reviews are 1–2 stars</a:t>
            </a:r>
            <a:endParaRPr b="0" i="0" sz="1400" u="none" cap="none" strike="noStrike">
              <a:solidFill>
                <a:srgbClr val="000000"/>
              </a:solidFill>
              <a:latin typeface="Arial"/>
              <a:ea typeface="Arial"/>
              <a:cs typeface="Arial"/>
              <a:sym typeface="Arial"/>
            </a:endParaRPr>
          </a:p>
        </p:txBody>
      </p:sp>
      <p:sp>
        <p:nvSpPr>
          <p:cNvPr id="133" name="Google Shape;133;p8"/>
          <p:cNvSpPr/>
          <p:nvPr/>
        </p:nvSpPr>
        <p:spPr>
          <a:xfrm>
            <a:off x="8001000" y="3886200"/>
            <a:ext cx="2952750" cy="19050"/>
          </a:xfrm>
          <a:prstGeom prst="rect">
            <a:avLst/>
          </a:prstGeom>
          <a:solidFill>
            <a:srgbClr val="C7CC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 name="Google Shape;134;p8"/>
          <p:cNvSpPr/>
          <p:nvPr/>
        </p:nvSpPr>
        <p:spPr>
          <a:xfrm>
            <a:off x="8001000" y="4248150"/>
            <a:ext cx="3143250" cy="876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5B6574"/>
                </a:solidFill>
                <a:latin typeface="Arial"/>
                <a:ea typeface="Arial"/>
                <a:cs typeface="Arial"/>
                <a:sym typeface="Arial"/>
              </a:rPr>
              <a:t>11,408 low-rating reviews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5B6574"/>
                </a:solidFill>
                <a:latin typeface="Arial"/>
                <a:ea typeface="Arial"/>
                <a:cs typeface="Arial"/>
                <a:sym typeface="Arial"/>
              </a:rPr>
              <a:t>42,153 five-star reviews</a:t>
            </a:r>
            <a:endParaRPr b="0" i="0" sz="1400" u="none" cap="none" strike="noStrike">
              <a:solidFill>
                <a:srgbClr val="000000"/>
              </a:solidFill>
              <a:latin typeface="Arial"/>
              <a:ea typeface="Arial"/>
              <a:cs typeface="Arial"/>
              <a:sym typeface="Arial"/>
            </a:endParaRPr>
          </a:p>
        </p:txBody>
      </p:sp>
      <p:sp>
        <p:nvSpPr>
          <p:cNvPr id="135" name="Google Shape;135;p8"/>
          <p:cNvSpPr/>
          <p:nvPr/>
        </p:nvSpPr>
        <p:spPr>
          <a:xfrm>
            <a:off x="8001000" y="5372100"/>
            <a:ext cx="323850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5B6574"/>
                </a:solidFill>
                <a:latin typeface="Arial"/>
                <a:ea typeface="Arial"/>
                <a:cs typeface="Arial"/>
                <a:sym typeface="Arial"/>
              </a:rPr>
              <a:t>A majority-class guess already achieves 82.19% accuracy—so accuracy alone would be misleading.</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9"/>
          <p:cNvSpPr/>
          <p:nvPr/>
        </p:nvSpPr>
        <p:spPr>
          <a:xfrm>
            <a:off x="533400" y="323850"/>
            <a:ext cx="438150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3D8DFF"/>
                </a:solidFill>
                <a:latin typeface="Arial"/>
                <a:ea typeface="Arial"/>
                <a:cs typeface="Arial"/>
                <a:sym typeface="Arial"/>
              </a:rPr>
              <a:t>MGMT 59990 · GROUP 18</a:t>
            </a:r>
            <a:endParaRPr b="0" i="0" sz="1400" u="none" cap="none" strike="noStrike">
              <a:solidFill>
                <a:srgbClr val="000000"/>
              </a:solidFill>
              <a:latin typeface="Arial"/>
              <a:ea typeface="Arial"/>
              <a:cs typeface="Arial"/>
              <a:sym typeface="Arial"/>
            </a:endParaRPr>
          </a:p>
        </p:txBody>
      </p:sp>
      <p:sp>
        <p:nvSpPr>
          <p:cNvPr id="142" name="Google Shape;142;p9"/>
          <p:cNvSpPr/>
          <p:nvPr/>
        </p:nvSpPr>
        <p:spPr>
          <a:xfrm>
            <a:off x="533400" y="647700"/>
            <a:ext cx="11125200" cy="723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750"/>
              <a:buFont typeface="Arial"/>
              <a:buNone/>
            </a:pPr>
            <a:r>
              <a:rPr b="1" i="0" lang="en-US" sz="3750" u="none" cap="none" strike="noStrike">
                <a:solidFill>
                  <a:srgbClr val="111827"/>
                </a:solidFill>
                <a:latin typeface="Arial"/>
                <a:ea typeface="Arial"/>
                <a:cs typeface="Arial"/>
                <a:sym typeface="Arial"/>
              </a:rPr>
              <a:t>The model learns language linked to low ratings</a:t>
            </a:r>
            <a:endParaRPr b="0" i="0" sz="1400" u="none" cap="none" strike="noStrike">
              <a:solidFill>
                <a:srgbClr val="000000"/>
              </a:solidFill>
              <a:latin typeface="Arial"/>
              <a:ea typeface="Arial"/>
              <a:cs typeface="Arial"/>
              <a:sym typeface="Arial"/>
            </a:endParaRPr>
          </a:p>
        </p:txBody>
      </p:sp>
      <p:sp>
        <p:nvSpPr>
          <p:cNvPr id="143" name="Google Shape;143;p9"/>
          <p:cNvSpPr/>
          <p:nvPr/>
        </p:nvSpPr>
        <p:spPr>
          <a:xfrm>
            <a:off x="11144250" y="6381750"/>
            <a:ext cx="514350" cy="20955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75"/>
              <a:buFont typeface="Arial"/>
              <a:buNone/>
            </a:pPr>
            <a:r>
              <a:rPr b="0" i="0" lang="en-US" sz="775" u="none" cap="none" strike="noStrike">
                <a:solidFill>
                  <a:srgbClr val="5B6574"/>
                </a:solidFill>
                <a:latin typeface="Arial"/>
                <a:ea typeface="Arial"/>
                <a:cs typeface="Arial"/>
                <a:sym typeface="Arial"/>
              </a:rPr>
              <a:t>07</a:t>
            </a:r>
            <a:endParaRPr b="0" i="0" sz="1400" u="none" cap="none" strike="noStrike">
              <a:solidFill>
                <a:srgbClr val="000000"/>
              </a:solidFill>
              <a:latin typeface="Arial"/>
              <a:ea typeface="Arial"/>
              <a:cs typeface="Arial"/>
              <a:sym typeface="Arial"/>
            </a:endParaRPr>
          </a:p>
        </p:txBody>
      </p:sp>
      <p:sp>
        <p:nvSpPr>
          <p:cNvPr id="144" name="Google Shape;144;p9"/>
          <p:cNvSpPr/>
          <p:nvPr/>
        </p:nvSpPr>
        <p:spPr>
          <a:xfrm>
            <a:off x="533400" y="1428750"/>
            <a:ext cx="10572750" cy="5905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96"/>
              <a:buFont typeface="Arial"/>
              <a:buNone/>
            </a:pPr>
            <a:r>
              <a:rPr b="0" i="0" lang="en-US" sz="1697" u="none" cap="none" strike="noStrike">
                <a:solidFill>
                  <a:srgbClr val="5B6574"/>
                </a:solidFill>
                <a:latin typeface="Arial"/>
                <a:ea typeface="Arial"/>
                <a:cs typeface="Arial"/>
                <a:sym typeface="Arial"/>
              </a:rPr>
              <a:t>Its job is to estimate whether a review is likely to receive one or two stars—then prioritize it for human review.</a:t>
            </a:r>
            <a:endParaRPr b="0" i="0" sz="1400" u="none" cap="none" strike="noStrike">
              <a:solidFill>
                <a:srgbClr val="000000"/>
              </a:solidFill>
              <a:latin typeface="Arial"/>
              <a:ea typeface="Arial"/>
              <a:cs typeface="Arial"/>
              <a:sym typeface="Arial"/>
            </a:endParaRPr>
          </a:p>
        </p:txBody>
      </p:sp>
      <p:sp>
        <p:nvSpPr>
          <p:cNvPr id="145" name="Google Shape;145;p9"/>
          <p:cNvSpPr/>
          <p:nvPr/>
        </p:nvSpPr>
        <p:spPr>
          <a:xfrm>
            <a:off x="3028950" y="3143250"/>
            <a:ext cx="304800" cy="43815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956"/>
              <a:buFont typeface="Arial"/>
              <a:buNone/>
            </a:pPr>
            <a:r>
              <a:rPr b="1" i="0" lang="en-US" sz="956" u="none" cap="none" strike="noStrike">
                <a:solidFill>
                  <a:srgbClr val="5B6574"/>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sp>
        <p:nvSpPr>
          <p:cNvPr id="146" name="Google Shape;146;p9"/>
          <p:cNvSpPr/>
          <p:nvPr/>
        </p:nvSpPr>
        <p:spPr>
          <a:xfrm>
            <a:off x="5829300" y="3143250"/>
            <a:ext cx="304800" cy="43815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956"/>
              <a:buFont typeface="Arial"/>
              <a:buNone/>
            </a:pPr>
            <a:r>
              <a:rPr b="1" i="0" lang="en-US" sz="956" u="none" cap="none" strike="noStrike">
                <a:solidFill>
                  <a:srgbClr val="5B6574"/>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sp>
        <p:nvSpPr>
          <p:cNvPr id="147" name="Google Shape;147;p9"/>
          <p:cNvSpPr/>
          <p:nvPr/>
        </p:nvSpPr>
        <p:spPr>
          <a:xfrm>
            <a:off x="8629650" y="3143250"/>
            <a:ext cx="304800" cy="43815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956"/>
              <a:buFont typeface="Arial"/>
              <a:buNone/>
            </a:pPr>
            <a:r>
              <a:rPr b="1" i="0" lang="en-US" sz="956" u="none" cap="none" strike="noStrike">
                <a:solidFill>
                  <a:srgbClr val="5B6574"/>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sp>
        <p:nvSpPr>
          <p:cNvPr id="148" name="Google Shape;148;p9"/>
          <p:cNvSpPr/>
          <p:nvPr/>
        </p:nvSpPr>
        <p:spPr>
          <a:xfrm>
            <a:off x="533400" y="2152650"/>
            <a:ext cx="2571750" cy="2857500"/>
          </a:xfrm>
          <a:prstGeom prst="roundRect">
            <a:avLst>
              <a:gd fmla="val 4444" name="adj"/>
            </a:avLst>
          </a:prstGeom>
          <a:solidFill>
            <a:srgbClr val="E9F5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 name="Google Shape;149;p9"/>
          <p:cNvSpPr/>
          <p:nvPr/>
        </p:nvSpPr>
        <p:spPr>
          <a:xfrm>
            <a:off x="742950" y="2343150"/>
            <a:ext cx="571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Arial"/>
                <a:ea typeface="Arial"/>
                <a:cs typeface="Arial"/>
                <a:sym typeface="Arial"/>
              </a:rPr>
              <a:t>01</a:t>
            </a:r>
            <a:endParaRPr b="0" i="0" sz="1400" u="none" cap="none" strike="noStrike">
              <a:solidFill>
                <a:srgbClr val="000000"/>
              </a:solidFill>
              <a:latin typeface="Arial"/>
              <a:ea typeface="Arial"/>
              <a:cs typeface="Arial"/>
              <a:sym typeface="Arial"/>
            </a:endParaRPr>
          </a:p>
        </p:txBody>
      </p:sp>
      <p:sp>
        <p:nvSpPr>
          <p:cNvPr id="150" name="Google Shape;150;p9"/>
          <p:cNvSpPr/>
          <p:nvPr/>
        </p:nvSpPr>
        <p:spPr>
          <a:xfrm>
            <a:off x="742950" y="2781300"/>
            <a:ext cx="215265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70"/>
              <a:buFont typeface="Arial"/>
              <a:buNone/>
            </a:pPr>
            <a:r>
              <a:rPr b="1" i="0" lang="en-US" sz="1671" u="none" cap="none" strike="noStrike">
                <a:solidFill>
                  <a:srgbClr val="111827"/>
                </a:solidFill>
                <a:latin typeface="Arial"/>
                <a:ea typeface="Arial"/>
                <a:cs typeface="Arial"/>
                <a:sym typeface="Arial"/>
              </a:rPr>
              <a:t>Define the outcome</a:t>
            </a:r>
            <a:endParaRPr b="0" i="0" sz="1400" u="none" cap="none" strike="noStrike">
              <a:solidFill>
                <a:srgbClr val="000000"/>
              </a:solidFill>
              <a:latin typeface="Arial"/>
              <a:ea typeface="Arial"/>
              <a:cs typeface="Arial"/>
              <a:sym typeface="Arial"/>
            </a:endParaRPr>
          </a:p>
        </p:txBody>
      </p:sp>
      <p:sp>
        <p:nvSpPr>
          <p:cNvPr id="151" name="Google Shape;151;p9"/>
          <p:cNvSpPr/>
          <p:nvPr/>
        </p:nvSpPr>
        <p:spPr>
          <a:xfrm>
            <a:off x="742950" y="3390900"/>
            <a:ext cx="2152650" cy="13525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79"/>
              <a:buFont typeface="Arial"/>
              <a:buNone/>
            </a:pPr>
            <a:r>
              <a:rPr b="0" i="0" lang="en-US" sz="1379" u="none" cap="none" strike="noStrike">
                <a:solidFill>
                  <a:srgbClr val="5B6574"/>
                </a:solidFill>
                <a:latin typeface="Arial"/>
                <a:ea typeface="Arial"/>
                <a:cs typeface="Arial"/>
                <a:sym typeface="Arial"/>
              </a:rPr>
              <a:t>Reviews rated 1–2 stars are labeled low rating.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379"/>
              <a:buFont typeface="Arial"/>
              <a:buNone/>
            </a:pPr>
            <a:r>
              <a:t/>
            </a:r>
            <a:endParaRPr b="0" i="0" sz="1379" u="none" cap="none" strike="noStrike">
              <a:solidFill>
                <a:srgbClr val="5B6574"/>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379"/>
              <a:buFont typeface="Arial"/>
              <a:buNone/>
            </a:pPr>
            <a:r>
              <a:rPr b="0" i="0" lang="en-US" sz="1379" u="none" cap="none" strike="noStrike">
                <a:solidFill>
                  <a:srgbClr val="5B6574"/>
                </a:solidFill>
                <a:latin typeface="Arial"/>
                <a:ea typeface="Arial"/>
                <a:cs typeface="Arial"/>
                <a:sym typeface="Arial"/>
              </a:rPr>
              <a:t>The model predicts that label using only the written review text.</a:t>
            </a:r>
            <a:endParaRPr b="0" i="0" sz="1400" u="none" cap="none" strike="noStrike">
              <a:solidFill>
                <a:srgbClr val="000000"/>
              </a:solidFill>
              <a:latin typeface="Arial"/>
              <a:ea typeface="Arial"/>
              <a:cs typeface="Arial"/>
              <a:sym typeface="Arial"/>
            </a:endParaRPr>
          </a:p>
        </p:txBody>
      </p:sp>
      <p:sp>
        <p:nvSpPr>
          <p:cNvPr id="152" name="Google Shape;152;p9"/>
          <p:cNvSpPr/>
          <p:nvPr/>
        </p:nvSpPr>
        <p:spPr>
          <a:xfrm>
            <a:off x="3333750" y="2152650"/>
            <a:ext cx="2571750" cy="2857500"/>
          </a:xfrm>
          <a:prstGeom prst="roundRect">
            <a:avLst>
              <a:gd fmla="val 4444" name="adj"/>
            </a:avLst>
          </a:prstGeom>
          <a:solidFill>
            <a:srgbClr val="F1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9"/>
          <p:cNvSpPr/>
          <p:nvPr/>
        </p:nvSpPr>
        <p:spPr>
          <a:xfrm>
            <a:off x="3543300" y="2343150"/>
            <a:ext cx="571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Arial"/>
                <a:ea typeface="Arial"/>
                <a:cs typeface="Arial"/>
                <a:sym typeface="Arial"/>
              </a:rPr>
              <a:t>02</a:t>
            </a:r>
            <a:endParaRPr b="0" i="0" sz="1400" u="none" cap="none" strike="noStrike">
              <a:solidFill>
                <a:srgbClr val="000000"/>
              </a:solidFill>
              <a:latin typeface="Arial"/>
              <a:ea typeface="Arial"/>
              <a:cs typeface="Arial"/>
              <a:sym typeface="Arial"/>
            </a:endParaRPr>
          </a:p>
        </p:txBody>
      </p:sp>
      <p:sp>
        <p:nvSpPr>
          <p:cNvPr id="154" name="Google Shape;154;p9"/>
          <p:cNvSpPr/>
          <p:nvPr/>
        </p:nvSpPr>
        <p:spPr>
          <a:xfrm>
            <a:off x="3543300" y="2781300"/>
            <a:ext cx="215265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37"/>
              <a:buFont typeface="Arial"/>
              <a:buNone/>
            </a:pPr>
            <a:r>
              <a:rPr b="1" i="0" lang="en-US" sz="1337" u="none" cap="none" strike="noStrike">
                <a:solidFill>
                  <a:srgbClr val="111827"/>
                </a:solidFill>
                <a:latin typeface="Arial"/>
                <a:ea typeface="Arial"/>
                <a:cs typeface="Arial"/>
                <a:sym typeface="Arial"/>
              </a:rPr>
              <a:t>Learn language patterns</a:t>
            </a:r>
            <a:endParaRPr b="0" i="0" sz="1400" u="none" cap="none" strike="noStrike">
              <a:solidFill>
                <a:srgbClr val="000000"/>
              </a:solidFill>
              <a:latin typeface="Arial"/>
              <a:ea typeface="Arial"/>
              <a:cs typeface="Arial"/>
              <a:sym typeface="Arial"/>
            </a:endParaRPr>
          </a:p>
        </p:txBody>
      </p:sp>
      <p:sp>
        <p:nvSpPr>
          <p:cNvPr id="155" name="Google Shape;155;p9"/>
          <p:cNvSpPr/>
          <p:nvPr/>
        </p:nvSpPr>
        <p:spPr>
          <a:xfrm>
            <a:off x="3543225" y="3295725"/>
            <a:ext cx="2152800" cy="1619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82"/>
              <a:buFont typeface="Arial"/>
              <a:buNone/>
            </a:pPr>
            <a:r>
              <a:rPr b="0" i="0" lang="en-US" sz="1182" u="none" cap="none" strike="noStrike">
                <a:solidFill>
                  <a:srgbClr val="5B6574"/>
                </a:solidFill>
                <a:latin typeface="Arial"/>
                <a:ea typeface="Arial"/>
                <a:cs typeface="Arial"/>
                <a:sym typeface="Arial"/>
              </a:rPr>
              <a:t>Each review becomes weighted words and two-word phrases.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82"/>
              <a:buFont typeface="Arial"/>
              <a:buNone/>
            </a:pPr>
            <a:r>
              <a:t/>
            </a:r>
            <a:endParaRPr b="0" i="0" sz="1182" u="none" cap="none" strike="noStrike">
              <a:solidFill>
                <a:srgbClr val="5B6574"/>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82"/>
              <a:buFont typeface="Arial"/>
              <a:buNone/>
            </a:pPr>
            <a:r>
              <a:rPr b="0" i="0" lang="en-US" sz="1182" u="none" cap="none" strike="noStrike">
                <a:solidFill>
                  <a:srgbClr val="5B6574"/>
                </a:solidFill>
                <a:latin typeface="Arial"/>
                <a:ea typeface="Arial"/>
                <a:cs typeface="Arial"/>
                <a:sym typeface="Arial"/>
              </a:rPr>
              <a:t>The model learns which patterns are more common in low-rated reviews. Like ‘broken, excellent, refund’ etc.</a:t>
            </a:r>
            <a:endParaRPr b="0" i="0" sz="1400" u="none" cap="none" strike="noStrike">
              <a:solidFill>
                <a:srgbClr val="000000"/>
              </a:solidFill>
              <a:latin typeface="Arial"/>
              <a:ea typeface="Arial"/>
              <a:cs typeface="Arial"/>
              <a:sym typeface="Arial"/>
            </a:endParaRPr>
          </a:p>
        </p:txBody>
      </p:sp>
      <p:sp>
        <p:nvSpPr>
          <p:cNvPr id="156" name="Google Shape;156;p9"/>
          <p:cNvSpPr/>
          <p:nvPr/>
        </p:nvSpPr>
        <p:spPr>
          <a:xfrm>
            <a:off x="6134100" y="2152650"/>
            <a:ext cx="2571750" cy="2857500"/>
          </a:xfrm>
          <a:prstGeom prst="roundRect">
            <a:avLst>
              <a:gd fmla="val 4444" name="adj"/>
            </a:avLst>
          </a:prstGeom>
          <a:solidFill>
            <a:srgbClr val="E8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 name="Google Shape;157;p9"/>
          <p:cNvSpPr/>
          <p:nvPr/>
        </p:nvSpPr>
        <p:spPr>
          <a:xfrm>
            <a:off x="6343650" y="2343150"/>
            <a:ext cx="571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Arial"/>
                <a:ea typeface="Arial"/>
                <a:cs typeface="Arial"/>
                <a:sym typeface="Arial"/>
              </a:rPr>
              <a:t>03</a:t>
            </a:r>
            <a:endParaRPr b="0" i="0" sz="1400" u="none" cap="none" strike="noStrike">
              <a:solidFill>
                <a:srgbClr val="000000"/>
              </a:solidFill>
              <a:latin typeface="Arial"/>
              <a:ea typeface="Arial"/>
              <a:cs typeface="Arial"/>
              <a:sym typeface="Arial"/>
            </a:endParaRPr>
          </a:p>
        </p:txBody>
      </p:sp>
      <p:sp>
        <p:nvSpPr>
          <p:cNvPr id="158" name="Google Shape;158;p9"/>
          <p:cNvSpPr/>
          <p:nvPr/>
        </p:nvSpPr>
        <p:spPr>
          <a:xfrm>
            <a:off x="6343650" y="2781300"/>
            <a:ext cx="215265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73"/>
              <a:buFont typeface="Arial"/>
              <a:buNone/>
            </a:pPr>
            <a:r>
              <a:rPr b="1" i="0" lang="en-US" sz="1373" u="none" cap="none" strike="noStrike">
                <a:solidFill>
                  <a:srgbClr val="111827"/>
                </a:solidFill>
                <a:latin typeface="Arial"/>
                <a:ea typeface="Arial"/>
                <a:cs typeface="Arial"/>
                <a:sym typeface="Arial"/>
              </a:rPr>
              <a:t>Handle class imbalance</a:t>
            </a:r>
            <a:endParaRPr b="0" i="0" sz="1400" u="none" cap="none" strike="noStrike">
              <a:solidFill>
                <a:srgbClr val="000000"/>
              </a:solidFill>
              <a:latin typeface="Arial"/>
              <a:ea typeface="Arial"/>
              <a:cs typeface="Arial"/>
              <a:sym typeface="Arial"/>
            </a:endParaRPr>
          </a:p>
        </p:txBody>
      </p:sp>
      <p:sp>
        <p:nvSpPr>
          <p:cNvPr id="159" name="Google Shape;159;p9"/>
          <p:cNvSpPr/>
          <p:nvPr/>
        </p:nvSpPr>
        <p:spPr>
          <a:xfrm>
            <a:off x="6343650" y="3390900"/>
            <a:ext cx="2152650" cy="13525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37"/>
              <a:buFont typeface="Arial"/>
              <a:buNone/>
            </a:pPr>
            <a:r>
              <a:rPr b="0" i="0" lang="en-US" sz="1337" u="none" cap="none" strike="noStrike">
                <a:solidFill>
                  <a:srgbClr val="5B6574"/>
                </a:solidFill>
                <a:latin typeface="Arial"/>
                <a:ea typeface="Arial"/>
                <a:cs typeface="Arial"/>
                <a:sym typeface="Arial"/>
              </a:rPr>
              <a:t>Low ratings are only 17.28% of the sample.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337"/>
              <a:buFont typeface="Arial"/>
              <a:buNone/>
            </a:pPr>
            <a:r>
              <a:t/>
            </a:r>
            <a:endParaRPr b="0" i="0" sz="1337" u="none" cap="none" strike="noStrike">
              <a:solidFill>
                <a:srgbClr val="5B6574"/>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337"/>
              <a:buFont typeface="Arial"/>
              <a:buNone/>
            </a:pPr>
            <a:r>
              <a:rPr b="0" i="0" lang="en-US" sz="1337" u="none" cap="none" strike="noStrike">
                <a:solidFill>
                  <a:srgbClr val="5B6574"/>
                </a:solidFill>
                <a:latin typeface="Arial"/>
                <a:ea typeface="Arial"/>
                <a:cs typeface="Arial"/>
                <a:sym typeface="Arial"/>
              </a:rPr>
              <a:t>Training gives the minority class more weight so it is not ignored.</a:t>
            </a:r>
            <a:endParaRPr b="0" i="0" sz="1400" u="none" cap="none" strike="noStrike">
              <a:solidFill>
                <a:srgbClr val="000000"/>
              </a:solidFill>
              <a:latin typeface="Arial"/>
              <a:ea typeface="Arial"/>
              <a:cs typeface="Arial"/>
              <a:sym typeface="Arial"/>
            </a:endParaRPr>
          </a:p>
        </p:txBody>
      </p:sp>
      <p:sp>
        <p:nvSpPr>
          <p:cNvPr id="160" name="Google Shape;160;p9"/>
          <p:cNvSpPr/>
          <p:nvPr/>
        </p:nvSpPr>
        <p:spPr>
          <a:xfrm>
            <a:off x="8934450" y="2152650"/>
            <a:ext cx="2571750" cy="2857500"/>
          </a:xfrm>
          <a:prstGeom prst="roundRect">
            <a:avLst>
              <a:gd fmla="val 4444" name="adj"/>
            </a:avLst>
          </a:prstGeom>
          <a:solidFill>
            <a:srgbClr val="FFF4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9"/>
          <p:cNvSpPr/>
          <p:nvPr/>
        </p:nvSpPr>
        <p:spPr>
          <a:xfrm>
            <a:off x="9144000" y="2343150"/>
            <a:ext cx="57150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Arial"/>
                <a:ea typeface="Arial"/>
                <a:cs typeface="Arial"/>
                <a:sym typeface="Arial"/>
              </a:rPr>
              <a:t>04</a:t>
            </a:r>
            <a:endParaRPr b="0" i="0" sz="1400" u="none" cap="none" strike="noStrike">
              <a:solidFill>
                <a:srgbClr val="000000"/>
              </a:solidFill>
              <a:latin typeface="Arial"/>
              <a:ea typeface="Arial"/>
              <a:cs typeface="Arial"/>
              <a:sym typeface="Arial"/>
            </a:endParaRPr>
          </a:p>
        </p:txBody>
      </p:sp>
      <p:sp>
        <p:nvSpPr>
          <p:cNvPr id="162" name="Google Shape;162;p9"/>
          <p:cNvSpPr/>
          <p:nvPr/>
        </p:nvSpPr>
        <p:spPr>
          <a:xfrm>
            <a:off x="9144000" y="2781300"/>
            <a:ext cx="215265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111827"/>
                </a:solidFill>
                <a:latin typeface="Arial"/>
                <a:ea typeface="Arial"/>
                <a:cs typeface="Arial"/>
                <a:sym typeface="Arial"/>
              </a:rPr>
              <a:t>Test it fairly</a:t>
            </a:r>
            <a:endParaRPr b="0" i="0" sz="1400" u="none" cap="none" strike="noStrike">
              <a:solidFill>
                <a:srgbClr val="000000"/>
              </a:solidFill>
              <a:latin typeface="Arial"/>
              <a:ea typeface="Arial"/>
              <a:cs typeface="Arial"/>
              <a:sym typeface="Arial"/>
            </a:endParaRPr>
          </a:p>
        </p:txBody>
      </p:sp>
      <p:sp>
        <p:nvSpPr>
          <p:cNvPr id="163" name="Google Shape;163;p9"/>
          <p:cNvSpPr/>
          <p:nvPr/>
        </p:nvSpPr>
        <p:spPr>
          <a:xfrm>
            <a:off x="9144000" y="3390900"/>
            <a:ext cx="2152650" cy="13525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10"/>
              <a:buFont typeface="Arial"/>
              <a:buNone/>
            </a:pPr>
            <a:r>
              <a:rPr b="0" i="0" lang="en-US" sz="1210" u="none" cap="none" strike="noStrike">
                <a:solidFill>
                  <a:srgbClr val="5B6574"/>
                </a:solidFill>
                <a:latin typeface="Arial"/>
                <a:ea typeface="Arial"/>
                <a:cs typeface="Arial"/>
                <a:sym typeface="Arial"/>
              </a:rPr>
              <a:t>Every reviewer stays in one data split to prevent leakage.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10"/>
              <a:buFont typeface="Arial"/>
              <a:buNone/>
            </a:pPr>
            <a:r>
              <a:t/>
            </a:r>
            <a:endParaRPr b="0" i="0" sz="1210" u="none" cap="none" strike="noStrike">
              <a:solidFill>
                <a:srgbClr val="5B6574"/>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10"/>
              <a:buFont typeface="Arial"/>
              <a:buNone/>
            </a:pPr>
            <a:r>
              <a:rPr b="0" i="0" lang="en-US" sz="1210" u="none" cap="none" strike="noStrike">
                <a:solidFill>
                  <a:srgbClr val="5B6574"/>
                </a:solidFill>
                <a:latin typeface="Arial"/>
                <a:ea typeface="Arial"/>
                <a:cs typeface="Arial"/>
                <a:sym typeface="Arial"/>
              </a:rPr>
              <a:t>The final model is evaluated once on 6,436 unseen reviews.</a:t>
            </a:r>
            <a:endParaRPr b="0" i="0" sz="1400" u="none" cap="none" strike="noStrike">
              <a:solidFill>
                <a:srgbClr val="000000"/>
              </a:solidFill>
              <a:latin typeface="Arial"/>
              <a:ea typeface="Arial"/>
              <a:cs typeface="Arial"/>
              <a:sym typeface="Arial"/>
            </a:endParaRPr>
          </a:p>
        </p:txBody>
      </p:sp>
      <p:sp>
        <p:nvSpPr>
          <p:cNvPr id="164" name="Google Shape;164;p9"/>
          <p:cNvSpPr/>
          <p:nvPr/>
        </p:nvSpPr>
        <p:spPr>
          <a:xfrm>
            <a:off x="533400" y="5391150"/>
            <a:ext cx="11125200" cy="781050"/>
          </a:xfrm>
          <a:prstGeom prst="roundRect">
            <a:avLst>
              <a:gd fmla="val 14634" name="adj"/>
            </a:avLst>
          </a:prstGeom>
          <a:solidFill>
            <a:srgbClr val="11182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9"/>
          <p:cNvSpPr/>
          <p:nvPr/>
        </p:nvSpPr>
        <p:spPr>
          <a:xfrm>
            <a:off x="800100" y="5638800"/>
            <a:ext cx="1619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6DCBF4"/>
                </a:solidFill>
                <a:latin typeface="Arial"/>
                <a:ea typeface="Arial"/>
                <a:cs typeface="Arial"/>
                <a:sym typeface="Arial"/>
              </a:rPr>
              <a:t>MODEL OUTPUT</a:t>
            </a:r>
            <a:endParaRPr b="0" i="0" sz="1400" u="none" cap="none" strike="noStrike">
              <a:solidFill>
                <a:srgbClr val="000000"/>
              </a:solidFill>
              <a:latin typeface="Arial"/>
              <a:ea typeface="Arial"/>
              <a:cs typeface="Arial"/>
              <a:sym typeface="Arial"/>
            </a:endParaRPr>
          </a:p>
        </p:txBody>
      </p:sp>
      <p:sp>
        <p:nvSpPr>
          <p:cNvPr id="166" name="Google Shape;166;p9"/>
          <p:cNvSpPr/>
          <p:nvPr/>
        </p:nvSpPr>
        <p:spPr>
          <a:xfrm>
            <a:off x="2476500" y="5581650"/>
            <a:ext cx="876300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725"/>
              <a:buFont typeface="Arial"/>
              <a:buNone/>
            </a:pPr>
            <a:r>
              <a:rPr b="1" i="0" lang="en-US" sz="1725" u="none" cap="none" strike="noStrike">
                <a:solidFill>
                  <a:srgbClr val="FFFFFF"/>
                </a:solidFill>
                <a:latin typeface="Arial"/>
                <a:ea typeface="Arial"/>
                <a:cs typeface="Arial"/>
                <a:sym typeface="Arial"/>
              </a:rPr>
              <a:t>Review text  →  probability of a 1–2 star rating  →  prioritized human follow-up</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p10"/>
          <p:cNvSpPr/>
          <p:nvPr/>
        </p:nvSpPr>
        <p:spPr>
          <a:xfrm>
            <a:off x="533400" y="323850"/>
            <a:ext cx="438150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3D8DFF"/>
                </a:solidFill>
                <a:latin typeface="Arial"/>
                <a:ea typeface="Arial"/>
                <a:cs typeface="Arial"/>
                <a:sym typeface="Arial"/>
              </a:rPr>
              <a:t>MGMT 59990 · GROUP 18</a:t>
            </a:r>
            <a:endParaRPr b="0" i="0" sz="1400" u="none" cap="none" strike="noStrike">
              <a:solidFill>
                <a:srgbClr val="000000"/>
              </a:solidFill>
              <a:latin typeface="Arial"/>
              <a:ea typeface="Arial"/>
              <a:cs typeface="Arial"/>
              <a:sym typeface="Arial"/>
            </a:endParaRPr>
          </a:p>
        </p:txBody>
      </p:sp>
      <p:sp>
        <p:nvSpPr>
          <p:cNvPr id="173" name="Google Shape;173;p10"/>
          <p:cNvSpPr/>
          <p:nvPr/>
        </p:nvSpPr>
        <p:spPr>
          <a:xfrm>
            <a:off x="533400" y="647700"/>
            <a:ext cx="11125200" cy="723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750"/>
              <a:buFont typeface="Arial"/>
              <a:buNone/>
            </a:pPr>
            <a:r>
              <a:rPr b="1" i="0" lang="en-US" sz="3750" u="none" cap="none" strike="noStrike">
                <a:solidFill>
                  <a:srgbClr val="111827"/>
                </a:solidFill>
                <a:latin typeface="Arial"/>
                <a:ea typeface="Arial"/>
                <a:cs typeface="Arial"/>
                <a:sym typeface="Arial"/>
              </a:rPr>
              <a:t>The model catches 87% of actual low ratings</a:t>
            </a:r>
            <a:endParaRPr b="0" i="0" sz="1400" u="none" cap="none" strike="noStrike">
              <a:solidFill>
                <a:srgbClr val="000000"/>
              </a:solidFill>
              <a:latin typeface="Arial"/>
              <a:ea typeface="Arial"/>
              <a:cs typeface="Arial"/>
              <a:sym typeface="Arial"/>
            </a:endParaRPr>
          </a:p>
        </p:txBody>
      </p:sp>
      <p:sp>
        <p:nvSpPr>
          <p:cNvPr id="174" name="Google Shape;174;p10"/>
          <p:cNvSpPr/>
          <p:nvPr/>
        </p:nvSpPr>
        <p:spPr>
          <a:xfrm>
            <a:off x="11144250" y="6381750"/>
            <a:ext cx="514350" cy="20955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75"/>
              <a:buFont typeface="Arial"/>
              <a:buNone/>
            </a:pPr>
            <a:r>
              <a:rPr b="0" i="0" lang="en-US" sz="775" u="none" cap="none" strike="noStrike">
                <a:solidFill>
                  <a:srgbClr val="5B6574"/>
                </a:solidFill>
                <a:latin typeface="Arial"/>
                <a:ea typeface="Arial"/>
                <a:cs typeface="Arial"/>
                <a:sym typeface="Arial"/>
              </a:rPr>
              <a:t>08</a:t>
            </a:r>
            <a:endParaRPr b="0" i="0" sz="1400" u="none" cap="none" strike="noStrike">
              <a:solidFill>
                <a:srgbClr val="000000"/>
              </a:solidFill>
              <a:latin typeface="Arial"/>
              <a:ea typeface="Arial"/>
              <a:cs typeface="Arial"/>
              <a:sym typeface="Arial"/>
            </a:endParaRPr>
          </a:p>
        </p:txBody>
      </p:sp>
      <p:pic>
        <p:nvPicPr>
          <p:cNvPr id="175" name="Google Shape;175;p10"/>
          <p:cNvPicPr preferRelativeResize="0"/>
          <p:nvPr/>
        </p:nvPicPr>
        <p:blipFill rotWithShape="1">
          <a:blip r:embed="rId3">
            <a:alphaModFix/>
          </a:blip>
          <a:srcRect b="0" l="0" r="0" t="0"/>
          <a:stretch/>
        </p:blipFill>
        <p:spPr>
          <a:xfrm>
            <a:off x="533400" y="1695450"/>
            <a:ext cx="6667500" cy="4267200"/>
          </a:xfrm>
          <a:prstGeom prst="rect">
            <a:avLst/>
          </a:prstGeom>
          <a:noFill/>
          <a:ln>
            <a:noFill/>
          </a:ln>
        </p:spPr>
      </p:pic>
      <p:sp>
        <p:nvSpPr>
          <p:cNvPr id="176" name="Google Shape;176;p10"/>
          <p:cNvSpPr/>
          <p:nvPr/>
        </p:nvSpPr>
        <p:spPr>
          <a:xfrm>
            <a:off x="7810500" y="1695450"/>
            <a:ext cx="3429000" cy="1524000"/>
          </a:xfrm>
          <a:prstGeom prst="roundRect">
            <a:avLst>
              <a:gd fmla="val 7500" name="adj"/>
            </a:avLst>
          </a:prstGeom>
          <a:solidFill>
            <a:srgbClr val="E8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10"/>
          <p:cNvSpPr/>
          <p:nvPr/>
        </p:nvSpPr>
        <p:spPr>
          <a:xfrm>
            <a:off x="8058150" y="1924050"/>
            <a:ext cx="2857500" cy="304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47A4A"/>
                </a:solidFill>
                <a:latin typeface="Arial"/>
                <a:ea typeface="Arial"/>
                <a:cs typeface="Arial"/>
                <a:sym typeface="Arial"/>
              </a:rPr>
              <a:t>Model</a:t>
            </a:r>
            <a:endParaRPr b="0" i="0" sz="1400" u="none" cap="none" strike="noStrike">
              <a:solidFill>
                <a:srgbClr val="000000"/>
              </a:solidFill>
              <a:latin typeface="Arial"/>
              <a:ea typeface="Arial"/>
              <a:cs typeface="Arial"/>
              <a:sym typeface="Arial"/>
            </a:endParaRPr>
          </a:p>
        </p:txBody>
      </p:sp>
      <p:sp>
        <p:nvSpPr>
          <p:cNvPr id="178" name="Google Shape;178;p10"/>
          <p:cNvSpPr/>
          <p:nvPr/>
        </p:nvSpPr>
        <p:spPr>
          <a:xfrm>
            <a:off x="8058150" y="2343150"/>
            <a:ext cx="2857500" cy="666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87"/>
              <a:buFont typeface="Arial"/>
              <a:buNone/>
            </a:pPr>
            <a:r>
              <a:rPr b="1" i="0" lang="en-US" sz="1888" u="none" cap="none" strike="noStrike">
                <a:solidFill>
                  <a:srgbClr val="111827"/>
                </a:solidFill>
                <a:latin typeface="Arial"/>
                <a:ea typeface="Arial"/>
                <a:cs typeface="Arial"/>
                <a:sym typeface="Arial"/>
              </a:rPr>
              <a:t>TF-IDF + balanced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87"/>
              <a:buFont typeface="Arial"/>
              <a:buNone/>
            </a:pPr>
            <a:r>
              <a:rPr b="1" i="0" lang="en-US" sz="1888" u="none" cap="none" strike="noStrike">
                <a:solidFill>
                  <a:srgbClr val="111827"/>
                </a:solidFill>
                <a:latin typeface="Arial"/>
                <a:ea typeface="Arial"/>
                <a:cs typeface="Arial"/>
                <a:sym typeface="Arial"/>
              </a:rPr>
              <a:t>logistic regression</a:t>
            </a:r>
            <a:endParaRPr b="0" i="0" sz="1400" u="none" cap="none" strike="noStrike">
              <a:solidFill>
                <a:srgbClr val="000000"/>
              </a:solidFill>
              <a:latin typeface="Arial"/>
              <a:ea typeface="Arial"/>
              <a:cs typeface="Arial"/>
              <a:sym typeface="Arial"/>
            </a:endParaRPr>
          </a:p>
        </p:txBody>
      </p:sp>
      <p:sp>
        <p:nvSpPr>
          <p:cNvPr id="179" name="Google Shape;179;p10"/>
          <p:cNvSpPr/>
          <p:nvPr/>
        </p:nvSpPr>
        <p:spPr>
          <a:xfrm>
            <a:off x="7810500" y="3429000"/>
            <a:ext cx="3429000" cy="1200150"/>
          </a:xfrm>
          <a:prstGeom prst="roundRect">
            <a:avLst>
              <a:gd fmla="val 9524" name="adj"/>
            </a:avLst>
          </a:prstGeom>
          <a:solidFill>
            <a:srgbClr val="F1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0"/>
          <p:cNvSpPr/>
          <p:nvPr/>
        </p:nvSpPr>
        <p:spPr>
          <a:xfrm>
            <a:off x="8058150" y="3638550"/>
            <a:ext cx="285750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5B6574"/>
                </a:solidFill>
                <a:latin typeface="Arial"/>
                <a:ea typeface="Arial"/>
                <a:cs typeface="Arial"/>
                <a:sym typeface="Arial"/>
              </a:rPr>
              <a:t>Validation-selected threshold</a:t>
            </a:r>
            <a:endParaRPr b="0" i="0" sz="1400" u="none" cap="none" strike="noStrike">
              <a:solidFill>
                <a:srgbClr val="000000"/>
              </a:solidFill>
              <a:latin typeface="Arial"/>
              <a:ea typeface="Arial"/>
              <a:cs typeface="Arial"/>
              <a:sym typeface="Arial"/>
            </a:endParaRPr>
          </a:p>
        </p:txBody>
      </p:sp>
      <p:sp>
        <p:nvSpPr>
          <p:cNvPr id="181" name="Google Shape;181;p10"/>
          <p:cNvSpPr/>
          <p:nvPr/>
        </p:nvSpPr>
        <p:spPr>
          <a:xfrm>
            <a:off x="8058150" y="4038600"/>
            <a:ext cx="1524000" cy="438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275"/>
              <a:buFont typeface="Arial"/>
              <a:buNone/>
            </a:pPr>
            <a:r>
              <a:rPr b="1" i="0" lang="en-US" sz="2275" u="none" cap="none" strike="noStrike">
                <a:solidFill>
                  <a:srgbClr val="111827"/>
                </a:solidFill>
                <a:latin typeface="Arial"/>
                <a:ea typeface="Arial"/>
                <a:cs typeface="Arial"/>
                <a:sym typeface="Arial"/>
              </a:rPr>
              <a:t>0.62</a:t>
            </a:r>
            <a:endParaRPr b="0" i="0" sz="1400" u="none" cap="none" strike="noStrike">
              <a:solidFill>
                <a:srgbClr val="000000"/>
              </a:solidFill>
              <a:latin typeface="Arial"/>
              <a:ea typeface="Arial"/>
              <a:cs typeface="Arial"/>
              <a:sym typeface="Arial"/>
            </a:endParaRPr>
          </a:p>
        </p:txBody>
      </p:sp>
      <p:sp>
        <p:nvSpPr>
          <p:cNvPr id="182" name="Google Shape;182;p10"/>
          <p:cNvSpPr/>
          <p:nvPr/>
        </p:nvSpPr>
        <p:spPr>
          <a:xfrm>
            <a:off x="7810500" y="4972050"/>
            <a:ext cx="3429000"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25"/>
              <a:buFont typeface="Arial"/>
              <a:buNone/>
            </a:pPr>
            <a:r>
              <a:rPr b="1" i="0" lang="en-US" sz="1525" u="none" cap="none" strike="noStrike">
                <a:solidFill>
                  <a:srgbClr val="111827"/>
                </a:solidFill>
                <a:latin typeface="Arial"/>
                <a:ea typeface="Arial"/>
                <a:cs typeface="Arial"/>
                <a:sym typeface="Arial"/>
              </a:rPr>
              <a:t>6,436 held-out reviews</a:t>
            </a:r>
            <a:endParaRPr b="0" i="0" sz="1400" u="none" cap="none" strike="noStrike">
              <a:solidFill>
                <a:srgbClr val="000000"/>
              </a:solidFill>
              <a:latin typeface="Arial"/>
              <a:ea typeface="Arial"/>
              <a:cs typeface="Arial"/>
              <a:sym typeface="Arial"/>
            </a:endParaRPr>
          </a:p>
        </p:txBody>
      </p:sp>
      <p:sp>
        <p:nvSpPr>
          <p:cNvPr id="183" name="Google Shape;183;p10"/>
          <p:cNvSpPr/>
          <p:nvPr/>
        </p:nvSpPr>
        <p:spPr>
          <a:xfrm>
            <a:off x="7810500" y="5429250"/>
            <a:ext cx="3429000" cy="495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72"/>
              <a:buFont typeface="Arial"/>
              <a:buNone/>
            </a:pPr>
            <a:r>
              <a:rPr b="0" i="0" lang="en-US" sz="1472" u="none" cap="none" strike="noStrike">
                <a:solidFill>
                  <a:srgbClr val="5B6574"/>
                </a:solidFill>
                <a:latin typeface="Arial"/>
                <a:ea typeface="Arial"/>
                <a:cs typeface="Arial"/>
                <a:sym typeface="Arial"/>
              </a:rPr>
              <a:t>999 true positives · 147 false negatives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 name="Shape 188"/>
        <p:cNvGrpSpPr/>
        <p:nvPr/>
      </p:nvGrpSpPr>
      <p:grpSpPr>
        <a:xfrm>
          <a:off x="0" y="0"/>
          <a:ext cx="0" cy="0"/>
          <a:chOff x="0" y="0"/>
          <a:chExt cx="0" cy="0"/>
        </a:xfrm>
      </p:grpSpPr>
      <p:sp>
        <p:nvSpPr>
          <p:cNvPr id="189" name="Google Shape;189;p11"/>
          <p:cNvSpPr/>
          <p:nvPr/>
        </p:nvSpPr>
        <p:spPr>
          <a:xfrm>
            <a:off x="533400" y="323850"/>
            <a:ext cx="438150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3D8DFF"/>
                </a:solidFill>
                <a:latin typeface="Arial"/>
                <a:ea typeface="Arial"/>
                <a:cs typeface="Arial"/>
                <a:sym typeface="Arial"/>
              </a:rPr>
              <a:t>MGMT 59990 · GROUP 18</a:t>
            </a:r>
            <a:endParaRPr b="0" i="0" sz="1400" u="none" cap="none" strike="noStrike">
              <a:solidFill>
                <a:srgbClr val="000000"/>
              </a:solidFill>
              <a:latin typeface="Arial"/>
              <a:ea typeface="Arial"/>
              <a:cs typeface="Arial"/>
              <a:sym typeface="Arial"/>
            </a:endParaRPr>
          </a:p>
        </p:txBody>
      </p:sp>
      <p:sp>
        <p:nvSpPr>
          <p:cNvPr id="190" name="Google Shape;190;p11"/>
          <p:cNvSpPr/>
          <p:nvPr/>
        </p:nvSpPr>
        <p:spPr>
          <a:xfrm>
            <a:off x="533400" y="647700"/>
            <a:ext cx="11125200" cy="723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750"/>
              <a:buFont typeface="Arial"/>
              <a:buNone/>
            </a:pPr>
            <a:r>
              <a:rPr b="1" i="0" lang="en-US" sz="3750" u="none" cap="none" strike="noStrike">
                <a:solidFill>
                  <a:srgbClr val="111827"/>
                </a:solidFill>
                <a:latin typeface="Arial"/>
                <a:ea typeface="Arial"/>
                <a:cs typeface="Arial"/>
                <a:sym typeface="Arial"/>
              </a:rPr>
              <a:t>QuickSight connects trends to product risk</a:t>
            </a:r>
            <a:endParaRPr b="0" i="0" sz="1400" u="none" cap="none" strike="noStrike">
              <a:solidFill>
                <a:srgbClr val="000000"/>
              </a:solidFill>
              <a:latin typeface="Arial"/>
              <a:ea typeface="Arial"/>
              <a:cs typeface="Arial"/>
              <a:sym typeface="Arial"/>
            </a:endParaRPr>
          </a:p>
        </p:txBody>
      </p:sp>
      <p:sp>
        <p:nvSpPr>
          <p:cNvPr id="191" name="Google Shape;191;p11"/>
          <p:cNvSpPr/>
          <p:nvPr/>
        </p:nvSpPr>
        <p:spPr>
          <a:xfrm>
            <a:off x="11144250" y="6381750"/>
            <a:ext cx="514350" cy="20955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75"/>
              <a:buFont typeface="Arial"/>
              <a:buNone/>
            </a:pPr>
            <a:r>
              <a:rPr b="0" i="0" lang="en-US" sz="775" u="none" cap="none" strike="noStrike">
                <a:solidFill>
                  <a:srgbClr val="5B6574"/>
                </a:solidFill>
                <a:latin typeface="Arial"/>
                <a:ea typeface="Arial"/>
                <a:cs typeface="Arial"/>
                <a:sym typeface="Arial"/>
              </a:rPr>
              <a:t>09</a:t>
            </a:r>
            <a:endParaRPr b="0" i="0" sz="1400" u="none" cap="none" strike="noStrike">
              <a:solidFill>
                <a:srgbClr val="000000"/>
              </a:solidFill>
              <a:latin typeface="Arial"/>
              <a:ea typeface="Arial"/>
              <a:cs typeface="Arial"/>
              <a:sym typeface="Arial"/>
            </a:endParaRPr>
          </a:p>
        </p:txBody>
      </p:sp>
      <p:sp>
        <p:nvSpPr>
          <p:cNvPr id="192" name="Google Shape;192;p11"/>
          <p:cNvSpPr/>
          <p:nvPr/>
        </p:nvSpPr>
        <p:spPr>
          <a:xfrm>
            <a:off x="533400" y="1504950"/>
            <a:ext cx="3333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775"/>
              <a:buFont typeface="Arial"/>
              <a:buNone/>
            </a:pPr>
            <a:r>
              <a:rPr b="1" i="0" lang="en-US" sz="1775" u="none" cap="none" strike="noStrike">
                <a:solidFill>
                  <a:srgbClr val="3D8DFF"/>
                </a:solidFill>
                <a:latin typeface="Arial"/>
                <a:ea typeface="Arial"/>
                <a:cs typeface="Arial"/>
                <a:sym typeface="Arial"/>
              </a:rPr>
              <a:t>Portfolio overview</a:t>
            </a:r>
            <a:endParaRPr b="0" i="0" sz="1400" u="none" cap="none" strike="noStrike">
              <a:solidFill>
                <a:srgbClr val="000000"/>
              </a:solidFill>
              <a:latin typeface="Arial"/>
              <a:ea typeface="Arial"/>
              <a:cs typeface="Arial"/>
              <a:sym typeface="Arial"/>
            </a:endParaRPr>
          </a:p>
        </p:txBody>
      </p:sp>
      <p:sp>
        <p:nvSpPr>
          <p:cNvPr id="193" name="Google Shape;193;p11"/>
          <p:cNvSpPr/>
          <p:nvPr/>
        </p:nvSpPr>
        <p:spPr>
          <a:xfrm>
            <a:off x="6419850" y="1504950"/>
            <a:ext cx="3333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775"/>
              <a:buFont typeface="Arial"/>
              <a:buNone/>
            </a:pPr>
            <a:r>
              <a:rPr b="1" i="0" lang="en-US" sz="1775" u="none" cap="none" strike="noStrike">
                <a:solidFill>
                  <a:srgbClr val="147A4A"/>
                </a:solidFill>
                <a:latin typeface="Arial"/>
                <a:ea typeface="Arial"/>
                <a:cs typeface="Arial"/>
                <a:sym typeface="Arial"/>
              </a:rPr>
              <a:t>Product risk</a:t>
            </a:r>
            <a:endParaRPr b="0" i="0" sz="1400" u="none" cap="none" strike="noStrike">
              <a:solidFill>
                <a:srgbClr val="000000"/>
              </a:solidFill>
              <a:latin typeface="Arial"/>
              <a:ea typeface="Arial"/>
              <a:cs typeface="Arial"/>
              <a:sym typeface="Arial"/>
            </a:endParaRPr>
          </a:p>
        </p:txBody>
      </p:sp>
      <p:pic>
        <p:nvPicPr>
          <p:cNvPr id="194" name="Google Shape;194;p11"/>
          <p:cNvPicPr preferRelativeResize="0"/>
          <p:nvPr/>
        </p:nvPicPr>
        <p:blipFill rotWithShape="1">
          <a:blip r:embed="rId3">
            <a:alphaModFix/>
          </a:blip>
          <a:srcRect b="2386" l="0" r="0" t="2386"/>
          <a:stretch/>
        </p:blipFill>
        <p:spPr>
          <a:xfrm>
            <a:off x="163950" y="1966200"/>
            <a:ext cx="5668500" cy="3751500"/>
          </a:xfrm>
          <a:prstGeom prst="roundRect">
            <a:avLst>
              <a:gd fmla="val 3297" name="adj"/>
            </a:avLst>
          </a:prstGeom>
          <a:noFill/>
          <a:ln>
            <a:noFill/>
          </a:ln>
        </p:spPr>
      </p:pic>
      <p:pic>
        <p:nvPicPr>
          <p:cNvPr id="195" name="Google Shape;195;p11"/>
          <p:cNvPicPr preferRelativeResize="0"/>
          <p:nvPr/>
        </p:nvPicPr>
        <p:blipFill rotWithShape="1">
          <a:blip r:embed="rId4">
            <a:alphaModFix/>
          </a:blip>
          <a:srcRect b="0" l="112" r="112" t="0"/>
          <a:stretch/>
        </p:blipFill>
        <p:spPr>
          <a:xfrm>
            <a:off x="5990100" y="1962150"/>
            <a:ext cx="5668500" cy="3751500"/>
          </a:xfrm>
          <a:prstGeom prst="roundRect">
            <a:avLst>
              <a:gd fmla="val 3297" name="adj"/>
            </a:avLst>
          </a:prstGeom>
          <a:noFill/>
          <a:ln>
            <a:noFill/>
          </a:ln>
        </p:spPr>
      </p:pic>
      <p:sp>
        <p:nvSpPr>
          <p:cNvPr id="196" name="Google Shape;196;p11"/>
          <p:cNvSpPr/>
          <p:nvPr/>
        </p:nvSpPr>
        <p:spPr>
          <a:xfrm>
            <a:off x="533400" y="5676900"/>
            <a:ext cx="11125200" cy="19050"/>
          </a:xfrm>
          <a:prstGeom prst="rect">
            <a:avLst/>
          </a:prstGeom>
          <a:solidFill>
            <a:srgbClr val="C7CC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 name="Google Shape;197;p11"/>
          <p:cNvSpPr/>
          <p:nvPr/>
        </p:nvSpPr>
        <p:spPr>
          <a:xfrm>
            <a:off x="533400" y="5905500"/>
            <a:ext cx="3429000" cy="342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111827"/>
                </a:solidFill>
                <a:latin typeface="Arial"/>
                <a:ea typeface="Arial"/>
                <a:cs typeface="Arial"/>
                <a:sym typeface="Arial"/>
              </a:rPr>
              <a:t>66,004 reviews · 11,408 low-rated</a:t>
            </a:r>
            <a:endParaRPr b="0" i="0" sz="1400" u="none" cap="none" strike="noStrike">
              <a:solidFill>
                <a:srgbClr val="000000"/>
              </a:solidFill>
              <a:latin typeface="Arial"/>
              <a:ea typeface="Arial"/>
              <a:cs typeface="Arial"/>
              <a:sym typeface="Arial"/>
            </a:endParaRPr>
          </a:p>
        </p:txBody>
      </p:sp>
      <p:sp>
        <p:nvSpPr>
          <p:cNvPr id="198" name="Google Shape;198;p11"/>
          <p:cNvSpPr/>
          <p:nvPr/>
        </p:nvSpPr>
        <p:spPr>
          <a:xfrm>
            <a:off x="4572000" y="5905500"/>
            <a:ext cx="3238500" cy="342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111827"/>
                </a:solidFill>
                <a:latin typeface="Arial"/>
                <a:ea typeface="Arial"/>
                <a:cs typeface="Arial"/>
                <a:sym typeface="Arial"/>
              </a:rPr>
              <a:t>Descriptive + predicted risk</a:t>
            </a:r>
            <a:endParaRPr b="0" i="0" sz="1400" u="none" cap="none" strike="noStrike">
              <a:solidFill>
                <a:srgbClr val="000000"/>
              </a:solidFill>
              <a:latin typeface="Arial"/>
              <a:ea typeface="Arial"/>
              <a:cs typeface="Arial"/>
              <a:sym typeface="Arial"/>
            </a:endParaRPr>
          </a:p>
        </p:txBody>
      </p:sp>
      <p:sp>
        <p:nvSpPr>
          <p:cNvPr id="199" name="Google Shape;199;p11"/>
          <p:cNvSpPr/>
          <p:nvPr/>
        </p:nvSpPr>
        <p:spPr>
          <a:xfrm>
            <a:off x="8420100" y="5905500"/>
            <a:ext cx="3238500" cy="342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111827"/>
                </a:solidFill>
                <a:latin typeface="Arial"/>
                <a:ea typeface="Arial"/>
                <a:cs typeface="Arial"/>
                <a:sym typeface="Arial"/>
              </a:rPr>
              <a:t>3 SPICE datasets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2"/>
          <p:cNvSpPr/>
          <p:nvPr/>
        </p:nvSpPr>
        <p:spPr>
          <a:xfrm>
            <a:off x="533400" y="323850"/>
            <a:ext cx="438150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3D8DFF"/>
                </a:solidFill>
                <a:latin typeface="Arial"/>
                <a:ea typeface="Arial"/>
                <a:cs typeface="Arial"/>
                <a:sym typeface="Arial"/>
              </a:rPr>
              <a:t>MGMT 59990 · GROUP 18</a:t>
            </a:r>
            <a:endParaRPr b="0" i="0" sz="1400" u="none" cap="none" strike="noStrike">
              <a:solidFill>
                <a:srgbClr val="000000"/>
              </a:solidFill>
              <a:latin typeface="Arial"/>
              <a:ea typeface="Arial"/>
              <a:cs typeface="Arial"/>
              <a:sym typeface="Arial"/>
            </a:endParaRPr>
          </a:p>
        </p:txBody>
      </p:sp>
      <p:sp>
        <p:nvSpPr>
          <p:cNvPr id="206" name="Google Shape;206;p12"/>
          <p:cNvSpPr/>
          <p:nvPr/>
        </p:nvSpPr>
        <p:spPr>
          <a:xfrm>
            <a:off x="533400" y="647700"/>
            <a:ext cx="11125200" cy="723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750"/>
              <a:buFont typeface="Arial"/>
              <a:buNone/>
            </a:pPr>
            <a:r>
              <a:rPr b="1" i="0" lang="en-US" sz="3750" u="none" cap="none" strike="noStrike">
                <a:solidFill>
                  <a:srgbClr val="111827"/>
                </a:solidFill>
                <a:latin typeface="Arial"/>
                <a:ea typeface="Arial"/>
                <a:cs typeface="Arial"/>
                <a:sym typeface="Arial"/>
              </a:rPr>
              <a:t>AWS connected the lake, ML, and dashboard</a:t>
            </a:r>
            <a:endParaRPr b="0" i="0" sz="1400" u="none" cap="none" strike="noStrike">
              <a:solidFill>
                <a:srgbClr val="000000"/>
              </a:solidFill>
              <a:latin typeface="Arial"/>
              <a:ea typeface="Arial"/>
              <a:cs typeface="Arial"/>
              <a:sym typeface="Arial"/>
            </a:endParaRPr>
          </a:p>
        </p:txBody>
      </p:sp>
      <p:sp>
        <p:nvSpPr>
          <p:cNvPr id="207" name="Google Shape;207;p12"/>
          <p:cNvSpPr/>
          <p:nvPr/>
        </p:nvSpPr>
        <p:spPr>
          <a:xfrm>
            <a:off x="11144250" y="6381750"/>
            <a:ext cx="514350" cy="20955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75"/>
              <a:buFont typeface="Arial"/>
              <a:buNone/>
            </a:pPr>
            <a:r>
              <a:rPr b="0" i="0" lang="en-US" sz="775" u="none" cap="none" strike="noStrike">
                <a:solidFill>
                  <a:srgbClr val="5B6574"/>
                </a:solidFill>
                <a:latin typeface="Arial"/>
                <a:ea typeface="Arial"/>
                <a:cs typeface="Arial"/>
                <a:sym typeface="Arial"/>
              </a:rPr>
              <a:t>10</a:t>
            </a:r>
            <a:endParaRPr b="0" i="0" sz="1400" u="none" cap="none" strike="noStrike">
              <a:solidFill>
                <a:srgbClr val="000000"/>
              </a:solidFill>
              <a:latin typeface="Arial"/>
              <a:ea typeface="Arial"/>
              <a:cs typeface="Arial"/>
              <a:sym typeface="Arial"/>
            </a:endParaRPr>
          </a:p>
        </p:txBody>
      </p:sp>
      <p:sp>
        <p:nvSpPr>
          <p:cNvPr id="208" name="Google Shape;208;p12"/>
          <p:cNvSpPr/>
          <p:nvPr/>
        </p:nvSpPr>
        <p:spPr>
          <a:xfrm>
            <a:off x="4038600" y="1581150"/>
            <a:ext cx="19050" cy="2038350"/>
          </a:xfrm>
          <a:prstGeom prst="rect">
            <a:avLst/>
          </a:prstGeom>
          <a:solidFill>
            <a:srgbClr val="C7CC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12"/>
          <p:cNvSpPr/>
          <p:nvPr/>
        </p:nvSpPr>
        <p:spPr>
          <a:xfrm>
            <a:off x="7848600" y="1581150"/>
            <a:ext cx="19050" cy="2038350"/>
          </a:xfrm>
          <a:prstGeom prst="rect">
            <a:avLst/>
          </a:prstGeom>
          <a:solidFill>
            <a:srgbClr val="C7CC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12"/>
          <p:cNvSpPr/>
          <p:nvPr/>
        </p:nvSpPr>
        <p:spPr>
          <a:xfrm>
            <a:off x="533400" y="1562100"/>
            <a:ext cx="3143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3D8DFF"/>
                </a:solidFill>
                <a:latin typeface="Arial"/>
                <a:ea typeface="Arial"/>
                <a:cs typeface="Arial"/>
                <a:sym typeface="Arial"/>
              </a:rPr>
              <a:t>ATHENA CONTROL</a:t>
            </a:r>
            <a:endParaRPr b="0" i="0" sz="1400" u="none" cap="none" strike="noStrike">
              <a:solidFill>
                <a:srgbClr val="000000"/>
              </a:solidFill>
              <a:latin typeface="Arial"/>
              <a:ea typeface="Arial"/>
              <a:cs typeface="Arial"/>
              <a:sym typeface="Arial"/>
            </a:endParaRPr>
          </a:p>
        </p:txBody>
      </p:sp>
      <p:sp>
        <p:nvSpPr>
          <p:cNvPr id="211" name="Google Shape;211;p12"/>
          <p:cNvSpPr/>
          <p:nvPr/>
        </p:nvSpPr>
        <p:spPr>
          <a:xfrm>
            <a:off x="533400" y="1981200"/>
            <a:ext cx="3238500" cy="628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525"/>
              <a:buFont typeface="Arial"/>
              <a:buNone/>
            </a:pPr>
            <a:r>
              <a:rPr b="1" i="0" lang="en-US" sz="3525" u="none" cap="none" strike="noStrike">
                <a:solidFill>
                  <a:srgbClr val="111827"/>
                </a:solidFill>
                <a:latin typeface="Arial"/>
                <a:ea typeface="Arial"/>
                <a:cs typeface="Arial"/>
                <a:sym typeface="Arial"/>
              </a:rPr>
              <a:t>256 MiB</a:t>
            </a:r>
            <a:endParaRPr b="0" i="0" sz="1400" u="none" cap="none" strike="noStrike">
              <a:solidFill>
                <a:srgbClr val="000000"/>
              </a:solidFill>
              <a:latin typeface="Arial"/>
              <a:ea typeface="Arial"/>
              <a:cs typeface="Arial"/>
              <a:sym typeface="Arial"/>
            </a:endParaRPr>
          </a:p>
        </p:txBody>
      </p:sp>
      <p:sp>
        <p:nvSpPr>
          <p:cNvPr id="212" name="Google Shape;212;p12"/>
          <p:cNvSpPr/>
          <p:nvPr/>
        </p:nvSpPr>
        <p:spPr>
          <a:xfrm>
            <a:off x="533400" y="2724150"/>
            <a:ext cx="3143250" cy="895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38"/>
              <a:buFont typeface="Arial"/>
              <a:buNone/>
            </a:pPr>
            <a:r>
              <a:rPr b="0" i="0" lang="en-US" sz="1138" u="none" cap="none" strike="noStrike">
                <a:solidFill>
                  <a:srgbClr val="5B6574"/>
                </a:solidFill>
                <a:latin typeface="Arial"/>
                <a:ea typeface="Arial"/>
                <a:cs typeface="Arial"/>
                <a:sym typeface="Arial"/>
              </a:rPr>
              <a:t>256 MiB/query in group18-gold-build.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38"/>
              <a:buFont typeface="Arial"/>
              <a:buNone/>
            </a:pPr>
            <a:r>
              <a:rPr b="0" i="0" lang="en-US" sz="1138" u="none" cap="none" strike="noStrike">
                <a:solidFill>
                  <a:srgbClr val="5B6574"/>
                </a:solidFill>
                <a:latin typeface="Arial"/>
                <a:ea typeface="Arial"/>
                <a:cs typeface="Arial"/>
                <a:sym typeface="Arial"/>
              </a:rPr>
              <a:t>Checkpoint queries force results to project S3.</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38"/>
              <a:buFont typeface="Arial"/>
              <a:buNone/>
            </a:pPr>
            <a:r>
              <a:rPr b="0" i="0" lang="en-US" sz="1138" u="none" cap="none" strike="noStrike">
                <a:solidFill>
                  <a:srgbClr val="5B6574"/>
                </a:solidFill>
                <a:latin typeface="Arial"/>
                <a:ea typeface="Arial"/>
                <a:cs typeface="Arial"/>
                <a:sym typeface="Arial"/>
              </a:rPr>
              <a:t>Parquet + Snappy reduce bytes before the cutoff.</a:t>
            </a:r>
            <a:endParaRPr b="0" i="0" sz="1400" u="none" cap="none" strike="noStrike">
              <a:solidFill>
                <a:srgbClr val="000000"/>
              </a:solidFill>
              <a:latin typeface="Arial"/>
              <a:ea typeface="Arial"/>
              <a:cs typeface="Arial"/>
              <a:sym typeface="Arial"/>
            </a:endParaRPr>
          </a:p>
        </p:txBody>
      </p:sp>
      <p:sp>
        <p:nvSpPr>
          <p:cNvPr id="213" name="Google Shape;213;p12"/>
          <p:cNvSpPr/>
          <p:nvPr/>
        </p:nvSpPr>
        <p:spPr>
          <a:xfrm>
            <a:off x="4343400" y="1562100"/>
            <a:ext cx="3143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147A4A"/>
                </a:solidFill>
                <a:latin typeface="Arial"/>
                <a:ea typeface="Arial"/>
                <a:cs typeface="Arial"/>
                <a:sym typeface="Arial"/>
              </a:rPr>
              <a:t>SAGEMAKER JOB</a:t>
            </a:r>
            <a:endParaRPr b="0" i="0" sz="1400" u="none" cap="none" strike="noStrike">
              <a:solidFill>
                <a:srgbClr val="000000"/>
              </a:solidFill>
              <a:latin typeface="Arial"/>
              <a:ea typeface="Arial"/>
              <a:cs typeface="Arial"/>
              <a:sym typeface="Arial"/>
            </a:endParaRPr>
          </a:p>
        </p:txBody>
      </p:sp>
      <p:sp>
        <p:nvSpPr>
          <p:cNvPr id="214" name="Google Shape;214;p12"/>
          <p:cNvSpPr/>
          <p:nvPr/>
        </p:nvSpPr>
        <p:spPr>
          <a:xfrm>
            <a:off x="4343400" y="1981200"/>
            <a:ext cx="3238500" cy="628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525"/>
              <a:buFont typeface="Arial"/>
              <a:buNone/>
            </a:pPr>
            <a:r>
              <a:rPr b="1" i="0" lang="en-US" sz="3525" u="none" cap="none" strike="noStrike">
                <a:solidFill>
                  <a:srgbClr val="111827"/>
                </a:solidFill>
                <a:latin typeface="Arial"/>
                <a:ea typeface="Arial"/>
                <a:cs typeface="Arial"/>
                <a:sym typeface="Arial"/>
              </a:rPr>
              <a:t>89 sec</a:t>
            </a:r>
            <a:endParaRPr b="0" i="0" sz="1400" u="none" cap="none" strike="noStrike">
              <a:solidFill>
                <a:srgbClr val="000000"/>
              </a:solidFill>
              <a:latin typeface="Arial"/>
              <a:ea typeface="Arial"/>
              <a:cs typeface="Arial"/>
              <a:sym typeface="Arial"/>
            </a:endParaRPr>
          </a:p>
        </p:txBody>
      </p:sp>
      <p:sp>
        <p:nvSpPr>
          <p:cNvPr id="215" name="Google Shape;215;p12"/>
          <p:cNvSpPr/>
          <p:nvPr/>
        </p:nvSpPr>
        <p:spPr>
          <a:xfrm>
            <a:off x="4343400" y="2724150"/>
            <a:ext cx="3143250" cy="895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18"/>
              <a:buFont typeface="Arial"/>
              <a:buNone/>
            </a:pPr>
            <a:r>
              <a:rPr b="0" i="0" lang="en-US" sz="1118" u="none" cap="none" strike="noStrike">
                <a:solidFill>
                  <a:srgbClr val="5B6574"/>
                </a:solidFill>
                <a:latin typeface="Arial"/>
                <a:ea typeface="Arial"/>
                <a:cs typeface="Arial"/>
                <a:sym typeface="Arial"/>
              </a:rPr>
              <a:t>One ml.m5.xlarge instance and 20 GB volume.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18"/>
              <a:buFont typeface="Arial"/>
              <a:buNone/>
            </a:pPr>
            <a:r>
              <a:t/>
            </a:r>
            <a:endParaRPr b="0" i="0" sz="1118" u="none" cap="none" strike="noStrike">
              <a:solidFill>
                <a:srgbClr val="5B6574"/>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18"/>
              <a:buFont typeface="Arial"/>
              <a:buNone/>
            </a:pPr>
            <a:r>
              <a:rPr b="0" i="0" lang="en-US" sz="1118" u="none" cap="none" strike="noStrike">
                <a:solidFill>
                  <a:srgbClr val="5B6574"/>
                </a:solidFill>
                <a:latin typeface="Arial"/>
                <a:ea typeface="Arial"/>
                <a:cs typeface="Arial"/>
                <a:sym typeface="Arial"/>
              </a:rPr>
              <a:t>MaxRuntimeInSeconds = 1,800 automatically stops the job at 30 minutes.</a:t>
            </a:r>
            <a:endParaRPr b="0" i="0" sz="1400" u="none" cap="none" strike="noStrike">
              <a:solidFill>
                <a:srgbClr val="000000"/>
              </a:solidFill>
              <a:latin typeface="Arial"/>
              <a:ea typeface="Arial"/>
              <a:cs typeface="Arial"/>
              <a:sym typeface="Arial"/>
            </a:endParaRPr>
          </a:p>
        </p:txBody>
      </p:sp>
      <p:sp>
        <p:nvSpPr>
          <p:cNvPr id="216" name="Google Shape;216;p12"/>
          <p:cNvSpPr/>
          <p:nvPr/>
        </p:nvSpPr>
        <p:spPr>
          <a:xfrm>
            <a:off x="8153400" y="1562100"/>
            <a:ext cx="314325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B42318"/>
                </a:solidFill>
                <a:latin typeface="Arial"/>
                <a:ea typeface="Arial"/>
                <a:cs typeface="Arial"/>
                <a:sym typeface="Arial"/>
              </a:rPr>
              <a:t>IDLE COMPUTE</a:t>
            </a:r>
            <a:endParaRPr b="0" i="0" sz="1400" u="none" cap="none" strike="noStrike">
              <a:solidFill>
                <a:srgbClr val="000000"/>
              </a:solidFill>
              <a:latin typeface="Arial"/>
              <a:ea typeface="Arial"/>
              <a:cs typeface="Arial"/>
              <a:sym typeface="Arial"/>
            </a:endParaRPr>
          </a:p>
        </p:txBody>
      </p:sp>
      <p:sp>
        <p:nvSpPr>
          <p:cNvPr id="217" name="Google Shape;217;p12"/>
          <p:cNvSpPr/>
          <p:nvPr/>
        </p:nvSpPr>
        <p:spPr>
          <a:xfrm>
            <a:off x="8153400" y="1981200"/>
            <a:ext cx="3238500" cy="6286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525"/>
              <a:buFont typeface="Arial"/>
              <a:buNone/>
            </a:pPr>
            <a:r>
              <a:rPr b="1" i="0" lang="en-US" sz="3525" u="none" cap="none" strike="noStrike">
                <a:solidFill>
                  <a:srgbClr val="111827"/>
                </a:solidFill>
                <a:latin typeface="Arial"/>
                <a:ea typeface="Arial"/>
                <a:cs typeface="Arial"/>
                <a:sym typeface="Arial"/>
              </a:rPr>
              <a:t>0 endpoints</a:t>
            </a:r>
            <a:endParaRPr b="0" i="0" sz="1400" u="none" cap="none" strike="noStrike">
              <a:solidFill>
                <a:srgbClr val="000000"/>
              </a:solidFill>
              <a:latin typeface="Arial"/>
              <a:ea typeface="Arial"/>
              <a:cs typeface="Arial"/>
              <a:sym typeface="Arial"/>
            </a:endParaRPr>
          </a:p>
        </p:txBody>
      </p:sp>
      <p:sp>
        <p:nvSpPr>
          <p:cNvPr id="218" name="Google Shape;218;p12"/>
          <p:cNvSpPr/>
          <p:nvPr/>
        </p:nvSpPr>
        <p:spPr>
          <a:xfrm>
            <a:off x="8153400" y="2724150"/>
            <a:ext cx="3143250" cy="8953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3"/>
              <a:buFont typeface="Arial"/>
              <a:buNone/>
            </a:pPr>
            <a:r>
              <a:rPr b="0" i="0" lang="en-US" sz="1103" u="none" cap="none" strike="noStrike">
                <a:solidFill>
                  <a:srgbClr val="5B6574"/>
                </a:solidFill>
                <a:latin typeface="Arial"/>
                <a:ea typeface="Arial"/>
                <a:cs typeface="Arial"/>
                <a:sym typeface="Arial"/>
              </a:rPr>
              <a:t>Predictions and model.tar.gz were written to S3.</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3"/>
              <a:buFont typeface="Arial"/>
              <a:buNone/>
            </a:pPr>
            <a:r>
              <a:t/>
            </a:r>
            <a:endParaRPr b="0" i="0" sz="1103" u="none" cap="none" strike="noStrike">
              <a:solidFill>
                <a:srgbClr val="5B6574"/>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3"/>
              <a:buFont typeface="Arial"/>
              <a:buNone/>
            </a:pPr>
            <a:r>
              <a:rPr b="0" i="0" lang="en-US" sz="1103" u="none" cap="none" strike="noStrike">
                <a:solidFill>
                  <a:srgbClr val="5B6574"/>
                </a:solidFill>
                <a:latin typeface="Arial"/>
                <a:ea typeface="Arial"/>
                <a:cs typeface="Arial"/>
                <a:sym typeface="Arial"/>
              </a:rPr>
              <a:t>Three QuickSight SPICE datasets avoid repeated dashboard scans.</a:t>
            </a:r>
            <a:endParaRPr b="0" i="0" sz="1400" u="none" cap="none" strike="noStrike">
              <a:solidFill>
                <a:srgbClr val="000000"/>
              </a:solidFill>
              <a:latin typeface="Arial"/>
              <a:ea typeface="Arial"/>
              <a:cs typeface="Arial"/>
              <a:sym typeface="Arial"/>
            </a:endParaRPr>
          </a:p>
        </p:txBody>
      </p:sp>
      <p:sp>
        <p:nvSpPr>
          <p:cNvPr id="219" name="Google Shape;219;p12"/>
          <p:cNvSpPr/>
          <p:nvPr/>
        </p:nvSpPr>
        <p:spPr>
          <a:xfrm>
            <a:off x="533400" y="3905250"/>
            <a:ext cx="11125200" cy="19050"/>
          </a:xfrm>
          <a:prstGeom prst="rect">
            <a:avLst/>
          </a:prstGeom>
          <a:solidFill>
            <a:srgbClr val="C7CC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12"/>
          <p:cNvSpPr/>
          <p:nvPr/>
        </p:nvSpPr>
        <p:spPr>
          <a:xfrm>
            <a:off x="533400" y="4171950"/>
            <a:ext cx="4000500" cy="381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111827"/>
                </a:solidFill>
                <a:latin typeface="Arial"/>
                <a:ea typeface="Arial"/>
                <a:cs typeface="Arial"/>
                <a:sym typeface="Arial"/>
              </a:rPr>
              <a:t>Why AWS fit this build</a:t>
            </a:r>
            <a:endParaRPr b="0" i="0" sz="1400" u="none" cap="none" strike="noStrike">
              <a:solidFill>
                <a:srgbClr val="000000"/>
              </a:solidFill>
              <a:latin typeface="Arial"/>
              <a:ea typeface="Arial"/>
              <a:cs typeface="Arial"/>
              <a:sym typeface="Arial"/>
            </a:endParaRPr>
          </a:p>
        </p:txBody>
      </p:sp>
      <p:sp>
        <p:nvSpPr>
          <p:cNvPr id="221" name="Google Shape;221;p12"/>
          <p:cNvSpPr/>
          <p:nvPr/>
        </p:nvSpPr>
        <p:spPr>
          <a:xfrm>
            <a:off x="533400" y="4762500"/>
            <a:ext cx="3143250"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25"/>
              <a:buFont typeface="Arial"/>
              <a:buNone/>
            </a:pPr>
            <a:r>
              <a:rPr b="1" i="0" lang="en-US" sz="1525" u="none" cap="none" strike="noStrike">
                <a:solidFill>
                  <a:srgbClr val="3D8DFF"/>
                </a:solidFill>
                <a:latin typeface="Arial"/>
                <a:ea typeface="Arial"/>
                <a:cs typeface="Arial"/>
                <a:sym typeface="Arial"/>
              </a:rPr>
              <a:t>One evidence plane</a:t>
            </a:r>
            <a:endParaRPr b="0" i="0" sz="1400" u="none" cap="none" strike="noStrike">
              <a:solidFill>
                <a:srgbClr val="000000"/>
              </a:solidFill>
              <a:latin typeface="Arial"/>
              <a:ea typeface="Arial"/>
              <a:cs typeface="Arial"/>
              <a:sym typeface="Arial"/>
            </a:endParaRPr>
          </a:p>
        </p:txBody>
      </p:sp>
      <p:sp>
        <p:nvSpPr>
          <p:cNvPr id="222" name="Google Shape;222;p12"/>
          <p:cNvSpPr/>
          <p:nvPr/>
        </p:nvSpPr>
        <p:spPr>
          <a:xfrm>
            <a:off x="533400" y="5219700"/>
            <a:ext cx="3143250" cy="742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25"/>
              <a:buFont typeface="Arial"/>
              <a:buNone/>
            </a:pPr>
            <a:r>
              <a:rPr b="0" i="0" lang="en-US" sz="1425" u="none" cap="none" strike="noStrike">
                <a:solidFill>
                  <a:srgbClr val="5B6574"/>
                </a:solidFill>
                <a:latin typeface="Arial"/>
                <a:ea typeface="Arial"/>
                <a:cs typeface="Arial"/>
                <a:sym typeface="Arial"/>
              </a:rPr>
              <a:t>S3 holds Bronze, Silver, Gold, model artifacts, and predictions without moving data between platforms.</a:t>
            </a:r>
            <a:endParaRPr b="0" i="0" sz="1400" u="none" cap="none" strike="noStrike">
              <a:solidFill>
                <a:srgbClr val="000000"/>
              </a:solidFill>
              <a:latin typeface="Arial"/>
              <a:ea typeface="Arial"/>
              <a:cs typeface="Arial"/>
              <a:sym typeface="Arial"/>
            </a:endParaRPr>
          </a:p>
        </p:txBody>
      </p:sp>
      <p:sp>
        <p:nvSpPr>
          <p:cNvPr id="223" name="Google Shape;223;p12"/>
          <p:cNvSpPr/>
          <p:nvPr/>
        </p:nvSpPr>
        <p:spPr>
          <a:xfrm>
            <a:off x="4343400" y="4762500"/>
            <a:ext cx="3143250"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25"/>
              <a:buFont typeface="Arial"/>
              <a:buNone/>
            </a:pPr>
            <a:r>
              <a:rPr b="1" i="0" lang="en-US" sz="1525" u="none" cap="none" strike="noStrike">
                <a:solidFill>
                  <a:srgbClr val="147A4A"/>
                </a:solidFill>
                <a:latin typeface="Arial"/>
                <a:ea typeface="Arial"/>
                <a:cs typeface="Arial"/>
                <a:sym typeface="Arial"/>
              </a:rPr>
              <a:t>One control plane</a:t>
            </a:r>
            <a:endParaRPr b="0" i="0" sz="1400" u="none" cap="none" strike="noStrike">
              <a:solidFill>
                <a:srgbClr val="000000"/>
              </a:solidFill>
              <a:latin typeface="Arial"/>
              <a:ea typeface="Arial"/>
              <a:cs typeface="Arial"/>
              <a:sym typeface="Arial"/>
            </a:endParaRPr>
          </a:p>
        </p:txBody>
      </p:sp>
      <p:sp>
        <p:nvSpPr>
          <p:cNvPr id="224" name="Google Shape;224;p12"/>
          <p:cNvSpPr/>
          <p:nvPr/>
        </p:nvSpPr>
        <p:spPr>
          <a:xfrm>
            <a:off x="4343400" y="5219700"/>
            <a:ext cx="3143250" cy="742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60"/>
              <a:buFont typeface="Arial"/>
              <a:buNone/>
            </a:pPr>
            <a:r>
              <a:rPr b="0" i="0" lang="en-US" sz="1360" u="none" cap="none" strike="noStrike">
                <a:solidFill>
                  <a:srgbClr val="5B6574"/>
                </a:solidFill>
                <a:latin typeface="Arial"/>
                <a:ea typeface="Arial"/>
                <a:cs typeface="Arial"/>
                <a:sym typeface="Arial"/>
              </a:rPr>
              <a:t>Glue Catalog schemas, IAM roles, and Athena workgroups govern the same tables used throughout the pipeline.</a:t>
            </a:r>
            <a:endParaRPr b="0" i="0" sz="1400" u="none" cap="none" strike="noStrike">
              <a:solidFill>
                <a:srgbClr val="000000"/>
              </a:solidFill>
              <a:latin typeface="Arial"/>
              <a:ea typeface="Arial"/>
              <a:cs typeface="Arial"/>
              <a:sym typeface="Arial"/>
            </a:endParaRPr>
          </a:p>
        </p:txBody>
      </p:sp>
      <p:sp>
        <p:nvSpPr>
          <p:cNvPr id="225" name="Google Shape;225;p12"/>
          <p:cNvSpPr/>
          <p:nvPr/>
        </p:nvSpPr>
        <p:spPr>
          <a:xfrm>
            <a:off x="8153400" y="4762500"/>
            <a:ext cx="3143250" cy="3238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25"/>
              <a:buFont typeface="Arial"/>
              <a:buNone/>
            </a:pPr>
            <a:r>
              <a:rPr b="1" i="0" lang="en-US" sz="1525" u="none" cap="none" strike="noStrike">
                <a:solidFill>
                  <a:srgbClr val="3D8DFF"/>
                </a:solidFill>
                <a:latin typeface="Arial"/>
                <a:ea typeface="Arial"/>
                <a:cs typeface="Arial"/>
                <a:sym typeface="Arial"/>
              </a:rPr>
              <a:t>One delivery path</a:t>
            </a:r>
            <a:endParaRPr b="0" i="0" sz="1400" u="none" cap="none" strike="noStrike">
              <a:solidFill>
                <a:srgbClr val="000000"/>
              </a:solidFill>
              <a:latin typeface="Arial"/>
              <a:ea typeface="Arial"/>
              <a:cs typeface="Arial"/>
              <a:sym typeface="Arial"/>
            </a:endParaRPr>
          </a:p>
        </p:txBody>
      </p:sp>
      <p:sp>
        <p:nvSpPr>
          <p:cNvPr id="226" name="Google Shape;226;p12"/>
          <p:cNvSpPr/>
          <p:nvPr/>
        </p:nvSpPr>
        <p:spPr>
          <a:xfrm>
            <a:off x="8153400" y="5219700"/>
            <a:ext cx="3143250" cy="742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92"/>
              <a:buFont typeface="Arial"/>
              <a:buNone/>
            </a:pPr>
            <a:r>
              <a:rPr b="0" i="0" lang="en-US" sz="1292" u="none" cap="none" strike="noStrike">
                <a:solidFill>
                  <a:srgbClr val="5B6574"/>
                </a:solidFill>
                <a:latin typeface="Arial"/>
                <a:ea typeface="Arial"/>
                <a:cs typeface="Arial"/>
                <a:sym typeface="Arial"/>
              </a:rPr>
              <a:t>SageMaker returns results to S3; Athena catalogs them; QuickSight imports them into responsive SPICE datasets.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 name="Shape 231"/>
        <p:cNvGrpSpPr/>
        <p:nvPr/>
      </p:nvGrpSpPr>
      <p:grpSpPr>
        <a:xfrm>
          <a:off x="0" y="0"/>
          <a:ext cx="0" cy="0"/>
          <a:chOff x="0" y="0"/>
          <a:chExt cx="0" cy="0"/>
        </a:xfrm>
      </p:grpSpPr>
      <p:sp>
        <p:nvSpPr>
          <p:cNvPr id="232" name="Google Shape;232;p13"/>
          <p:cNvSpPr/>
          <p:nvPr/>
        </p:nvSpPr>
        <p:spPr>
          <a:xfrm>
            <a:off x="533400" y="323850"/>
            <a:ext cx="4381500" cy="266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3D8DFF"/>
                </a:solidFill>
                <a:latin typeface="Arial"/>
                <a:ea typeface="Arial"/>
                <a:cs typeface="Arial"/>
                <a:sym typeface="Arial"/>
              </a:rPr>
              <a:t>MGMT 59990 · GROUP 18</a:t>
            </a:r>
            <a:endParaRPr b="0" i="0" sz="1400" u="none" cap="none" strike="noStrike">
              <a:solidFill>
                <a:srgbClr val="000000"/>
              </a:solidFill>
              <a:latin typeface="Arial"/>
              <a:ea typeface="Arial"/>
              <a:cs typeface="Arial"/>
              <a:sym typeface="Arial"/>
            </a:endParaRPr>
          </a:p>
        </p:txBody>
      </p:sp>
      <p:sp>
        <p:nvSpPr>
          <p:cNvPr id="233" name="Google Shape;233;p13"/>
          <p:cNvSpPr/>
          <p:nvPr/>
        </p:nvSpPr>
        <p:spPr>
          <a:xfrm>
            <a:off x="533400" y="647700"/>
            <a:ext cx="11125200" cy="723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750"/>
              <a:buFont typeface="Arial"/>
              <a:buNone/>
            </a:pPr>
            <a:r>
              <a:rPr b="1" i="0" lang="en-US" sz="3750" u="none" cap="none" strike="noStrike">
                <a:solidFill>
                  <a:srgbClr val="111827"/>
                </a:solidFill>
                <a:latin typeface="Arial"/>
                <a:ea typeface="Arial"/>
                <a:cs typeface="Arial"/>
                <a:sym typeface="Arial"/>
              </a:rPr>
              <a:t>Production readiness requires governed scale</a:t>
            </a:r>
            <a:endParaRPr b="0" i="0" sz="1400" u="none" cap="none" strike="noStrike">
              <a:solidFill>
                <a:srgbClr val="000000"/>
              </a:solidFill>
              <a:latin typeface="Arial"/>
              <a:ea typeface="Arial"/>
              <a:cs typeface="Arial"/>
              <a:sym typeface="Arial"/>
            </a:endParaRPr>
          </a:p>
        </p:txBody>
      </p:sp>
      <p:sp>
        <p:nvSpPr>
          <p:cNvPr id="234" name="Google Shape;234;p13"/>
          <p:cNvSpPr/>
          <p:nvPr/>
        </p:nvSpPr>
        <p:spPr>
          <a:xfrm>
            <a:off x="11144250" y="6381750"/>
            <a:ext cx="514350" cy="20955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75"/>
              <a:buFont typeface="Arial"/>
              <a:buNone/>
            </a:pPr>
            <a:r>
              <a:rPr b="0" i="0" lang="en-US" sz="775" u="none" cap="none" strike="noStrike">
                <a:solidFill>
                  <a:srgbClr val="5B6574"/>
                </a:solidFill>
                <a:latin typeface="Arial"/>
                <a:ea typeface="Arial"/>
                <a:cs typeface="Arial"/>
                <a:sym typeface="Arial"/>
              </a:rPr>
              <a:t>11</a:t>
            </a:r>
            <a:endParaRPr b="0" i="0" sz="1400" u="none" cap="none" strike="noStrike">
              <a:solidFill>
                <a:srgbClr val="000000"/>
              </a:solidFill>
              <a:latin typeface="Arial"/>
              <a:ea typeface="Arial"/>
              <a:cs typeface="Arial"/>
              <a:sym typeface="Arial"/>
            </a:endParaRPr>
          </a:p>
        </p:txBody>
      </p:sp>
      <p:sp>
        <p:nvSpPr>
          <p:cNvPr id="235" name="Google Shape;235;p13"/>
          <p:cNvSpPr/>
          <p:nvPr/>
        </p:nvSpPr>
        <p:spPr>
          <a:xfrm>
            <a:off x="533400" y="1562100"/>
            <a:ext cx="666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3D8DFF"/>
                </a:solidFill>
                <a:latin typeface="Arial"/>
                <a:ea typeface="Arial"/>
                <a:cs typeface="Arial"/>
                <a:sym typeface="Arial"/>
              </a:rPr>
              <a:t>01</a:t>
            </a:r>
            <a:endParaRPr b="0" i="0" sz="1400" u="none" cap="none" strike="noStrike">
              <a:solidFill>
                <a:srgbClr val="000000"/>
              </a:solidFill>
              <a:latin typeface="Arial"/>
              <a:ea typeface="Arial"/>
              <a:cs typeface="Arial"/>
              <a:sym typeface="Arial"/>
            </a:endParaRPr>
          </a:p>
        </p:txBody>
      </p:sp>
      <p:sp>
        <p:nvSpPr>
          <p:cNvPr id="236" name="Google Shape;236;p13"/>
          <p:cNvSpPr/>
          <p:nvPr/>
        </p:nvSpPr>
        <p:spPr>
          <a:xfrm>
            <a:off x="1371600" y="1543050"/>
            <a:ext cx="238125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111827"/>
                </a:solidFill>
                <a:latin typeface="Arial"/>
                <a:ea typeface="Arial"/>
                <a:cs typeface="Arial"/>
                <a:sym typeface="Arial"/>
              </a:rPr>
              <a:t>Expand data</a:t>
            </a:r>
            <a:endParaRPr b="0" i="0" sz="1400" u="none" cap="none" strike="noStrike">
              <a:solidFill>
                <a:srgbClr val="000000"/>
              </a:solidFill>
              <a:latin typeface="Arial"/>
              <a:ea typeface="Arial"/>
              <a:cs typeface="Arial"/>
              <a:sym typeface="Arial"/>
            </a:endParaRPr>
          </a:p>
        </p:txBody>
      </p:sp>
      <p:sp>
        <p:nvSpPr>
          <p:cNvPr id="237" name="Google Shape;237;p13"/>
          <p:cNvSpPr/>
          <p:nvPr/>
        </p:nvSpPr>
        <p:spPr>
          <a:xfrm>
            <a:off x="3943350" y="1562100"/>
            <a:ext cx="7239000" cy="552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13"/>
              <a:buFont typeface="Arial"/>
              <a:buNone/>
            </a:pPr>
            <a:r>
              <a:rPr b="0" i="0" lang="en-US" sz="1513" u="none" cap="none" strike="noStrike">
                <a:solidFill>
                  <a:srgbClr val="5B6574"/>
                </a:solidFill>
                <a:latin typeface="Arial"/>
                <a:ea typeface="Arial"/>
                <a:cs typeface="Arial"/>
                <a:sym typeface="Arial"/>
              </a:rPr>
              <a:t>Move from the sample to incremental full-category ingestion; partition by date and category, compact files, and apply S3 lifecycle policies.</a:t>
            </a:r>
            <a:endParaRPr b="0" i="0" sz="1400" u="none" cap="none" strike="noStrike">
              <a:solidFill>
                <a:srgbClr val="000000"/>
              </a:solidFill>
              <a:latin typeface="Arial"/>
              <a:ea typeface="Arial"/>
              <a:cs typeface="Arial"/>
              <a:sym typeface="Arial"/>
            </a:endParaRPr>
          </a:p>
        </p:txBody>
      </p:sp>
      <p:sp>
        <p:nvSpPr>
          <p:cNvPr id="238" name="Google Shape;238;p13"/>
          <p:cNvSpPr/>
          <p:nvPr/>
        </p:nvSpPr>
        <p:spPr>
          <a:xfrm>
            <a:off x="533400" y="2247900"/>
            <a:ext cx="10572750" cy="9525"/>
          </a:xfrm>
          <a:prstGeom prst="rect">
            <a:avLst/>
          </a:prstGeom>
          <a:solidFill>
            <a:srgbClr val="E4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 name="Google Shape;239;p13"/>
          <p:cNvSpPr/>
          <p:nvPr/>
        </p:nvSpPr>
        <p:spPr>
          <a:xfrm>
            <a:off x="533400" y="2476500"/>
            <a:ext cx="666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3D8DFF"/>
                </a:solidFill>
                <a:latin typeface="Arial"/>
                <a:ea typeface="Arial"/>
                <a:cs typeface="Arial"/>
                <a:sym typeface="Arial"/>
              </a:rPr>
              <a:t>02</a:t>
            </a:r>
            <a:endParaRPr b="0" i="0" sz="1400" u="none" cap="none" strike="noStrike">
              <a:solidFill>
                <a:srgbClr val="000000"/>
              </a:solidFill>
              <a:latin typeface="Arial"/>
              <a:ea typeface="Arial"/>
              <a:cs typeface="Arial"/>
              <a:sym typeface="Arial"/>
            </a:endParaRPr>
          </a:p>
        </p:txBody>
      </p:sp>
      <p:sp>
        <p:nvSpPr>
          <p:cNvPr id="240" name="Google Shape;240;p13"/>
          <p:cNvSpPr/>
          <p:nvPr/>
        </p:nvSpPr>
        <p:spPr>
          <a:xfrm>
            <a:off x="1371600" y="2457450"/>
            <a:ext cx="238125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76"/>
              <a:buFont typeface="Arial"/>
              <a:buNone/>
            </a:pPr>
            <a:r>
              <a:rPr b="1" i="0" lang="en-US" sz="1876" u="none" cap="none" strike="noStrike">
                <a:solidFill>
                  <a:srgbClr val="111827"/>
                </a:solidFill>
                <a:latin typeface="Arial"/>
                <a:ea typeface="Arial"/>
                <a:cs typeface="Arial"/>
                <a:sym typeface="Arial"/>
              </a:rPr>
              <a:t>Automate pipelines</a:t>
            </a:r>
            <a:endParaRPr b="0" i="0" sz="1400" u="none" cap="none" strike="noStrike">
              <a:solidFill>
                <a:srgbClr val="000000"/>
              </a:solidFill>
              <a:latin typeface="Arial"/>
              <a:ea typeface="Arial"/>
              <a:cs typeface="Arial"/>
              <a:sym typeface="Arial"/>
            </a:endParaRPr>
          </a:p>
        </p:txBody>
      </p:sp>
      <p:sp>
        <p:nvSpPr>
          <p:cNvPr id="241" name="Google Shape;241;p13"/>
          <p:cNvSpPr/>
          <p:nvPr/>
        </p:nvSpPr>
        <p:spPr>
          <a:xfrm>
            <a:off x="3943350" y="2476500"/>
            <a:ext cx="7239000" cy="552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13"/>
              <a:buFont typeface="Arial"/>
              <a:buNone/>
            </a:pPr>
            <a:r>
              <a:rPr b="0" i="0" lang="en-US" sz="1513" u="none" cap="none" strike="noStrike">
                <a:solidFill>
                  <a:srgbClr val="5B6574"/>
                </a:solidFill>
                <a:latin typeface="Arial"/>
                <a:ea typeface="Arial"/>
                <a:cs typeface="Arial"/>
                <a:sym typeface="Arial"/>
              </a:rPr>
              <a:t>Orchestrate Glue, Athena checks, retraining, model approval, and batch scoring with recoverable workflow steps and versioned releases.</a:t>
            </a:r>
            <a:endParaRPr b="0" i="0" sz="1400" u="none" cap="none" strike="noStrike">
              <a:solidFill>
                <a:srgbClr val="000000"/>
              </a:solidFill>
              <a:latin typeface="Arial"/>
              <a:ea typeface="Arial"/>
              <a:cs typeface="Arial"/>
              <a:sym typeface="Arial"/>
            </a:endParaRPr>
          </a:p>
        </p:txBody>
      </p:sp>
      <p:sp>
        <p:nvSpPr>
          <p:cNvPr id="242" name="Google Shape;242;p13"/>
          <p:cNvSpPr/>
          <p:nvPr/>
        </p:nvSpPr>
        <p:spPr>
          <a:xfrm>
            <a:off x="533400" y="3162300"/>
            <a:ext cx="10572750" cy="9525"/>
          </a:xfrm>
          <a:prstGeom prst="rect">
            <a:avLst/>
          </a:prstGeom>
          <a:solidFill>
            <a:srgbClr val="E4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13"/>
          <p:cNvSpPr/>
          <p:nvPr/>
        </p:nvSpPr>
        <p:spPr>
          <a:xfrm>
            <a:off x="533400" y="3390900"/>
            <a:ext cx="666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3D8DFF"/>
                </a:solidFill>
                <a:latin typeface="Arial"/>
                <a:ea typeface="Arial"/>
                <a:cs typeface="Arial"/>
                <a:sym typeface="Arial"/>
              </a:rPr>
              <a:t>03</a:t>
            </a:r>
            <a:endParaRPr b="0" i="0" sz="1400" u="none" cap="none" strike="noStrike">
              <a:solidFill>
                <a:srgbClr val="000000"/>
              </a:solidFill>
              <a:latin typeface="Arial"/>
              <a:ea typeface="Arial"/>
              <a:cs typeface="Arial"/>
              <a:sym typeface="Arial"/>
            </a:endParaRPr>
          </a:p>
        </p:txBody>
      </p:sp>
      <p:sp>
        <p:nvSpPr>
          <p:cNvPr id="244" name="Google Shape;244;p13"/>
          <p:cNvSpPr/>
          <p:nvPr/>
        </p:nvSpPr>
        <p:spPr>
          <a:xfrm>
            <a:off x="1371600" y="3371850"/>
            <a:ext cx="238125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111827"/>
                </a:solidFill>
                <a:latin typeface="Arial"/>
                <a:ea typeface="Arial"/>
                <a:cs typeface="Arial"/>
                <a:sym typeface="Arial"/>
              </a:rPr>
              <a:t>Monitor behavior</a:t>
            </a:r>
            <a:endParaRPr b="0" i="0" sz="1400" u="none" cap="none" strike="noStrike">
              <a:solidFill>
                <a:srgbClr val="000000"/>
              </a:solidFill>
              <a:latin typeface="Arial"/>
              <a:ea typeface="Arial"/>
              <a:cs typeface="Arial"/>
              <a:sym typeface="Arial"/>
            </a:endParaRPr>
          </a:p>
        </p:txBody>
      </p:sp>
      <p:sp>
        <p:nvSpPr>
          <p:cNvPr id="245" name="Google Shape;245;p13"/>
          <p:cNvSpPr/>
          <p:nvPr/>
        </p:nvSpPr>
        <p:spPr>
          <a:xfrm>
            <a:off x="3943350" y="3390900"/>
            <a:ext cx="7239000" cy="552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13"/>
              <a:buFont typeface="Arial"/>
              <a:buNone/>
            </a:pPr>
            <a:r>
              <a:rPr b="0" i="0" lang="en-US" sz="1513" u="none" cap="none" strike="noStrike">
                <a:solidFill>
                  <a:srgbClr val="5B6574"/>
                </a:solidFill>
                <a:latin typeface="Arial"/>
                <a:ea typeface="Arial"/>
                <a:cs typeface="Arial"/>
                <a:sym typeface="Arial"/>
              </a:rPr>
              <a:t>Track data quality, drift, calibration, latency, and cost; use temporal holdouts and alarms before promoting a new model.</a:t>
            </a:r>
            <a:endParaRPr b="0" i="0" sz="1400" u="none" cap="none" strike="noStrike">
              <a:solidFill>
                <a:srgbClr val="000000"/>
              </a:solidFill>
              <a:latin typeface="Arial"/>
              <a:ea typeface="Arial"/>
              <a:cs typeface="Arial"/>
              <a:sym typeface="Arial"/>
            </a:endParaRPr>
          </a:p>
        </p:txBody>
      </p:sp>
      <p:sp>
        <p:nvSpPr>
          <p:cNvPr id="246" name="Google Shape;246;p13"/>
          <p:cNvSpPr/>
          <p:nvPr/>
        </p:nvSpPr>
        <p:spPr>
          <a:xfrm>
            <a:off x="533400" y="4076700"/>
            <a:ext cx="10572750" cy="9525"/>
          </a:xfrm>
          <a:prstGeom prst="rect">
            <a:avLst/>
          </a:prstGeom>
          <a:solidFill>
            <a:srgbClr val="E4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13"/>
          <p:cNvSpPr/>
          <p:nvPr/>
        </p:nvSpPr>
        <p:spPr>
          <a:xfrm>
            <a:off x="533400" y="4305300"/>
            <a:ext cx="666750" cy="3619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75"/>
              <a:buFont typeface="Arial"/>
              <a:buNone/>
            </a:pPr>
            <a:r>
              <a:rPr b="1" i="0" lang="en-US" sz="1575" u="none" cap="none" strike="noStrike">
                <a:solidFill>
                  <a:srgbClr val="3D8DFF"/>
                </a:solidFill>
                <a:latin typeface="Arial"/>
                <a:ea typeface="Arial"/>
                <a:cs typeface="Arial"/>
                <a:sym typeface="Arial"/>
              </a:rPr>
              <a:t>04</a:t>
            </a:r>
            <a:endParaRPr b="0" i="0" sz="1400" u="none" cap="none" strike="noStrike">
              <a:solidFill>
                <a:srgbClr val="000000"/>
              </a:solidFill>
              <a:latin typeface="Arial"/>
              <a:ea typeface="Arial"/>
              <a:cs typeface="Arial"/>
              <a:sym typeface="Arial"/>
            </a:endParaRPr>
          </a:p>
        </p:txBody>
      </p:sp>
      <p:sp>
        <p:nvSpPr>
          <p:cNvPr id="248" name="Google Shape;248;p13"/>
          <p:cNvSpPr/>
          <p:nvPr/>
        </p:nvSpPr>
        <p:spPr>
          <a:xfrm>
            <a:off x="1371600" y="4286250"/>
            <a:ext cx="238125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Arial"/>
              <a:buNone/>
            </a:pPr>
            <a:r>
              <a:rPr b="1" i="0" lang="en-US" sz="2025" u="none" cap="none" strike="noStrike">
                <a:solidFill>
                  <a:srgbClr val="111827"/>
                </a:solidFill>
                <a:latin typeface="Arial"/>
                <a:ea typeface="Arial"/>
                <a:cs typeface="Arial"/>
                <a:sym typeface="Arial"/>
              </a:rPr>
              <a:t>Operate safely</a:t>
            </a:r>
            <a:endParaRPr b="0" i="0" sz="1400" u="none" cap="none" strike="noStrike">
              <a:solidFill>
                <a:srgbClr val="000000"/>
              </a:solidFill>
              <a:latin typeface="Arial"/>
              <a:ea typeface="Arial"/>
              <a:cs typeface="Arial"/>
              <a:sym typeface="Arial"/>
            </a:endParaRPr>
          </a:p>
        </p:txBody>
      </p:sp>
      <p:sp>
        <p:nvSpPr>
          <p:cNvPr id="249" name="Google Shape;249;p13"/>
          <p:cNvSpPr/>
          <p:nvPr/>
        </p:nvSpPr>
        <p:spPr>
          <a:xfrm>
            <a:off x="3943350" y="4305300"/>
            <a:ext cx="7239000" cy="552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13"/>
              <a:buFont typeface="Arial"/>
              <a:buNone/>
            </a:pPr>
            <a:r>
              <a:rPr b="0" i="0" lang="en-US" sz="1513" u="none" cap="none" strike="noStrike">
                <a:solidFill>
                  <a:srgbClr val="5B6574"/>
                </a:solidFill>
                <a:latin typeface="Arial"/>
                <a:ea typeface="Arial"/>
                <a:cs typeface="Arial"/>
                <a:sym typeface="Arial"/>
              </a:rPr>
              <a:t>Start with scheduled batch scoring; add a real-time endpoint only when latency justifies it, while preserving human review and rollback.</a:t>
            </a:r>
            <a:endParaRPr b="0" i="0" sz="1400" u="none" cap="none" strike="noStrike">
              <a:solidFill>
                <a:srgbClr val="000000"/>
              </a:solidFill>
              <a:latin typeface="Arial"/>
              <a:ea typeface="Arial"/>
              <a:cs typeface="Arial"/>
              <a:sym typeface="Arial"/>
            </a:endParaRPr>
          </a:p>
        </p:txBody>
      </p:sp>
      <p:sp>
        <p:nvSpPr>
          <p:cNvPr id="250" name="Google Shape;250;p13"/>
          <p:cNvSpPr/>
          <p:nvPr/>
        </p:nvSpPr>
        <p:spPr>
          <a:xfrm>
            <a:off x="533400" y="5391150"/>
            <a:ext cx="11125200" cy="819150"/>
          </a:xfrm>
          <a:prstGeom prst="roundRect">
            <a:avLst>
              <a:gd fmla="val 13953" name="adj"/>
            </a:avLst>
          </a:prstGeom>
          <a:solidFill>
            <a:srgbClr val="11182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13"/>
          <p:cNvSpPr/>
          <p:nvPr/>
        </p:nvSpPr>
        <p:spPr>
          <a:xfrm>
            <a:off x="800100" y="5638800"/>
            <a:ext cx="1428750" cy="2857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75"/>
              <a:buFont typeface="Arial"/>
              <a:buNone/>
            </a:pPr>
            <a:r>
              <a:rPr b="1" i="0" lang="en-US" sz="1275" u="none" cap="none" strike="noStrike">
                <a:solidFill>
                  <a:srgbClr val="6DCBF4"/>
                </a:solidFill>
                <a:latin typeface="Arial"/>
                <a:ea typeface="Arial"/>
                <a:cs typeface="Arial"/>
                <a:sym typeface="Arial"/>
              </a:rPr>
              <a:t>Scale rule</a:t>
            </a:r>
            <a:endParaRPr b="0" i="0" sz="1400" u="none" cap="none" strike="noStrike">
              <a:solidFill>
                <a:srgbClr val="000000"/>
              </a:solidFill>
              <a:latin typeface="Arial"/>
              <a:ea typeface="Arial"/>
              <a:cs typeface="Arial"/>
              <a:sym typeface="Arial"/>
            </a:endParaRPr>
          </a:p>
        </p:txBody>
      </p:sp>
      <p:sp>
        <p:nvSpPr>
          <p:cNvPr id="252" name="Google Shape;252;p13"/>
          <p:cNvSpPr/>
          <p:nvPr/>
        </p:nvSpPr>
        <p:spPr>
          <a:xfrm>
            <a:off x="2343150" y="5600700"/>
            <a:ext cx="8858250" cy="4000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765"/>
              <a:buFont typeface="Arial"/>
              <a:buNone/>
            </a:pPr>
            <a:r>
              <a:rPr b="1" i="0" lang="en-US" sz="1765" u="none" cap="none" strike="noStrike">
                <a:solidFill>
                  <a:srgbClr val="FFFFFF"/>
                </a:solidFill>
                <a:latin typeface="Arial"/>
                <a:ea typeface="Arial"/>
                <a:cs typeface="Arial"/>
                <a:sym typeface="Arial"/>
              </a:rPr>
              <a:t>Scale automation and controls before scaling the decisions the model influences.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